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1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320" r:id="rId74"/>
    <p:sldId id="318" r:id="rId72"/>
    <p:sldId id="319" r:id="rId73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321" r:id="rId75"/>
    <p:sldId id="322" r:id="rId76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23" r:id="rId77"/>
    <p:sldId id="324" r:id="rId78"/>
    <p:sldId id="325" r:id="rId79"/>
    <p:sldId id="326" r:id="rId80"/>
    <p:sldId id="327" r:id="rId81"/>
    <p:sldId id="317" r:id="rId71"/>
  </p:sldIdLst>
  <p:sldSz cx="9144000" cy="6858000" type="screen4x3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5B94"/>
    <a:srgbClr val="203864"/>
    <a:srgbClr val="987D1C"/>
    <a:srgbClr val="C00000"/>
    <a:srgbClr val="FFFFCC"/>
    <a:srgbClr val="E3C867"/>
    <a:srgbClr val="943900"/>
    <a:srgbClr val="644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6BEF38-D529-407E-B3AD-B42BCED6C6A2}" v="40" dt="2026-03-02T07:36:02.5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51" autoAdjust="0"/>
    <p:restoredTop sz="94312" autoAdjust="0"/>
  </p:normalViewPr>
  <p:slideViewPr>
    <p:cSldViewPr>
      <p:cViewPr varScale="1">
        <p:scale>
          <a:sx n="151" d="100"/>
          <a:sy n="151" d="100"/>
        </p:scale>
        <p:origin x="1992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2756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  <Relationship Id="rId72" Type="http://schemas.openxmlformats.org/officeDocument/2006/relationships/slide" Target="slides/slide63.xml"/>
  <Relationship Id="rId73" Type="http://schemas.openxmlformats.org/officeDocument/2006/relationships/slide" Target="slides/slide64.xml"/>
  <Relationship Id="rId74" Type="http://schemas.openxmlformats.org/officeDocument/2006/relationships/slide" Target="slides/slide65.xml"/>
  <Relationship Id="rId75" Type="http://schemas.openxmlformats.org/officeDocument/2006/relationships/slide" Target="slides/slide66.xml"/>
  <Relationship Id="rId76" Type="http://schemas.openxmlformats.org/officeDocument/2006/relationships/slide" Target="slides/slide67.xml"/>
  <Relationship Id="rId77" Type="http://schemas.openxmlformats.org/officeDocument/2006/relationships/slide" Target="slides/slide68.xml"/>
  <Relationship Id="rId78" Type="http://schemas.openxmlformats.org/officeDocument/2006/relationships/slide" Target="slides/slide69.xml"/>
  <Relationship Id="rId79" Type="http://schemas.openxmlformats.org/officeDocument/2006/relationships/slide" Target="slides/slide70.xml"/>
  <Relationship Id="rId80" Type="http://schemas.openxmlformats.org/officeDocument/2006/relationships/slide" Target="slides/slide71.xml"/>
  <Relationship Id="rId81" Type="http://schemas.openxmlformats.org/officeDocument/2006/relationships/slide" Target="slides/slide72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_yeop Lee" userId="394f17e693450fa8" providerId="LiveId" clId="{23681903-A90C-4420-A205-EE8C1D406859}"/>
    <pc:docChg chg="undo custSel addSld modSld">
      <pc:chgData name="Sang_yeop Lee" userId="394f17e693450fa8" providerId="LiveId" clId="{23681903-A90C-4420-A205-EE8C1D406859}" dt="2026-03-02T07:36:04.686" v="352" actId="20577"/>
      <pc:docMkLst>
        <pc:docMk/>
      </pc:docMkLst>
      <pc:sldChg chg="modSp mod">
        <pc:chgData name="Sang_yeop Lee" userId="394f17e693450fa8" providerId="LiveId" clId="{23681903-A90C-4420-A205-EE8C1D406859}" dt="2026-03-02T07:36:04.686" v="352" actId="20577"/>
        <pc:sldMkLst>
          <pc:docMk/>
          <pc:sldMk cId="0" sldId="460"/>
        </pc:sldMkLst>
        <pc:spChg chg="mod">
          <ac:chgData name="Sang_yeop Lee" userId="394f17e693450fa8" providerId="LiveId" clId="{23681903-A90C-4420-A205-EE8C1D406859}" dt="2026-03-02T07:36:04.686" v="352" actId="20577"/>
          <ac:spMkLst>
            <pc:docMk/>
            <pc:sldMk cId="0" sldId="460"/>
            <ac:spMk id="6146" creationId="{2FD41A2B-9A73-4E9D-9F8B-2A97637523B2}"/>
          </ac:spMkLst>
        </pc:spChg>
      </pc:sldChg>
      <pc:sldChg chg="addSp delSp modSp mod">
        <pc:chgData name="Sang_yeop Lee" userId="394f17e693450fa8" providerId="LiveId" clId="{23681903-A90C-4420-A205-EE8C1D406859}" dt="2026-03-02T07:27:50.659" v="295" actId="1038"/>
        <pc:sldMkLst>
          <pc:docMk/>
          <pc:sldMk cId="3144068361" sldId="1805"/>
        </pc:sldMkLst>
        <pc:spChg chg="mod">
          <ac:chgData name="Sang_yeop Lee" userId="394f17e693450fa8" providerId="LiveId" clId="{23681903-A90C-4420-A205-EE8C1D406859}" dt="2026-03-02T07:27:45.282" v="282" actId="20577"/>
          <ac:spMkLst>
            <pc:docMk/>
            <pc:sldMk cId="3144068361" sldId="1805"/>
            <ac:spMk id="3" creationId="{52EBE5E0-30D7-3E62-5706-3991104B3525}"/>
          </ac:spMkLst>
        </pc:spChg>
        <pc:picChg chg="del">
          <ac:chgData name="Sang_yeop Lee" userId="394f17e693450fa8" providerId="LiveId" clId="{23681903-A90C-4420-A205-EE8C1D406859}" dt="2026-03-02T07:24:02.707" v="141" actId="478"/>
          <ac:picMkLst>
            <pc:docMk/>
            <pc:sldMk cId="3144068361" sldId="1805"/>
            <ac:picMk id="5" creationId="{42E16466-6D46-827E-0CC9-B50E2DC9A11B}"/>
          </ac:picMkLst>
        </pc:picChg>
        <pc:picChg chg="del">
          <ac:chgData name="Sang_yeop Lee" userId="394f17e693450fa8" providerId="LiveId" clId="{23681903-A90C-4420-A205-EE8C1D406859}" dt="2026-03-02T07:23:53.334" v="134" actId="478"/>
          <ac:picMkLst>
            <pc:docMk/>
            <pc:sldMk cId="3144068361" sldId="1805"/>
            <ac:picMk id="9" creationId="{714E5252-5D14-ED21-2693-F66D20F2B5C9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1" creationId="{25F543AB-D274-3CB3-40CB-75A61A5BF39C}"/>
          </ac:picMkLst>
        </pc:picChg>
        <pc:picChg chg="add del mod">
          <ac:chgData name="Sang_yeop Lee" userId="394f17e693450fa8" providerId="LiveId" clId="{23681903-A90C-4420-A205-EE8C1D406859}" dt="2026-03-02T07:24:20.344" v="145" actId="22"/>
          <ac:picMkLst>
            <pc:docMk/>
            <pc:sldMk cId="3144068361" sldId="1805"/>
            <ac:picMk id="13" creationId="{799D61D2-82E0-136D-87D6-3DCBF8F0959A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5" creationId="{6EE1F8C5-66F4-946A-A9C7-AE89604A1756}"/>
          </ac:picMkLst>
        </pc:picChg>
      </pc:sldChg>
      <pc:sldChg chg="modSp mod">
        <pc:chgData name="Sang_yeop Lee" userId="394f17e693450fa8" providerId="LiveId" clId="{23681903-A90C-4420-A205-EE8C1D406859}" dt="2026-03-02T07:30:32.237" v="341" actId="20577"/>
        <pc:sldMkLst>
          <pc:docMk/>
          <pc:sldMk cId="493901075" sldId="1806"/>
        </pc:sldMkLst>
        <pc:spChg chg="mod">
          <ac:chgData name="Sang_yeop Lee" userId="394f17e693450fa8" providerId="LiveId" clId="{23681903-A90C-4420-A205-EE8C1D406859}" dt="2026-03-02T07:30:32.237" v="341" actId="20577"/>
          <ac:spMkLst>
            <pc:docMk/>
            <pc:sldMk cId="493901075" sldId="1806"/>
            <ac:spMk id="3" creationId="{458966CF-632F-7D43-B792-DF41D238E673}"/>
          </ac:spMkLst>
        </pc:spChg>
        <pc:graphicFrameChg chg="modGraphic">
          <ac:chgData name="Sang_yeop Lee" userId="394f17e693450fa8" providerId="LiveId" clId="{23681903-A90C-4420-A205-EE8C1D406859}" dt="2026-03-02T07:27:01.851" v="240" actId="20577"/>
          <ac:graphicFrameMkLst>
            <pc:docMk/>
            <pc:sldMk cId="493901075" sldId="1806"/>
            <ac:graphicFrameMk id="4" creationId="{991267E6-0D8F-B28E-62B0-3BAA7D029C4F}"/>
          </ac:graphicFrameMkLst>
        </pc:graphicFrameChg>
      </pc:sldChg>
      <pc:sldChg chg="addSp delSp modSp mod">
        <pc:chgData name="Sang_yeop Lee" userId="394f17e693450fa8" providerId="LiveId" clId="{23681903-A90C-4420-A205-EE8C1D406859}" dt="2026-03-02T07:32:19.718" v="343" actId="22"/>
        <pc:sldMkLst>
          <pc:docMk/>
          <pc:sldMk cId="600804426" sldId="1807"/>
        </pc:sldMkLst>
        <pc:spChg chg="add del">
          <ac:chgData name="Sang_yeop Lee" userId="394f17e693450fa8" providerId="LiveId" clId="{23681903-A90C-4420-A205-EE8C1D406859}" dt="2026-03-02T07:32:19.718" v="343" actId="22"/>
          <ac:spMkLst>
            <pc:docMk/>
            <pc:sldMk cId="600804426" sldId="1807"/>
            <ac:spMk id="5" creationId="{8F1E75B1-9BC7-96C7-37D0-A2B043A20D53}"/>
          </ac:spMkLst>
        </pc:spChg>
        <pc:graphicFrameChg chg="mod">
          <ac:chgData name="Sang_yeop Lee" userId="394f17e693450fa8" providerId="LiveId" clId="{23681903-A90C-4420-A205-EE8C1D406859}" dt="2026-03-02T07:28:49.642" v="310" actId="1035"/>
          <ac:graphicFrameMkLst>
            <pc:docMk/>
            <pc:sldMk cId="600804426" sldId="1807"/>
            <ac:graphicFrameMk id="4" creationId="{17EF1142-3585-EE39-707F-C3E83FFF0BD9}"/>
          </ac:graphicFrameMkLst>
        </pc:graphicFrameChg>
      </pc:sldChg>
      <pc:sldChg chg="modSp mod">
        <pc:chgData name="Sang_yeop Lee" userId="394f17e693450fa8" providerId="LiveId" clId="{23681903-A90C-4420-A205-EE8C1D406859}" dt="2026-03-02T07:26:15.729" v="223" actId="20577"/>
        <pc:sldMkLst>
          <pc:docMk/>
          <pc:sldMk cId="202650841" sldId="1809"/>
        </pc:sldMkLst>
        <pc:spChg chg="mod">
          <ac:chgData name="Sang_yeop Lee" userId="394f17e693450fa8" providerId="LiveId" clId="{23681903-A90C-4420-A205-EE8C1D406859}" dt="2026-03-02T07:26:15.729" v="223" actId="20577"/>
          <ac:spMkLst>
            <pc:docMk/>
            <pc:sldMk cId="202650841" sldId="1809"/>
            <ac:spMk id="3" creationId="{7241F45C-C3B0-6ACC-A325-16131174FDD7}"/>
          </ac:spMkLst>
        </pc:spChg>
      </pc:sldChg>
      <pc:sldChg chg="addSp modSp add mod">
        <pc:chgData name="Sang_yeop Lee" userId="394f17e693450fa8" providerId="LiveId" clId="{23681903-A90C-4420-A205-EE8C1D406859}" dt="2026-03-02T07:32:55.801" v="350" actId="1076"/>
        <pc:sldMkLst>
          <pc:docMk/>
          <pc:sldMk cId="1158565504" sldId="1810"/>
        </pc:sldMkLst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3" creationId="{62A46FFF-0991-46E9-EB8F-C18FA6A25DB8}"/>
          </ac:spMkLst>
        </pc:spChg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5" creationId="{55BB2BDA-D322-2F66-C07E-EBFDAE90EB25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6" creationId="{C7EB9021-CE4B-6C90-4B00-F7BC521F94EF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7" creationId="{689B90B0-BB36-929F-039C-E168DB014457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8" creationId="{2436AFF9-B783-115D-DBDA-5CA13410D203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9" creationId="{19933CEB-3852-5A48-4945-31E1F360F2B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943236F7-4664-455E-BC07-0CDCE21554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31DEB9-9004-426F-A335-67E0A3C184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6350" y="0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E9C24FB-D0E1-477A-919D-465B8B628DFD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5136CF-7728-43A0-B27C-D0DDF271B7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165A7-74BC-48CC-80C3-CE94A50EC5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6350" y="9371013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94FCE010-7189-4AB6-860B-AC912DAA42E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9B411FF-44D7-4F30-B6C9-6D73587B0A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67D5FF-B4C2-4B88-A72C-6759EE7CE2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ED38E453-D9C6-41F5-97FE-17581C5E367F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8B7C5BA1-14B7-43BA-BF4B-15E205401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7763" y="1233488"/>
            <a:ext cx="44402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7" tIns="45714" rIns="91427" bIns="45714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77060ABE-4850-42E2-8D6F-8D9B7C8F0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 vert="horz" lIns="91427" tIns="45714" rIns="91427" bIns="45714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 dirty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 dirty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 dirty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 dirty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3B6BFF-7ECE-45F5-9909-D2E7233D13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64B258-E4FB-4D80-9067-3D4335CE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7D1A5431-0282-471B-8CD3-3E8084B05B2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3장의 마지막 시간이며, 5장 pn 접합으로 넘어가는 다리이기도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'수 × 잘 움직임 = 전류' 라는 구조를 먼저 말해 둘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J 는 모양과 무관하게 물질의 성질만으로 정해지는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그림이 제5장 pn 접합 대역도를 읽는 바탕이 된다. 교재 그림 3-9 는 전자가 기운 E_c 를 따라가며 산란으로 운동에너지를 계단처럼 잃는 모습을 그린다 — 점선만큼(전체 에너지 일정) 가속하다가 충돌하면 E_c 까지 떨어지고, 잃은 에너지는 격자(포논)로 간다. 산란이 없다면 2 강 예제 3-1(42번)처럼 운동에너지가 3 → 7 eV 로 계속 늘겠지만(결정에서는 결국 블로흐 진동, 2 강 69번), 실제 결정에서는 약 0.2 ps 마다 산란이 일어나 평균 속도가 일정해진다 — 오늘 첫 물음의 답. 정공은 에너지 축이 반대라 위로 떠오른다(전계 방향으로 표동).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표동속도는 열운동 속도보다 훨씬 작다는 점을 강조할 것. 숫자로 — Si 전자는 100 V/cm 에서 μ_n𝓔 = 1350 × 100 = 1.35×10^5 cm/s 로 열운동 속도 2.3×10^7 의 170 분의 1 이고, 1 V/cm 이면 1350 cm/s 뿐이다. 전계를 올리면 10^3 ~ 10^4 V/cm 부터 μ𝓔 에서 벗어나기 시작해 10^5 V/cm 쯤에는 광학 포논 방출 때문에 전자 약 1×10^7, 정공 약 0.8×10^7 cm/s 로 포화한다(PART 4 「강전계에서는 속도가 멈춘다」) — 포화속도조차 열운동 속도의 절반 이하다. 0.1 μm 에 1 V 면 10^5 V/cm 이라 오늘날 소자는 늘 포화 영역에서 동작한다. 가속과 충돌을 되풀이하는 이 그림을 드루드(Drude) 모형이라 부른다. 전하가 움직이는 까닭은 셋 — 열운동(원인 열, 방향 무작위, 알짜 흐름 없음), 표동(원인 전계, 오늘의 주제), 확산(원인 농도 차, 4 장). 산란이 없다면 전자는 블로흐 진동을 하겠지만 그 주기가 t̄ 보다 훨씬 길어 실제로는 보이지 않는다(2 강 69번, 부록 A5 노트). 그림의 붉은 경로는 전자라서 전계 𝓔(오른쪽)와 반대인 왼쪽으로 치우친다(v_x = −μ_n 𝓔_x, 교재 그림 3-20b). 정공이라면 전계 방향으로 치우친다. 열운동 속도는 (1/2)m*v^2 = (3/2)kT 에서 √(3kT/m*) — m* = 0.26 m_0 이면 2.3×10^7 cm/s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'한없이 가속되지 않는 까닭' 이 오늘 첫 물음의 답이다. p_x 는 한 전자의 운동량이 아니라 1 cm^3 속 전자 n 개의 운동량을 모두 더한 것이다 — 그래서 전계 항에 n 이 붙는다(−nq𝓔_x). 충돌은 시간 dt 동안 전자 가운데 dt/t̄ 의 몫을 무작위 방향으로 흩어 그 몫의 x 방향 운동량을 없애므로, 운동량이 p_x/t̄ 의 빠르기로 줄어든다(식 (3-30)~(3-33), 부록 A3). 두 몫의 합이 0 인 정상상태에서 p_x = −nqt̄𝓔_x 이고, 전자 하나로 나누면 ⟨p_x⟩ = −qt̄𝓔_x(식 3-35), 유효질량으로 나누면 식 (3-36). 2 강 65번의 d(m*v)/dt = F_ext 에 충돌로 잃는 몫을 더한 셈이다.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장의 그림을 식으로 옮긴 것이다. 기호 둘을 먼저 약속한다 — ⟨ ⟩ 는 전자 하나가 아니라 그 자리의 전자 전체를 평균한 값이고(열운동 때문에 전자 하나의 v_x 는 10^7 cm/s 급으로 제멋대로지만 평균을 내면 전계가 만든 치우침만 남는다), t̄ 는 산란과 산란 사이의 평균 시간(평균 자유시간)으로 Si 전자가 약 0.2 ps 다(부록 A1). p_x 는 한 전자의 운동량이 아니라 1 cm³ 안 전자 n 개의 운동량을 모두 더한 것이라 전계 항에 n 이 붙는다. 충돌 항의 꼴 −p_x/t̄ 가 나오는 과정은 부록 A3 에 있다. 두 몫의 합이 0 인 정상상태가 '한없이 가속되지 않는 까닭' 이고, 전자 하나로 나누면 ⟨p_x⟩ = −q t̄ 𝓔_x(식 (3-35)), 유효질량으로 나누면 식 (3-36) 이다. 2 강 65번의 d(m*v)/dt = F_ext 에 충돌로 잃는 몫을 더한 셈이며, 여기서부터 전류밀도 · 이동도 · 저항이 한 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옴의 법칙이 '가정' 이 아니라 '유도된 결과' 라는 점이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123쪽. 식 (3-41) 의 음의 부호는 전자가 전계와 반대로 표동하므로 이동도를 양수로 두려는 것이다. 식 (3-42) J_x = q n μ_n 𝓔_x 는 식 (3-39) 의 σ 에 이동도를 넣은 꼴이며, 정공은 n → p, -q → +q, μ_n → μ_p 로 바꾸면 된다. 이동도를 정하는 것은 유효질량 m^{*} 과 평균 자유시간 t̄ 두 가지뿐이다. 2강의 '곡률이 클수록 가볍다' 가 여기서 이동도로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3-6. 두 유효질량의 비교 그림은 다음 장, 계산은 그다음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같은 'Si 의 전자 유효질량' 이 1.1 과 0.26 으로 다른 까닭이다.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 풀이를 한 줄씩 따라간 것이다. 1/m^*_n = (1/3)(1/m_x + 1/m_y + 1/m_z) 에서 한 계곡의 세 축 중 하나가 m_l, 둘이 m_t 이고, 여섯 계곡이 x · y · z 방향으로 고르게 놓여 있으므로 한 계곡으로 계산해도 같다. 셈으로 보면 — 전계를 x 로 걸 때 긴 축이 x 인 계곡 2 개는 m_l 로, 긴 축이 y · z 인 계곡 4 개는 m_t 로 반응한다. 전류는 1/m 에 비례하므로 여섯 계곡의 평균은 (2/m_l + 4/m_t)/6 = (1/3)(1/m_l + 2/m_t). 질량이 아니라 역수를 평균하는 것은 '가속의 쉬움(1/m)' 이 더해지는 양이기 때문이다. 상태밀도 유효질량(1.1 m_0, 예제 3-4)과 다른 까닭은 앞 장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3강에서 미뤄 둔 σ = q(nμ_n + pμ_p) 를 여기서 갚는다. 교재 124쪽 — 접점은 옴(ohmic) 접점이어야 두 캐리어를 모두 공급 · 흡수한다. 정공은 x = L 에서 전자와 재결합해 사라지고, x = 0 에서 EHP(전자-정공쌍, electron-hole pair) 생성으로 다시 공급된다. 4장 · 5장의 접촉과 캐리어 보존으로 이어지는 대목이다.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 그림의 막대를 식으로. (3-43) 은 전자 전류 (−q)n(−μ_n𝓔) 와 정공 전류 (+q)p(+μ_p𝓔) 를 더한 것이라 두 캐리어가 반대로 움직여도 전류는 같은 방향으로 더해진다. σ 와 ρ 는 물질의 성질이고, 저항 R 은 거기에 길이와 단면이라는 모양이 더해진 값 — 같은 물질이라도 길고 가늘면 크다. 넷째 줄은 J = σ𝓔 (3-39) 가 회로에서 보던 V = IR 과 같은 말임을 확인한 것이다. n 형이면 p 항을, p 형이면 n 항을 버려 σ ≒ qnμ_n, σ ≒ qpμ_p 로 쓴다 — 다음 장의 저항률 계산.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n 과 μ 가 서로 반대로 움직인다는 점을 여기서 처음 말한다. 진성 값은 3 강 예제 3-5 와 같은 n_i = 1.5×10^10 으로 계산했다 (n_i 를 10^10 으로 잡으면 3.4×10^5 Ω·cm). 10^15 은 이동도가 거의 줄지 않는 농도라 1350 을 그대로 쓴다(뒤의 '도핑과 이동도'). 10^17 에서는 불순물산란으로 μ_n 이 700 으로 줄어, 전자를 100 배 넣었는데 ρ 는 4.6 → 0.089 로 약 52 배만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두 기구가 반대 방향이라 이동도가 어느 온도에서 최대가 된다. 왜 1/μ 가 더해지나 — 산란이 일어날 빈도(단위시간당 확률)는 1/t̄ 이고, 기구가 둘이면 두 빈도가 더해진다: 1/t̄ = 1/t̄_L + 1/t̄_I. 이동도 μ = qt̄/m* 는 t̄ 에 비례하므로 1/μ 가 더해진다 (마티센 규칙, 교재 125쪽). 그래서 더 작은 이동도(더 잦은 산란)가 전체를 정한다. 격자산란의 T^{-3/2} 는 근사다 — Si 전자의 실측은 대략 T^{-2.4}.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두 산란 기구를 그림으로. ① 격자산란(포논산란)은 제자리에서 흔들리는 원자에 전자가 부딪히는 것이다. 온도가 오르면 진동의 진폭이 커져 전자가 지나갈 틈이 좁아지므로 부딪히는 일이 잦아지고 t̄ 가 짧아진다 — μ_L ∝ T^{-3/2}(음향 포논 산란의 근사, Si 전자의 실측은 대략 T^{-2.4}). 알갱이로 세면 포논이고, 그 그림은 2 강 부록 A28 에 있다. ② 불순물산란은 부딪히는 것이 아니라 이온화된 도너 · 억셉터의 쿨롱 힘에 끌려(또는 밀려) 길이 휘는 것이다. 러더퍼드 산란과 같은 꼴이라 전자가 이온 곁에 머무는 시간이 길수록 많이 휜다. 온도가 오르면 열운동 속도 √(3kT/m*) 가 커져 곁을 빨리 스쳐 지나가므로 덜 휘고 t̄ 가 길어진다 — μ_I ∝ T^{3/2}. 또 불순물이 많을수록 휠 기회가 잦으므로 μ_I 는 도핑에 반비례한다(뒤의 「도핑과 이동도」). 그림의 두 곡선은 꺾인 각이 곧 바뀐 운동량이다. 완전히 규칙적인 격자는 전자를 흩뜨리지 않는다(2 강 블로흐 파) — 열로 원자가 제자리에서 어긋난 그 몫이 산란을 일으키므로 온도가 오를수록 잦아진다. 두 곡선은 같은 자리를 지나는 느린 전자와 빠른 전자다. 두 기구의 온도의존이 반대라 앞 장처럼 중간 온도에서 이동도가 가장 커지고, 둘이 함께 있으면 1/μ = 1/μ_L + 1/μ_I 로 더 작은 쪽이 전체를 정한다(식 (3-45), 부록 A15).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125쪽 각주의 포논이라는 이름을 여기서 붙여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10^17 도핑 Si 의 μ_n = 700 이라는 앞의 값이 이 그림에서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127~128쪽 — 전계가 세지면 전자가 격자와 열평형을 벗어나 '뜨거워지는' 열전자(hot electron) 효과가 나타나고, 교재는 이 한계가 평균 열적 속도(약 10^7 cm/s)와 같은 자릿수라고 적는다 — 앞의 √(3kT/m*) = 2.3×10^7 과 같은 크기라는 뜻일 뿐, 멈추는 원인은 광학 포논 방출이다(산란제한속도, scattering limited velocity). GaAs 는 강전계에서 전자가 무거운 상층 계곡으로 옮겨 가 속도가 오히려 줄고, 이것이 음성저항 불안정성(10 장)으로 이어진다. 또 다른 강전계효과는 애벌랜치 증식(5.4.2 절)이다. 0.1 μm 소자에 1 V 만 걸어도 10^5 V/cm 라 오늘날 소자는 늘 이 영역에서 동작한다. 그림에서 10^4 V/cm 는 아직 완전 포화 전이고 10^7 은 어림값이다. 얻은 에너지를 격자에 그대로 넘겨 주기 때문에 더 빨라지지 않는다. 곡선을 식 하나로 맞출 때는 Caughey-Thomas 경험식 v_d = μ_0𝓔 / [1 + (μ_0𝓔/v_s)^β]^{1/β} 를 흔히 쓴다(교재 밖). 저전계에서는 v_d = μ_0𝓔(옴의 법칙), 강전계에서는 v_d → v_s(Si 약 10^7 cm/s)이고, Si 에서 β 는 전자 약 2, 정공 약 1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126쪽 예제 3-7. 두 물음은 시료가 다르다 — (a) 는 도핑 막대, (b) 는 순수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풀이는 길이를 1 μm 로 보고 𝓔 = 10 V / 10^-4 cm = 10^5 V/cm (포화 영역) 에서 I = qAnv_s = 1.6×10^-19 × 10^-6 × 10^17 × 10^7 = 0.16 A 를 얻는다 — 문제문(0.1 cm)과 풀이(1 μm)가 어긋나는 교재의 오기다. 여기서는 문제문의 0.1 cm 를 그대로 살려 100 V/cm 옴 영역에서 풀었다(μ_n = 700, 그림 3-23). 두 풀이의 차이가 곧 PART 4 의 교훈이다 — 길이가 1000 배 짧아 전계가 1000 배 세지면 옴의 법칙(1.12 A)이 깨지고 속도가 포화해 0.16 A 에 머문다. 진성 이동도 1350 을 그대로 쓰면 2.2 mA 가 나오지만 10^17 도핑이므로 700 이 맞다. 0.1 cm 막대에 1000 V 를 걸면 10^4 V/cm 인데, 완전 포화로 보면 0.16 A 가 상한이고 그림 3-24 대로 읽으면 v 약 6~8×10^6 cm/s 라 I 약 0.09~0.13 A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0.74 ns 와 10 ps 의 비가 74 다. 옴의 법칙대로라면 10^5 V/cm 에서 속도가 1000 배(1.35×10^8 cm/s)가 되어야 하지만, 실제로는 v_s = 10^7 cm/s 에서 멈춘다(그림 3-24). 통과 시간은 순수 Si 의 값이다.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은 식 (3-40a) 의 v_d = μ𝓔, ② 는 ρ = 1/(q n μ_n), ③ 은 𝓔 = (1/q) dE_c/dx 와 그림 3-24 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1.35×10^5 / 2.3×10^7 = 0.0059. ② n = 1/(qρμ_n) = 1/(1.6×10^-19 × 1 × 1350) = 4.6×10^15; 그림 3-23 에서 이 농도의 μ_n 은 1350 보다 조금 작아 n 은 약 5×10^15. ③ 𝓔 = 0.5 V / 10^-4 cm = 5×10^3 V/cm. μ𝓔 = 6.8×10^6 cm/s 인데 Si 전자(β = 2)의 v = μ𝓔/√(1 + (μ𝓔/v_s)^2) = 5.6×10^6 cm/s — 약 17 % 작다(β = 2 경험식, 강전계 장 노트). 10^17 도핑(μ 700)이면 약 6 %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전압의 부호가 캐리어의 부호를 알려 준다는 점이 실용적으로 중요. 단자 이름 — V_AB 는 전류와 자계에 모두 수직한 두 면 A · B 사이의 전압(홀 전압), V_CD 는 전류 방향으로 떨어진 두 단자 C · D 사이의 전압(저항률 측정용)이다 — 교재 그림 3-25. R_H 는 홀 계수(Hall coefficient). 그림의 좌표 — 전류 x, 자계 z(위), y 는 안쪽. 힘 F = q(𝓔 + v × B) 에서 v = v_x x̂, B = B_z ẑ 이면 v × B = −v_x B_z ŷ 라 정공은 −y, 곧 앞면 A 로 밀려 A 가 (+), V_AB &gt; 0 이다. 전자는 속도가 −x, 전하가 −q 로 두 번 뒤집혀 역시 −y(A 면)로 밀리므로 A 가 (−), V_AB &lt; 0 — 그래서 V_AB 의 부호가 타입을 알려 준다. 단자 배치가 바뀌면 부호 약속도 바뀌므로 '음이면 n 형' 을 외우지 말고 힘의 방향으로 판단할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셀프학습이 되도록 자기력의 방향을 손 법칙까지. 좌표는 앞 장 그림 3-25 와 같다: 전류 +x(오른쪽), 자계 𝓑 는 +z(위), y 는 종이 안쪽이라 −y 가 앞면 A 쪽이다. ① 손으로 정하기 — 왼손의 엄지 · 검지 · 중지를 서로 직각으로 펴고 검지를 자기장 𝓑, 중지를 전류 I 에 맞추면 엄지가 힘 F 를 가리킨다(플레밍 왼손 법칙). 여기서는 검지가 위, 중지가 오른쪽이므로 엄지는 앞쪽 — 곧 A 면이다. 전류 I 는 '양전하가 흐르는 쪽' 이라는 약속이므로 전자를 다룰 때도 손은 전류 방향에 맞춘다. ② 외적으로 확인 — v = v x̂, 𝓑 = 𝓑 ẑ 일 때 x̂ × ẑ = −ŷ 이므로 v × 𝓑 는 −y 다. 정공은 전하가 +q 라 F = q(v × 𝓑) 가 그대로 −y. 전자는 같은 전류를 만들려면 속도가 −x 라 v × 𝓑 가 +y 로 뒤집히는데, 전하도 −q 라 한 번 더 뒤집혀 결국 −y 다. 그래서 캐리어의 종류와 상관없이 모두 같은 면(A)에 쌓이고, 쌓이는 전하의 부호만 달라진다 — 정공이면 A 가 (+), 전자면 A 가 (−). 이것이 홀 전압의 부호로 반도체의 타입을 가려내는 원리다(예제 3-8). 오른손을 쓰는 법도 같다 — 오른손으로 v 에서 𝓑 로 감아쥐면 엄지가 v × 𝓑 를 가리키고, 전자는 거기에 음부호를 한 번 더 붙이면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홀 전압이 어떻게 '서는지' 를 세 걸음으로 나눈 그림이다. ① 전류가 흐르는 시료에 자계를 걸면 캐리어마다 자기력 qv × 𝓑 를 받아 한쪽 면(A)으로 밀린다. 앞 장에서 보았듯 정공이든 전자든 같은 면이다. ② 밀려간 캐리어가 그 면에 쌓이면 반대 면에는 그만큼의 반대 전하가 남는다. 쌓인 전하가 시료를 가로지르는 전계 𝓔_y 를 만든다 — 이 전계는 캐리어를 되밀어 내는 쪽이다. ③ 쌓임은 끝없이 이어지지 않는다. 되미는 전기력 q𝓔_y 가 미는 자기력 qv_x𝓑_z 와 같아지는 순간 y 방향 알짜 힘이 0 이 되어(식 (3-47) 에서 F_y = 0) 더 쌓이지 않고, 그때 𝓔_y = v_x𝓑_z 로 멈춘다(식 (3-48)). 이 상태가 되기까지 걸리는 시간은 유전완화시간 τ = ρε 정도로, 도핑된 시료(ρ = 0.002 Ω·cm)라면 10^-12 s 아래라 측정에서는 처음부터 균형 상태를 보는 셈이다(고저항 시료는 훨씬 길다). 그림 ② 의 B 면 (−)는 전자가 아니라 정공이 빠져 남은 억셉터 이온의 음전하다 — 앞 장에서 본 '정공도 전자도 같은 면' 과 헷갈리지 말 것. 잴 수 있는 것은 전계가 아니라 전압이므로 두 면 사이 거리 w 를 곱해 V_AB = 𝓔_y w 로 읽는다 — 이것이 홀 전압이다. 여기에 v_x = J_x/(qp_0) 를 넣고 J_x = I_x/(wt) 로 바꾸면 다음 장의 식 (3-50) p_0 = I_x𝓑_z/(q t V_AB) 가 나온다(부록 A4). 세 걸음 가운데 학생이 가장 자주 놓치는 것은 ③ 이다 — 홀 전압은 '자기력이 만든 전압' 이 아니라 '자기력과 전기력이 비긴 자리' 의 전압이다.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농도·저항률·이동도를 한 시료에서 모두 얻는 표준 측정법이다. 식 (3-48) 에서 (3-50)·(3-52) 로 가는 한 줄씩의 유도는 부록 A4 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130쪽 예제 3-8. 단위를 cm 로 맞춰 두는 것이 첫 단계다. 막대 그림은 두 장 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홀 전압의 부호 하나로 n 형인지 p 형인지가 먼저 정해진다.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한 시료에서 타입·농도·이동도를 모두 얻는 표준 측정법이다. μ_n = 10^4 은 Si(1350)의 7 배쯤이다. 교재는 물질을 밝히지 않은 수치 연습이며, 이 농도에서 이 값이 나오려면 InSb · InAs 처럼 전자가 아주 가벼운 물질이어야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한 줄이 5장 pn 접합에서 내부전위를 구하는 출발점이 된다. 3 강의 수면 비유로 보면 — 수위가 다른 두 컵을 이으면 물이 흘러 수면이 같아진다. E_F 가 다른 두 물질을 붙이면 E_F 가 높은 쪽(전자가 더 높이 찬 쪽)에서 낮은 쪽으로 전자가 옮겨 가고, 그만큼 전하가 쌓여 대역이 휘면서 두 E_F 가 같아질 때 흐름이 멈춘다. 식으로는 — 1 → 2 와 2 → 1 의 흐름이 같다는 조건에서 f_1 = f_2 (부록 A5), f 의 꼴이 1/[1 + e^{(E−E_F)/kT}] 이므로 모든 E 에서 같으려면 E_F1 = E_F2.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'오가는 전자의 수가 같아서 E_F 가 꺾이지 않는다' 를 더 쉽게. 세 걸음으로 읽는다. ① 전자가 1 에서 2 로 건너가려면 1 쪽에 '찬 자리' 가 있어야 하고 2 쪽에 '빈 자리' 가 있어야 한다 — 그래서 흐름이 (1 의 찬 자리 수) × (2 의 빈 자리 수) 에 비례한다. 2 → 1 은 그 반대다. ② 평형은 '아무 일도 안 일어나는 것' 이 아니라 '오가는 수가 같아 어느 쪽도 늘지도 줄지도 않는 것' 이다. 두 흐름이 같다고 놓고 정리하면 상태밀도가 통째로 지워지고 f_1(E) = f_2(E) 만 남는다(부록 A5 의 식 (3-53) ~ (3-57)). ③ f 의 모양을 정하는 것은 E_F 하나뿐이므로, 모든 에너지에서 f 가 같으려면 두 쪽의 E_F 가 같아야 한다. 물 비유로 보면 — 수면(E_F)이 다른 두 물통을 이으면 높은 쪽에서 낮은 쪽으로 물이 흐르고, 수면이 같아지는 순간 흐름이 멈춘다. 반도체에서는 그렇게 옮겨 간 전자가 한쪽에 음전하, 다른 쪽에 양전하를 남겨 그 전하가 만든 전계가 대역을 휘게 하고(다음 장), 두 E_F 가 같아진 자리에서 멈춘다. 그래서 '평형이면 E_F 가 꺾이지 않는다(dE_F/dx = 0)' 가 된다 — 휘는 것은 E_c · E_v 이고 평평한 것은 E_F 다. 이 한 줄이 5 장 pn 접합 대역도의 출발점이다. 물 비유의 한계도 알아 둘 것 — 물은 수면이 같아질 때까지 꽤 많이 옮겨 가지만, 전자는 아주 조금만 옮겨 가도 남겨진 전하가 만든 전계가 흐름을 멈춘다. 그 전계가 대역을 휘게 하는 것이 다음 장이다. 또 '오가는 수가 같다' 는 같은 에너지끼리의 전이를 놓고 센 것이고(부록 A5), 거기서 상태밀도 N_1 · N_2 가 통째로 지워지기 때문에 결론이 상태밀도와 무관해진다.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앞의 '전계를 걸면 대역이 기운다' 와 모순처럼 보이는 점 — 대역이 휜 곳에는 전계가 있어 표동 전류가 생긴다. 그러나 같은 곳의 농도 차가 만드는 확산 전류(4 장 4.4.2 절)가 정확히 반대로 흘러 알짜 전류는 0 이다. E_F 가 평평하다는 것이 곧 '알짜 전류 0' 의 표지다. 휜 구간이 공핍영역(5 장)이다. 그림의 장벽이 MOSFET 의 꺼진 상태이고, 게이트 전압이 이 장벽을 낮추면 전류가 흐른다 — 5장 이후의 이야기를 여기서 예고해 둔다. MOSFET = metal-oxide-semiconductor field-effect transistor(금속-산화막-반도체 전계효과 트랜지스터). 그림은 NMOS(n 채널 MOSFET, n-channel MOSFET; n+ / p / n+) — 소스·드레인의 전자가 p 영역의 장벽에 막힌다. PMOS(p 채널 MOSFET, p-channel MOSFET; p+ / n / p+)는 거울상으로, E_F 는 역시 평평하고 n 영역이 정공에게 장벽이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4장은 과잉 캐리어, 5장은 pn 접합으로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표동은 '가속' 이 아니라 '가속과 산란의 균형' 이라는 점을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σ = q(nμ_n + pμ_p) 하나로 3 장 전체가 마무리된다.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계산은 SI(국제단위계, International System of Units) 단위(m², kg, C)로 한다 — μ_n 을 0.135 m²/V·s 로 바꿔 넣는 것이 요점이다. 평균 자유시간이 얼마나 짧은지를 숫자로 실감시키는 것이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Si 의 m_t = 0.19 가 작아서 조화평균이 0.26 까지 내려간다.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본문에서 받아 쓴 충돌 항의 뿌리다. 교재 119~121쪽은 식 (3-30) ~ (3-32) 로 같은 이야기를 적는다 — 전자가 dt 동안 충돌할 확률이 dt/t̄ 로 일정하다는 가정(방사성 붕괴와 같은 꼴, 기억이 없는 과정)에서 출발하면 충돌하지 않고 남은 전자 수가 N(t) = N_0 e^{-t/t̄} 로 줄고, 충돌까지 걸리는 시간의 평균이 바로 t̄ 가 된다. dt 동안 흩어지는 몫은 전체의 dt/t̄ 이고 그 몫은 방향이 고르게 퍼져 x 방향 운동량이 평균 0 이 되므로, 집단 운동량이 p_x·(dt/t̄) 만큼 깎인다. 양변을 dt 로 나눈 것이 식 (3-33) 이다. 엄밀히는 t̄ 를 운동량 완화시간(momentum relaxation time)이라 부르는 편이 정확하다 — 작은 각도로 비끼는 산란은 운동량을 조금만 없애므로 '충돌 횟수' 의 역수와 꼭 같지는 않다. 교재는 이 구분 없이 t̄ 하나로 쓴다. Si 전자의 t̄ = 0.2 ps(부록 A1)이고, 열운동 속도 2.3×10^7 cm/s 를 곱하면 평균 자유행정은 약 46 nm(어림 50 nm) — 격자상수의 백 배쯤이다. 같은 0.2 ps 동안 100 V/cm 에서 전계 쪽으로 치우치는 거리는 0.27 nm 뿐이라, 표동이 왜 그렇게 느린지가 숫자로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129쪽의 흐름을 한 줄씩 적은 것이다. 식 (3-48) 에서 홀 전계는 자계가 정공을 -y 쪽으로 밀어 쌓이게 한 결과이며, 쌓임은 전기력이 자기력을 정확히 상쇄할 때 멈춘다. V_AB = 𝓔_y w 가 홀 전압이다. 전자가 다수 캐리어이면 q 대신 -q 가 들어가 R_H 와 V_AB 의 부호가 바뀐다 — 예제 3-8 의 타입 판별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식 (3-56) 에서 양변의 N_1 f_1 N_2 f_2 항이 서로 지워지면 N_1 N_2 (f_1 - f_2) = 0 이 남고, 상태밀도는 0 이 아니므로 f_1 = f_2, 곧 E_{F1} = E_{F2} 이다. 이것을 위치에 대해 일반화한 것이 식 (3-58) dE_F/dx = 0 이다(교재 132쪽). 두 물질을 붙여도 평형이면 E_F 가 꺾이지 않는다는 것이 5 장 pn 접합의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교재 부록 III 의 값이다. 이동도 차이의 뿌리는 유효질량과 산란 — 식 (3-40a) μ = q t̄/m^*. NMOS(n 채널, 전자)와 PMOS(p 채널, 정공)를 한 칩에 함께 쓰는 CMOS(complementary MOS, 상보형 MOS)에서는 전류가 이동도에 비례하므로 PMOS 쪽 트랜지스터 폭을 넓혀 균형을 맞춘다. GaAs 의 큰 μ_n 은 고주파 소자(HEMT 등 — HEMT 는 고전자이동도 트랜지스터, high electron mobility transistor)에, Ge 의 큰 μ_p 는 고속 PMOS 채널(SiGe)에 쓰인다. 4 장 이후의 확산계수 D 도 아인슈타인 관계 D = (kT/q)μ 로 이 표에서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Q3 은 '어느 산란이 주된 영역인가' 를 되물어야 답할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A5 가 5장 pn 접합의 논리와 그대로 이어진다 — E_F 가 다르면 한쪽의 찬 자리와 다른 쪽의 빈 자리가 어긋나 전자가 E_F 높은 쪽에서 낮은 쪽으로 흐른다. 평형(알짜 흐름 0)이면 그 흐름이 없어야 하므로 E_F 가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Q1 은 식 (3-50) 을 거꾸로, Q2 는 포화속도 10^7 cm/s, Q3 은 부록 A6 의 표, Q4 는 부록 A1 의 t̄ 와 열운동 속도 2.3×10^7 cm/s, Q5 는 불순물산란이 저온 쪽에서 커진다는 점을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A1 — 10^-3 × 10^-4 / (1.6×10^-19 × 10^-3 × 10^16) = 0.0625 V. A2 — 10^4 V/cm 에서 옴의 법칙이면 qAnμ𝓔 = 1.6×10^-19 × 10^-6 × 10^17 × 700 × 10^4 = 0.112 A. β = 2 · μ 700 이면 v = 5.7×10^6 cm/s → 0.092 A, 완전 포화 상한은 qAn v_s = 0.16 A. 교재처럼 1 μm 로 10^5 V/cm 이면 0.16 A 이고, 옴의 법칙대로면 qAnμ𝓔 = 1.6×10^-19 × 10^-6 × 10^17 × 700 × 10^5 = 1.12 A. A3 — 10^-4 / (8500 × 100) = 1.18×10^-10 s. A4 — 격자 간격(0.54 nm)의 백 배쯤을 날아간 뒤 산란한다. A5 — 불순물산란(μ ∝ T^{3/2})이 커져 저온 쪽 이동도가 더 깎이므로 최대점이 고온 쪽으로 밀리고 전체 높이가 낮아진다.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영어 용어는 원서를 볼 때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Ge 로 풀면 낮은 전계 통과 시간이 10^-4 / (3900 × 100) = 0.26 ns 로 줄어든다. GaAs 는 부록 A9 Q3.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우리말 이름은 대한화학회 원소 이름(2014)을 따르고 괄호는 옛 이름이다. 강세가 오는 음절 — gallium 갤, arsenic 아, germanium 메이, indium 인, antimony 앤. 화합물은 영어로 '앞 원소 + 뒤 원소 어간-ide', 우리말은 '뒤 원소-화 + 앞 원소' (InSb = 안티모니화 인듐). InSb · InAs 는 전자 이동도가 가장 큰 반도체에 든다(예제 3-8). SiGe 는 Si 와 Ge 의 합금이다. 1 강 부록 A16 에 원소 이름을 더 모아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본문 「이동도의 온도의존성」 의 (3-45) 가 나오는 과정이다. 산란 기구가 둘 이상이고 서로 독립이면 단위시간에 충돌할 확률 1/t̄ 가 더해지고(마티센 규칙, Matthiessen's rule), μ = qt̄/m* 는 t̄ 에 비례하므로 1/μ 가 더해진다. 10^{17} cm^{-3} 도핑의 Si 에서 1/700 = 1/1350 + 1/μ_I 로 μ_I ≒ 1450 — 두 산란이 맞먹는 농도다(본문 「왜 반대 방향인가」). 격자산란의 T^{-3/2} 는 음향 포논 산란의 근사이고 Si 전자의 실측은 대략 T^{-2.4}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앞 장에서 말로 짚은 열전자를 이번에는 에너지가 들고 나는 그림으로 본다. 그림 읽는 법부터 — 가운데 막대가 전자의 평균 에너지(곧 T_e)이고, 왼쪽 가로 화살표가 전계에서 받는 몫 q𝓔v, 오른쪽 세로 화살표가 포논으로 격자에 버리는 몫이다. 정상상태에서는 이 둘이 반드시 같으므로 두 화살표를 같은 굵기로 그렸고, 전계가 셀수록 둘이 함께 굵어진다 — 달라지는 것은 '균형이 맞춰지는 높이', 곧 막대의 높이다. 포논으로 버리는 빠르기가 전자가 뜨거울수록 커지기 때문에, 주는 몫이 커지면 더 높은 자리에서야 비긴다. 아래 회색 띠가 격자이고 늘 300 K 다. 세 걸음으로 읽는다. ① 약한 전계 — 전자가 전계에서 받는 일률은 q𝓔v 이고, 산란 때마다 음향 포논에 에너지를 조금씩 넘긴다. 받는 몫이 작아 받는 즉시 넘길 수 있으므로 전자의 평균 에너지는 (3/2)kT 를 거의 벗어나지 않는다 — 전자온도 T_e 가 격자온도 T_L = 300 K 와 같고, 이때 t̄ 가 전계와 무관해 μ 가 상수이며 v_d = μ𝓔(옴의 법칙)가 성립한다. ② 강전계 — 10^3 ~ 10^4 V/cm 를 넘으면 q𝓔v 가 커져 음향 포논으로 넘기는 몫을 앞지른다. 남는 에너지가 전자 쪽에 쌓여 분포가 통째로 달궈지고, 그 분포를 유효온도로 적으면 T_e ≫ T_L (강한 전계에서는 수천 K 급)이 된다. 격자는 여전히 300 K 이고 전자만 뜨겁다는 점이 '열전자' 라는 이름의 뜻이다. 에너지가 오르면 산란이 잦아져 t̄ 가 줄고, 그래서 μ 가 더 이상 상수가 아니라 전계의 함수가 된다 — 옴의 법칙이 깨지는 까닭이 여기에 있다. ③ 광학 포논이 뚜껑 — Si 의 광학 포논 에너지는 약 63 meV(ħω)로 상온 kT = 26 meV 의 두 배가 넘어 약한 전계에서는 거의 내보내지 못한다. 그러나 전자가 그만한 에너지를 모으는 순간부터는 광학 포논을 아주 빠르게(약 0.1 ps 간격) 내보내며 에너지를 통째로 격자에 버린다. 얻는 즉시 버리므로 평균 에너지가 더 오르지 못하고, 그래서 표동속도가 v_s 에서 멈춘다 — Si 전자 약 1×10^7, 정공 약 0.8×10^7 cm/s(그림 3-24). 교재가 포화속도를 평균 열적 속도(√(3kT/m*) = 2.3×10^7 cm/s)와 같은 자릿수라고 적는 것은 크기의 어림일 뿐이고, 멈추는 원인은 광학 포논 방출이다(산란제한속도, scattering limited velocity). 한 줄로 — 정상상태는 '얻는 몫 q𝓔v = 포논으로 잃는 몫' 이 비기는 자리이고, 전계가 셀수록 그 자리가 높아지다가 광학 포논이 열리는 높이에서 더 오르지 못한다. 다음 장에서 이 열전자가 소자에 무엇을 남기는지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열전자가 실제 소자에서 어떤 일을 하는지 셋으로 모았다. ① 속도 포화 — 앞 장에서 본 그대로, 얻은 에너지를 광학 포논으로 흘려보내 더 빨라지지 않는다(v_s ≈ 10^7 cm/s, 그림 3-24). 전류가 전압에 비례하지 않게 되고, 짧은 채널 소자의 구동전류 한계가 여기서 정해진다 — 0.1 μm 에 1 V 면 10^5 V/cm 이라 오늘날 소자는 늘 이 영역에서 동작한다. ② 충돌 이온화(impact ionization) — 전자가 에너지대역간격 E_g(Si 1.1 eV) 이상을 모으면 포논 대신 결합을 깨서 전자-정공쌍(EHP)을 새로 만든다. 새로 난 캐리어가 다시 가속되어 또 다른 쌍을 만드는 되먹임이 애벌랜치 증식이고, 이것이 pn 접합의 항복을 설명한다(5.4.2 절). 교재가 '또 다른 강전계효과' 로 드는 것이 이것이다. ③ 산화막으로 주입(hot carrier injection) — 채널의 열전자가 Si 와 SiO₂ 사이의 장벽(전자 약 3.1 eV)을 넘을 만큼 뜨거워지면 게이트 산화막으로 뛰어들어 그 안에 갇히거나 계면에 결함을 만든다. 갇힌 전하가 문턱전압을 밀고 이동도를 떨어뜨려 소자가 시간이 갈수록 느려지는데, 이것이 열전자 열화(HCI, hot carrier injection/degradation)다 — 드레인 쪽 전계가 가장 센 자리에서 주로 일어나 LDD(저농도 드레인) 구조 같은 완화책을 쓴다. ④ 하나 더 — GaAs 는 강전계에서 전자가 가벼운 Γ 계곡에서 무거운 상층 계곡(L)으로 옮겨 가 유효질량이 커지고 속도가 되레 줄어든다. 전계를 올렸는데 전류가 줄어드는 음성 미분저항이 생기고, 이것이 건(Gunn) 소자의 바탕이다(10 장). 세 가지 모두 뿌리는 하나 — 전자가 격자와의 열평형을 벗어났다는 것이다. 앞 장의 T_e ≫ T_L 이 어디로 이어지는지를 보여 주는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다음 장의 그림으로 가기 전에 말로만 한 번 짚는 장이다. 학생이 가장 자주 막히는 곳이 '전자의 온도' 라는 말 자체이므로 거기서 시작한다. ① 온도가 무엇을 적은 값인가 — 온도는 전자 하나의 에너지가 아니다. 1 cm³ 안의 수많은 전자가 어느 에너지에 얼마나 퍼져 있는지, 그 퍼짐의 넓이를 한 숫자로 적은 것이 온도다(3 강의 f(E) 곡선이 얼마나 완만한가로 생각하면 된다). 그래서 '전자가 뜨겁다' 는 말은 '전자 하나가 빠르다' 가 아니라 '전자 무리의 에너지 분포가 넓게 퍼졌다' 는 뜻이다. 평형에서는 전자도 결정도 같은 온도이고, 상온이면 둘 다 300 K 다. ② 두 온도 — T_L 은 격자온도(lattice temperature)로, 결정을 이루는 원자들이 제자리에서 떠는 정도를 적은 값이다. 상온이면 300 K 이고, 전계를 걸어도 원자는 전자보다 수십만 배 무거운 데다 받은 에너지를 결정 전체가 나눠 가지므로 거의 변하지 않는다 — 소자가 손으로 만질 만큼만 따뜻한 까닭이다. T_e 는 전자온도(electron temperature)로, 전자 무리의 분포가 퍼진 정도를 같은 방식으로 적은 값이다. 전계에서 받은 에너지를 포논으로 다 넘기지 못하면 분포가 넓어지므로 T_e 가 오른다. 두 온도를 따로 적는 까닭이 여기에 있다 — 전자와 격자가 더 이상 같은 온도가 아니기 때문이다(비평형). ③ 열전자 — 그래서 열전자는 'T_e 만 T_L 보다 훨씬 높아진 전자' 다. 결정은 300 K 그대로인데 전자만 수천 K 로 뜨겁다. 이름이 '열(熱)전자' 라서 뜨거운 금속에서 튀어나오는 열전자 방출(thermionic emission)과 헷갈리기 쉬운데, 전혀 다른 현상이다. 덧붙여 — 전자가 뜨거워지면 에너지가 큰 전자가 늘고, 에너지가 클수록 산란이 잦아져 평균 자유시간 t̄ 가 짧아진다. μ = qt̄/m* 이므로 μ 가 더 이상 상수가 아니라 전계에 따라 달라지고, 이것이 v_d = μ𝓔(옴의 법칙)가 깨지는 까닭이다. 다음 장에서 이 이야기를 에너지가 들고 나는 그림으로 다시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「평형에서 E_F 는 꺾이지 않는다」 의 식 전개를 한 줄씩 펴 둔 장이다(교재 131~132쪽, 식 (3-53) ~ (3-58)). 부록 A5 와 같은 내용이지만 본문에서 더 자세히 따라간다. ① 전자가 물질 1 에서 2 로 건너가려면 두 가지가 동시에 있어야 한다 — 1 쪽 에너지 E 에 전자가 차 있어야 하고(그 수가 N_1(E) f_1(E)), 2 쪽의 같은 에너지 E 에 빈 자리가 있어야 한다(그 수가 N_2(E)[1-f_2(E)]). 건너가는 비율은 이 둘의 곱에 비례한다. 여기서 N(E) 는 상태밀도, f(E) 는 페르미-디랙 분포다. 왜 '같은 에너지 E 끼리' 만 세는가 — 전자가 에너지를 바꾸지 않고 자리만 옮기는 전이를 놓고 세기 때문이다(탄성 전이). ② 2 → 1 은 첨자만 맞바꾼 같은 꼴이다 — 2 쪽 찬 자리 × 1 쪽 빈 자리. ③ 평형은 '아무 일도 안 일어나는 것' 이 아니라 '오가는 수가 같아 어느 쪽도 늘지도 줄지도 않는 것' 이다. 그래서 두 비율을 같다고 놓는다. 이것을 세밀평형(detailed balance)이라 부른다. 여기까지가 식 (3-53)~(3-55) 이고, 다음 장에서 이 식을 풀어 f_1 = f_2 를 끌어낸다.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앞 장에서 세운 식 (3-55) 를 푸는 장이다. ④ 좌변을 펴면 N_1f_1N_2(1-f_2) = N_1N_2 f_1 - N_1N_2 f_1f_2 이고, 우변을 펴면 N_2f_2N_1(1-f_1) = N_1N_2 f_2 - N_1N_2 f_1f_2 다. 양변에 똑같이 들어 있는 N_1N_2 f_1f_2 항이 서로 지워진다 — 이 상쇄가 이 유도의 첫 고비다. ⑤ 남는 것은 N_1N_2 f_1 = N_1N_2 f_2, 곧 N_1N_2(f_1 - f_2) = 0 이다. 상태밀도는 0 이 아니므로 f_1(E) = f_2(E) 가 된다(식 3-57). 여기서 중요한 것은 N_1 · N_2 가 통째로 빠졌다는 점이다 — 두 물질의 상태밀도가 서로 아무리 달라도 결론이 바뀌지 않는다. 그래서 이 결과는 '어떤 두 물질을 붙이든' 성립한다. ⑥ f 의 꼴은 f(E) = 1/[1 + e^{(E-E_F)/kT}] 이고, 이 곡선의 모양을 정하는 것은 E_F 하나뿐이다(온도가 같다면). 따라서 모든 에너지 E 에서 f_1 = f_2 이려면 E_F1 = E_F2 여야 한다. 두 물질이 아니라 시료 안의 두 지점으로 보면 같은 논리가 어디서나 성립하므로 dE_F/dx = 0 (식 3-58)이 된다. 휘는 것은 E_c · E_v 이고 평평한 것은 E_F 라는 점을 다시 확인하고 다음 장으로 넘어간다. 이 한 줄이 5 장 pn 접합 대역도의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예제 3-8 의 '1 kG = 10^-5 Wb/cm²' 가 어디서 왔는지 단위부터 정리한 장이다. ① 자속 Φ(magnetic flux)는 자기력선이 어떤 넓이를 꿰뚫는 총량이고 단위는 Wb(웨버)다. 1 Wb = 1 V·s 인 까닭은 패러데이 법칙 V = -dΦ/dt 때문이다 — 1 Wb 의 자속이 1 초 만에 사라지면 1 V 가 유도된다. ② 자속밀도 𝓑(magnetic flux density)는 그 자속을 넓이로 나눈 값으로 SI 단위가 Wb/m², 이것을 T(테슬라)라 부른다. 홀 효과의 로렌츠 힘 F = qv × 𝓑 에 들어가는 것은 Φ 가 아니라 𝓑 다. 교재와 자석 업계에서 흔히 쓰는 CGS 단위가 G(가우스)이고 1 T = 10^4 G 다. ③ 교재가 Wb/cm² 를 쓰는 까닭 — 반도체에서는 농도(cm^-3), 이동도(cm²/V·s), 길이(cm)를 모두 cm 계로 적으므로 자속밀도도 cm 계로 맞춰야 식 (3-50) 에 그대로 넣을 수 있다. 넓이가 m² → cm² 로 10^4 배 작아지므로 1 Wb/cm² = 10^4 Wb/m² = 10^4 T 이고, 거꾸로 1 kG = 0.1 T = 10^-5 Wb/cm² 가 된다. ④ 그래서 예제 3-8 의 𝓑 = 10 kG 는 1 T, 곧 10^-4 Wb/cm² 다. 단위 검산도 해 둘 것 — p_0 = I_x𝓑_z/(q t V_AB) 에서 [A][Wb/cm²] / ([C][cm][V]) 이고, A = C/s, Wb = V·s 이므로 분자가 (C/s)(V·s)/cm² = C·V/cm², 분모가 C·cm·V 라 결과가 cm^-3 으로 딱 떨어진다. 크기 감각 — 지구 자기장이 약 0.5 G(5×10^-5 T), 냉장고 자석이 약 5 mT(50 G), 병원 MRI 가 1.5~3 T 다. 예제의 10 kG = 1 T 는 실험실 전자석으로 낼 수 있는 꽤 센 자계다.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질문 — '왜 상태밀도 유효질량과 전도도 유효질량을 나눠 써야 하는가'. 출발점은 '스칼라 유효질량은 원래 없다' 는 것이다. 유효질량의 정의는 밴드의 곡률 (1/m*)_ij = (1/ħ²) ∂²E/∂k_i∂k_j 로, 본디 2계 텐서다. Si 전도대는 등방 포물선이 아니라 ⟨100⟩ 방향으로 계곡 여섯 개가 있고, 각 계곡이 E(k) = (ħ²/2)[k_l²/m_l + (k_t1²+k_t2²)/m_t] 꼴의 타원체다 — m_l = 0.98 m_0(세로, 무거움), m_t = 0.19 m_0(가로, 가벼움). 등에너지면의 반축이 √(2mE)/ħ 라 무거운 축으로 길고 가벼운 축으로 짧다(그림 ①). 우리가 식을 간단히 쓰려고 이 복잡한 밴드를 '등방 단일 포물선 + 스칼라 m*' 로 바꿔치기하는데, 이때 m* 은 유도되는 값이 아니라 '어떤 한 가지 물리량을 똑같이 재현하도록 맞춘 수' 다. 그래서 맞추려는 물리량이 바뀌면 맞춰지는 수도 바뀐다. 그림 ② 는 자리를 세는 문제 — 묻는 것이 'E 아래 k 공간 부피' 이고 부피는 세 반축의 곱이므로 질량이 곱(기하평균)으로 모인다. 그림 ③ 은 힘을 주는 문제 — 가속도가 성분별로 a_i = F_i/m_i 라 들어오는 것은 1/m 이고, 같은 힘에 가벼운 쪽으로 훨씬 많이 움직인다(그림의 빨간 화살표 길이 비가 m_l/m_t ≒ 5). 그래서 역수의 평균(조화평균)으로 모인다. 한 줄로 — 부피는 곱으로 모이고, 응답은 합으로 모인다. 산술-기하-조화 평균 부등식에 따라 한 계곡의 기하평균 0.33 이 조화평균 0.26 보다 크다. 다음 두 장에서 각각을 식으로 따라간다.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세는 쪽의 유도다. ① 한 계곡의 등에너지면은 타원체이고, 각 반축의 길이는 그 방향 질량의 제곱근에 비례한다 — k_l,max = √(2m_l E)/ħ, k_t,max = √(2m_t E)/ħ. ② 타원체의 부피는 세 반축의 곱이므로 √(m_l)·√(m_t)·√(m_t) = (m_l m_t²)^{1/2} 에 비례한다. 상태밀도는 N(E) ∝ (m*)^{3/2} 꼴이므로 이것을 하나의 m* 로 적으려면 m_d = (m_l m_t²)^{1/3} 이 된다 — 세 질량의 기하평균이다. 숫자로 (0.98 × 0.19²)^{1/3} = (0.0354)^{1/3} = 0.33 m_0. ③ 계곡이 여섯 개면 k 공간에서 서로 떨어진 별개의 부피이므로 자리가 그냥 6 배가 된다. N ∝ (m*)^{3/2} 이므로 N 을 6 배 하려면 질량에 6^{2/3} = 3.30 을 곱해야 한다. 그래서 m_dos = 6^{2/3} × 0.33 = 1.08 m_0 이고, 이것이 N_c 와 n_0 를 구할 때 쓰는 값이다(교재는 1.1 로 적는다). 부록 A2 의 '차이는 계곡 수 6^{2/3} = 3.3' 이 바로 이 대목이다. 주의 — 6^{2/3} 이 질량에 붙는 것은 '계곡이 무거워져서' 가 아니라 '자리가 많아진 것을 질량 하나로 접어 넣었기'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움직이는 쪽의 유도다. ① 가속도는 벡터 전체가 아니라 성분별로 a_i = F_i/m_i 로 정해진다. 그래서 전류 응답에 들어오는 것은 질량이 아니라 그 역수다(엄밀히는 역질량 텐서). ② 계곡 하나만 보면 방향에 따라 응답이 다르지만, 여섯 계곡이 ⟨100⟩ 세 축에 둘씩 놓여 전체로는 입방 대칭이 회복되므로 세 축의 1/m 을 평균하면 1/m_c = (1/3)(1/m_l + 2/m_t) 이다. 숫자로 (1/3)(1/0.98 + 2/0.19) = (1/3)(11.55) = 3.85 이므로 m_c = 0.26 m_0 — 조화평균이다. 이것이 μ = q t̄ / m* 에 넣는 값이다. ③ 가장 헷갈리는 곳 — 전도도 질량에는 계곡 수가 들어가지 않는다. 각 계곡의 전자가 모두 같은 이동도를 가지므로 전체 전류는 J = Σ_v n_v q v = n q v 가 되고, '계곡이 여섯 개' 라는 사실은 이미 캐리어농도 n 안에 들어가 있다. 여기서 또 6^{2/3} 을 곱하면 이중 계산이다. 정공도 원리는 같다 — Si 가전자대는 k=0 에서 무거운 정공과 가벼운 정공 두 밴드가 겹쳐 있고, 자리를 더하면 상태밀도 질량 (m_hh^{3/2}+m_lh^{3/2})^{2/3}, 전류를 더하면 전도도 질량 (m_hh^{3/2}+m_lh^{3/2})/(m_hh^{1/2}+m_lh^{1/2}) 가 된다. 같은 두 질량이 '무엇을 더하느냐' 에 따라 두 가지로 모이는 셈이다. 다만 Si 정공의 교과서 값(0.81 · 0.386)은 밴드 뒤틀림과 비포물선성 때문에 이 단순식에 정확히 들어맞지 않고 300 K 에 맞춘 수치다.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쓰임을 한 장으로 모았다. 캐리어의 수를 세는 문제(n_0, p_0, N_c, N_v, n_i, 그리고 E_F 의 위치)에는 상태밀도 유효질량을, 전하가 움직이는 문제(μ, σ, ρ, v_d, 평균 자유시간 t̄)에는 전도도 유효질량을 쓴다. 바꿔 쓰면 자릿수가 틀어진다 — μ = q t̄/m* 에 1.08 을 넣으면 1.08/0.26 = 4.2 배 작은 이동도가 나오고, N_c ∝ (m*)^{3/2} 에 0.26 을 넣으면 (0.26/1.08)^{3/2} = 0.118, 곧 n_0 가 8.5 배 작게 나온다. 셋째 줄의 사이클로트론 유효질량은 '유효질량이 둘뿐이 아니다' 를 보이려고 넣었다 — 자계가 계곡의 긴축과 나란하면 m_t = 0.19, 수직이면 √(m_l m_t) = 0.43 이고, 역사적으로 m_l 과 m_t 를 실제로 잰 것이 이 사이클로트론 공명 실험이다. 곧 '유효질량' 은 하나가 아니라 밴드 텐서에서 그 실험이 뽑아 쓰는 평균마다 하나씩 있는 셈이다. 교재 부록 III 의 표에 실린 값도 어느 쪽인지 보고 써야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86973"/>
            <a:ext cx="7772400" cy="1470025"/>
          </a:xfrm>
        </p:spPr>
        <p:txBody>
          <a:bodyPr>
            <a:noAutofit/>
          </a:bodyPr>
          <a:lstStyle>
            <a:lvl1pPr algn="ctr">
              <a:defRPr sz="5400" baseline="0">
                <a:solidFill>
                  <a:schemeClr val="accent5">
                    <a:lumMod val="50000"/>
                  </a:schemeClr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340696"/>
            <a:ext cx="6400800" cy="14645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>
                <a:solidFill>
                  <a:srgbClr val="203864"/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93371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1520" y="126753"/>
            <a:ext cx="8892479" cy="709963"/>
          </a:xfrm>
        </p:spPr>
        <p:txBody>
          <a:bodyPr/>
          <a:lstStyle>
            <a:lvl1pPr>
              <a:defRPr sz="4000" b="1"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467916" y="1124744"/>
            <a:ext cx="8218884" cy="5256212"/>
          </a:xfrm>
        </p:spPr>
        <p:txBody>
          <a:bodyPr/>
          <a:lstStyle>
            <a:lvl1pPr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7668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2pPr>
            <a:lvl3pPr marL="12780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3pPr>
            <a:lvl4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4pPr>
            <a:lvl5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EB2A9E2-FDDE-B474-FFB0-C537D63B5A2F}"/>
              </a:ext>
            </a:extLst>
          </p:cNvPr>
          <p:cNvCxnSpPr>
            <a:cxnSpLocks/>
          </p:cNvCxnSpPr>
          <p:nvPr userDrawn="1"/>
        </p:nvCxnSpPr>
        <p:spPr>
          <a:xfrm>
            <a:off x="251520" y="980728"/>
            <a:ext cx="8784976" cy="0"/>
          </a:xfrm>
          <a:prstGeom prst="line">
            <a:avLst/>
          </a:prstGeom>
          <a:ln w="57150">
            <a:solidFill>
              <a:srgbClr val="2038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00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638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576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A8AECB-21A0-420C-B2A7-F93440F308F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684294" y="6351591"/>
            <a:ext cx="14097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C7F6A713-E7E1-49DF-8057-6BEF4A8AAE4B}" type="slidenum">
              <a:rPr lang="ja-JP" altLang="en-US" sz="1800" smtClean="0">
                <a:solidFill>
                  <a:srgbClr val="00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cs typeface="Times New Roman" panose="02020603050405020304" pitchFamily="18" charset="0"/>
              </a:rPr>
              <a:pPr algn="r" eaLnBrk="1" hangingPunct="1">
                <a:defRPr/>
              </a:pPr>
              <a:t>‹#›</a:t>
            </a:fld>
            <a:endParaRPr lang="ja-JP" altLang="en-US" sz="1800">
              <a:solidFill>
                <a:srgbClr val="00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895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E880FD-2128-43B9-83E4-10F583244DE0}"/>
              </a:ext>
            </a:extLst>
          </p:cNvPr>
          <p:cNvSpPr/>
          <p:nvPr userDrawn="1"/>
        </p:nvSpPr>
        <p:spPr>
          <a:xfrm>
            <a:off x="7365207" y="5"/>
            <a:ext cx="1778794" cy="1350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prstClr val="white"/>
              </a:solidFill>
              <a:latin typeface="Calibri" panose="020F0502020204030204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11404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>
            <a:extLst>
              <a:ext uri="{FF2B5EF4-FFF2-40B4-BE49-F238E27FC236}">
                <a16:creationId xmlns:a16="http://schemas.microsoft.com/office/drawing/2014/main" id="{759E051D-B08D-4FA4-BB6B-053A2F8A93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1223" y="115889"/>
            <a:ext cx="8065294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7" name="テキスト プレースホルダ 2">
            <a:extLst>
              <a:ext uri="{FF2B5EF4-FFF2-40B4-BE49-F238E27FC236}">
                <a16:creationId xmlns:a16="http://schemas.microsoft.com/office/drawing/2014/main" id="{5BA7339D-367C-4B3F-BEB9-7250DFF5F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7916" y="1268413"/>
            <a:ext cx="8218884" cy="525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28" name="テキスト ボックス 7">
            <a:extLst>
              <a:ext uri="{FF2B5EF4-FFF2-40B4-BE49-F238E27FC236}">
                <a16:creationId xmlns:a16="http://schemas.microsoft.com/office/drawing/2014/main" id="{7744A59C-659B-4599-BAA0-5CFBAAD2F3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44408" y="6351591"/>
            <a:ext cx="8495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6D4AAB7A-58BC-4B23-BBDA-7EEF2F53C539}" type="slidenum">
              <a:rPr lang="ja-JP" altLang="en-US" sz="1800" smtClean="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 Semilight" panose="020B0502040204020203" pitchFamily="50" charset="-127"/>
              </a:rPr>
              <a:pPr algn="r" eaLnBrk="1" hangingPunct="1">
                <a:defRPr/>
              </a:pPr>
              <a:t>‹#›</a:t>
            </a:fld>
            <a:endParaRPr lang="ja-JP" altLang="en-US" sz="1800" dirty="0">
              <a:solidFill>
                <a:srgbClr val="00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 Semilight" panose="020B0502040204020203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 kern="1200">
          <a:solidFill>
            <a:srgbClr val="203864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5pPr>
      <a:lvl6pPr marL="342892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7pPr>
      <a:lvl8pPr marL="1028675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9pPr>
    </p:titleStyle>
    <p:bodyStyle>
      <a:lvl1pPr marL="257168" indent="-269075" algn="l" rtl="0" eaLnBrk="0" fontAlgn="base" hangingPunct="0">
        <a:spcBef>
          <a:spcPts val="900"/>
        </a:spcBef>
        <a:spcAft>
          <a:spcPct val="0"/>
        </a:spcAft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marL="557199" indent="-269075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2pPr>
      <a:lvl3pPr marL="740551" indent="-27145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3pPr>
      <a:lvl4pPr marL="1012006" indent="-339320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4pPr>
      <a:lvl5pPr marL="1276318" indent="-33217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Relationship Id="rId10" Type="http://schemas.openxmlformats.org/officeDocument/2006/relationships/image" Target="../media/image_eq_a_0.png"/><Relationship Id="rId11" Type="http://schemas.openxmlformats.org/officeDocument/2006/relationships/image" Target="../media/image_eq_a_1.png"/><Relationship Id="rId12" Type="http://schemas.openxmlformats.org/officeDocument/2006/relationships/image" Target="../media/image_eq_a_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Relationship Id="rId10" Type="http://schemas.openxmlformats.org/officeDocument/2006/relationships/image" Target="../media/image_eq_b_0.png"/><Relationship Id="rId11" Type="http://schemas.openxmlformats.org/officeDocument/2006/relationships/image" Target="../media/image_eq_b_1.png"/><Relationship Id="rId12" Type="http://schemas.openxmlformats.org/officeDocument/2006/relationships/image" Target="../media/image_eq_b_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Relationship Id="rId10" Type="http://schemas.openxmlformats.org/officeDocument/2006/relationships/image" Target="../media/image_eq_cnt_0.png"/><Relationship Id="rId11" Type="http://schemas.openxmlformats.org/officeDocument/2006/relationships/image" Target="../media/image_eq_cnt_1.png"/><Relationship Id="rId12" Type="http://schemas.openxmlformats.org/officeDocument/2006/relationships/image" Target="../media/image_eq_cnt_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Relationship Id="rId10" Type="http://schemas.openxmlformats.org/officeDocument/2006/relationships/image" Target="../media/image_eq_mov_0.png"/><Relationship Id="rId11" Type="http://schemas.openxmlformats.org/officeDocument/2006/relationships/image" Target="../media/image_eq_mov_1.png"/><Relationship Id="rId12" Type="http://schemas.openxmlformats.org/officeDocument/2006/relationships/image" Target="../media/image_eq_mov_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9144000" cy="242316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물리전자공학 · 3장 에너지대역과 반도체에서의 전하 캐리어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제4강  전계에서의 표동과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Carrier Drift, Mobility and the Hall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553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 ~ 3.5 · 교재 119~132쪽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85615"/>
            <a:ext cx="7772400" cy="0"/>
          </a:xfrm>
          <a:prstGeom prst="line">
            <a:avLst/>
          </a:prstGeom>
          <a:ln w="25400">
            <a:solidFill>
              <a:srgbClr val="B4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0664" y="40325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무작위 산란 속에서도 남는 표동 — 식 (3-36)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447141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전도도와 이동도 — J = q(nμ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" y="49103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91947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이동도를 정하는 두 산란기구와 온도의존성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534924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358384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강전계에서의 속도 포화와 열전자 효과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" y="578815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797296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홀 효과로 캐리어를 재는 법, 그리고 평형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일정성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오늘의 강의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전체 흐름 · 교재 119~132쪽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9224" y="136245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25272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되짚기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강 — 도핑과 캐리어농도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29968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" y="22037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93976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속에서 남는 실질적 흐름 · 식 (3-29) ~ (3-36)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71216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304495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35224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(3-37) ~ (3-44) · 예제 3-6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12464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" y="388620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76472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격자산란과 불순물산란 · 교재 그림 3-22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53712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" y="4727448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17720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포화와 열전자 · 예제 3-7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9496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556869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5896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3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캐리어를 재는 법 · 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전계에서의 표동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· 산란 속에서 남는 흐름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강에서 어디까지 왔나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캐리어를 세는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1405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f(E) 는 자리를 차지할 확률,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그 곡선의 높이를 정함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)/kT],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언제나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8229600" cy="194280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오늘 답할 물음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캐리어는 왜 한없이 빨라지지 않는가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이동도는 무엇이 정하며 왜 온도에 따라 오르내리는가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캐리어의 수와 부호를 실제로 어떻게 재는가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전류와 전류밀도는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 내내 쓰는 J 의 뜻 · 그림의 μ 는 PART 2 에서 정의</a:t>
            </a:r>
          </a:p>
        </p:txBody>
      </p:sp>
      <p:pic>
        <p:nvPicPr>
          <p:cNvPr id="5" name="Picture 4" descr="b9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26453"/>
            <a:ext cx="8631936" cy="3198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1633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단면 전체를 1 초에 지나는 전하 [A]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 J 는 그것을 단면적으로 나눈 값 [A/cm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굵기가 다른 시료를 견주려면 J 로 봐야 하므로 J 를 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전계를 걸면 대역이 기울어진다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3-9 · 96쪽</a:t>
            </a:r>
          </a:p>
        </p:txBody>
      </p:sp>
      <p:pic>
        <p:nvPicPr>
          <p:cNvPr id="5" name="Picture 4" descr="b8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61" y="1280160"/>
            <a:ext cx="676407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[보충]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(1/q)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— 대역도로 전계를 읽음 (4.4.2 절)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가속하다 충돌로 에너지를 잃음 — 이것이 표동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산란이 없으면 2 강 42번 예제 3-1 처럼 운동에너지가 계속 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산란 속에서도 한쪽으로 흐른다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3-20 · 119~120쪽 · 강전계 포화 10</a:t>
            </a:r>
            <a:r>
              <a:rPr sz="2100" b="0" i="1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는 PART 4</a:t>
            </a:r>
          </a:p>
        </p:txBody>
      </p:sp>
      <p:pic>
        <p:nvPicPr>
          <p:cNvPr id="5" name="Picture 4" descr="b7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60" y="1280160"/>
            <a:ext cx="7267078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열운동 2.3×10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대 표동 1.35×10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(100 V/cm) — 170 배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사이의 평균 시간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(평균 자유시간, 다음 장)가 짧을수록 덜 빨라짐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평균에 치우침 — 전자는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반대쪽으로 표동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가속과 감속이 맞비긴다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식 (3-29)~(3-36) · 2 강 65번에 충돌을 더함</a:t>
            </a:r>
          </a:p>
        </p:txBody>
      </p:sp>
      <p:pic>
        <p:nvPicPr>
          <p:cNvPr id="5" name="Picture 4" descr="b7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63" y="1280160"/>
            <a:ext cx="8295473" cy="3322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주는 가속과 충돌이 깎는 몫이 맞비겨 평균 속도가 일정해짐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한없이 빨라지지 않음 — 오늘 첫 물음의 답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식으로 적으면 다음 장 — (3-29) ~ (3-36)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운동량 균형을 식으로 — (3-29) ~ (3-36)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전자 전체의 평균 · t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평균 자유시간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5628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255"/>
            <a:ext cx="7296912" cy="1442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주는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1 cm³ 속 전자 n 개의 운동량 합 — 그래서 n 이 붙음</a:t>
            </a:r>
          </a:p>
        </p:txBody>
      </p:sp>
      <p:pic>
        <p:nvPicPr>
          <p:cNvPr id="8" name="EQS007" descr="80806800bb7ffa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387" y="2217833"/>
            <a:ext cx="1717578" cy="4993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7649" y="227842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(3-29)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74384"/>
            <a:ext cx="8229600" cy="125699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87751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68919"/>
            <a:ext cx="7296912" cy="1136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충돌이 깎는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잃음 — 과정은 부록 A3</a:t>
            </a:r>
          </a:p>
        </p:txBody>
      </p:sp>
      <p:pic>
        <p:nvPicPr>
          <p:cNvPr id="13" name="EQS012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388" y="3497693"/>
            <a:ext cx="1436318" cy="499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08391" y="355828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54244"/>
            <a:ext cx="8229600" cy="89404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415737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48779"/>
            <a:ext cx="7296912" cy="773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 — 두 몫의 합이 0</a:t>
            </a:r>
          </a:p>
        </p:txBody>
      </p:sp>
      <p:pic>
        <p:nvPicPr>
          <p:cNvPr id="18" name="EQS017" descr="55a18308ddb68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25" y="4471747"/>
            <a:ext cx="2847027" cy="4421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09373" y="450376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71148"/>
            <a:ext cx="8229600" cy="13382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074276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065682"/>
            <a:ext cx="7296912" cy="121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 하나로 · 유효질량으로 나눔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으로 나눈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식 (3-35)</a:t>
            </a:r>
          </a:p>
        </p:txBody>
      </p:sp>
      <p:pic>
        <p:nvPicPr>
          <p:cNvPr id="23" name="EQS022" descr="d35177e59b870c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067" y="5694457"/>
            <a:ext cx="1832586" cy="5805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30016" y="579565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속도에서 전류밀도까지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(3-36) ~ (3-40)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4206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230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104"/>
            <a:ext cx="7296912" cy="1014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속도 — 정상상태 운동량 ÷ 유효질량</a:t>
            </a:r>
          </a:p>
        </p:txBody>
      </p:sp>
      <p:pic>
        <p:nvPicPr>
          <p:cNvPr id="8" name="EQS007" descr="c529ffd2f5b6e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732" y="1677832"/>
            <a:ext cx="1307877" cy="6164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90637" y="1785288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5159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61104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51978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전류밀도 — 단위시간 · 단위면적당 전하</a:t>
            </a:r>
          </a:p>
        </p:txBody>
      </p:sp>
      <p:pic>
        <p:nvPicPr>
          <p:cNvPr id="13" name="EQS012" descr="4228801b85f3d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033" y="2862379"/>
            <a:ext cx="1610714" cy="3399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94076" y="283157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(3-37)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81302"/>
            <a:ext cx="8229600" cy="11756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39081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381687"/>
            <a:ext cx="7296912" cy="1047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 (3-36) 을 넣으면</a:t>
            </a:r>
          </a:p>
        </p:txBody>
      </p:sp>
      <p:pic>
        <p:nvPicPr>
          <p:cNvPr id="18" name="EQS017" descr="b08827df5a50c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24" y="3770414"/>
            <a:ext cx="1098831" cy="6499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81175" y="389463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(3-38)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7771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458722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578097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곧 옴의 법칙 꼴</a:t>
            </a:r>
          </a:p>
        </p:txBody>
      </p:sp>
      <p:pic>
        <p:nvPicPr>
          <p:cNvPr id="23" name="EQS022" descr="251f0118e5c81b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468" y="4988500"/>
            <a:ext cx="1042629" cy="33993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24862" y="4957700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(3-39)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53436"/>
            <a:ext cx="8229600" cy="755924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σ 를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으로 놓은 것이 이동도의 정의 — 식 (3-40a)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마무리 · 3.4.2 표동과 저항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정의와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(3-40a), (3-41), (3-42)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06070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5875">
            <a:solidFill>
              <a:srgbClr val="B4C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6" name="EQ001" descr="91fb0be61d5d5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212" y="1325880"/>
            <a:ext cx="2169574" cy="859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395728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단위전계당 평균 표동속도 — 단위는 (cm/s)/(V/cm) =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전계와 반대로 가므로 음의 부호를 붙여 양수로 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전류밀도는 J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(3-42) · 정공은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+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7206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가벼우면 빠르다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Γ 계곡이 뾰족하게 휘어(곡률이 커)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작으므로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매우 큼 — 고주파 소자에 쓰이는 까닭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1159471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122쪽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전자의 전도도 유효질량을 계산하라.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49359"/>
            <a:ext cx="8229600" cy="2377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0.98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0.19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(부록 III) · 전도대의 등가 X 계곡 6 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전도도 유효질량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(3-40b) 의 조화평균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참고 — GaAs 는 구형이라 상태밀도 · 전도도 유효질량이 모두 0.067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유효질량은 쓰임마다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3-6 · 122쪽 · 2 강 60번 전도도 유효질량</a:t>
            </a:r>
          </a:p>
        </p:txBody>
      </p:sp>
      <p:pic>
        <p:nvPicPr>
          <p:cNvPr id="5" name="Picture 4" descr="b7_m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수를 셀 때는 상태밀도 유효질량(기하평균) — 3강의 1.1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전도도 유효질량(조화평균) — 식 (3-40b)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1/m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(1/3)(1/m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+ 2/m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→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을 손으로 따라간다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 · 식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98085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85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조화평균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 로 밀면 계곡 2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4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(2/m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+ 4/m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)/6</a:t>
            </a:r>
          </a:p>
        </p:txBody>
      </p:sp>
      <p:pic>
        <p:nvPicPr>
          <p:cNvPr id="8" name="EQS007" descr="5cba5f3f78cf24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365984"/>
            <a:ext cx="2203857" cy="76701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3204326"/>
            <a:ext cx="8229600" cy="16595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31405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304910"/>
            <a:ext cx="7296912" cy="153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값을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1/0.98 = 1.02, 2/0.19 = 10.53</a:t>
            </a:r>
          </a:p>
        </p:txBody>
      </p:sp>
      <p:pic>
        <p:nvPicPr>
          <p:cNvPr id="12" name="EQS011" descr="d8d59232dde32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56217"/>
            <a:ext cx="3008214" cy="7710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98606"/>
            <a:ext cx="8229600" cy="137417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500833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99190"/>
            <a:ext cx="7296912" cy="124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 — 상태밀도 유효질량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훨씬 가벼움</a:t>
            </a:r>
          </a:p>
        </p:txBody>
      </p:sp>
      <p:pic>
        <p:nvPicPr>
          <p:cNvPr id="16" name="EQS015" descr="8e7e264bb2acf6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89898"/>
            <a:ext cx="1652778" cy="4069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막대 하나의 저항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3-21 · 124쪽 · 식 (3-43) 123쪽 · 부호는 2 강 82번(A4)</a:t>
            </a:r>
          </a:p>
        </p:txBody>
      </p:sp>
      <p:pic>
        <p:nvPicPr>
          <p:cNvPr id="5" name="Picture 4" descr="b7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365980"/>
            <a:ext cx="8631936" cy="3490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47629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전자(←) · 정공(→)은 반대로 가도 전류는 같은 쪽 (3-43)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저항은 전도도에 모양이 더해진 값 — R = ρL/wt, 식 (3-44)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값은 교재 부록 III 에 물질별로 실려 있음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전도도에서 저항까지 — (3-43), (3-44)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123~124쪽 · 두 캐리어를 함께 · 옴의 법칙과 같은 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두 캐리어의 전류를 더한다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(-q)(-μ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정공 (+q)(+μ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— 같은 쪽</a:t>
            </a:r>
          </a:p>
        </p:txBody>
      </p:sp>
      <p:pic>
        <p:nvPicPr>
          <p:cNvPr id="8" name="EQS007" descr="5b12c0c8c7181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7632"/>
            <a:ext cx="2978658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58818" y="1975915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33481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54320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534065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저항률은 전도도의 역수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물질의 성질 — 모양과 무관</a:t>
            </a:r>
          </a:p>
        </p:txBody>
      </p:sp>
      <p:pic>
        <p:nvPicPr>
          <p:cNvPr id="13" name="EQS012" descr="2cec58080a1b6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42393"/>
            <a:ext cx="3387852" cy="35890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3678242"/>
            <a:ext cx="8229600" cy="134978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78797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778826"/>
            <a:ext cx="7296912" cy="1221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막대의 저항 — 모양이 더해짐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길이 L, 단면 wt</a:t>
            </a:r>
          </a:p>
        </p:txBody>
      </p:sp>
      <p:pic>
        <p:nvPicPr>
          <p:cNvPr id="17" name="EQS016" descr="04b2a0f4a336d8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74582"/>
            <a:ext cx="675122" cy="5168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955282" y="453184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558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1655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51564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옴의 법칙과 같은 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L, I = J wt 를 넣으면 V = IR</a:t>
            </a:r>
          </a:p>
        </p:txBody>
      </p:sp>
      <p:pic>
        <p:nvPicPr>
          <p:cNvPr id="22" name="EQS021" descr="74a774d05fd5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873877"/>
            <a:ext cx="4423410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강의 저항률 계산을 마무리한다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이제 μ 를 알므로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9285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2357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721"/>
            <a:ext cx="7296912" cy="1371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진성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= p =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 강과 같은 값),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480</a:t>
            </a:r>
          </a:p>
        </p:txBody>
      </p:sp>
      <p:pic>
        <p:nvPicPr>
          <p:cNvPr id="8" name="EQS007" descr="a597c1eabff03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846" y="2284300"/>
            <a:ext cx="5799368" cy="3627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14394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18032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09395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이동도가 거의 줄지 않는 농도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(PART 3)</a:t>
            </a:r>
          </a:p>
        </p:txBody>
      </p:sp>
      <p:pic>
        <p:nvPicPr>
          <p:cNvPr id="12" name="EQS011" descr="fb49780e903c7b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411" y="3503741"/>
            <a:ext cx="5376183" cy="36057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32756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6393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7756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이동도를 줄임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(그림 3-23)</a:t>
            </a:r>
          </a:p>
        </p:txBody>
      </p:sp>
      <p:pic>
        <p:nvPicPr>
          <p:cNvPr id="16" name="EQS015" descr="507120f913038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045" y="4722102"/>
            <a:ext cx="4683109" cy="36057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272028"/>
            <a:ext cx="8229600" cy="10373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을 100 배 늘렸는데 ρ 는 약 52 배만 줄어듦 — 1350 을 그대로 쓰면 0.046 으로 두 배 틀림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무엇이 이동도를 정하는가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3.4.3 · 두 산란기구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온도의존성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3-22 · 124~125쪽 · 식 (3-45) · 유도는 부록 A15</a:t>
            </a:r>
          </a:p>
        </p:txBody>
      </p:sp>
      <p:pic>
        <p:nvPicPr>
          <p:cNvPr id="5" name="Picture 4" descr="b7_m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390" y="1280160"/>
            <a:ext cx="666921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기구의 온도의존이 반대라 중간 온도에서 이동도가 가장 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저온의 느린 캐리어일수록 이온 곁에 오래 머물러 더 휘어짐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빈도 1/t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더해지고 μ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라서 1/μ =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(3-45)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두 산란을 그림으로 보면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124~125쪽의 두 기구를 그림으로 · 표는 다음 장</a:t>
            </a:r>
          </a:p>
        </p:txBody>
      </p:sp>
      <p:pic>
        <p:nvPicPr>
          <p:cNvPr id="5" name="Picture 4" descr="b13_sca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— 완전히 규칙적이면 산란 없음 · 흔들림이 산란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불순물산란 — 이온 곁에서 휘어짐 · 느릴수록 많이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온도의존이 반대 — 앞 장 곡선 둘의 까닭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왜 반대 방향인가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두 산란을 나란히 놓고 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3502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350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33502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2938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무엇에 부딪히나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2938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격자의 열진동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92938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이온화된 불순물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963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온도가 오르면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496312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진동이 커져 심해짐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496312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캐리어가 빨라 덜 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62656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63240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온도의존성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06324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3063240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63016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주된 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3016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높은 온도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630168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낮은 온도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96512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1970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줄이는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1970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낮춘다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4197096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도핑을 낮춘다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791456"/>
            <a:ext cx="8229600" cy="1098296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 : 1/700 = 1/1350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약 1450 — 두 산란이 맞먹음 · 격자산란 = 포논산란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도핑과 이동도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3-23 · 126쪽 · 300 K</a:t>
            </a:r>
          </a:p>
        </p:txBody>
      </p:sp>
      <p:pic>
        <p:nvPicPr>
          <p:cNvPr id="5" name="Picture 4" descr="b8_mud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14" y="1280160"/>
            <a:ext cx="8273971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아래에서는 이동도가 거의 그대로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그보다 높이면 이온화된 불순물의 산란으로 뚜렷하게 떨어짐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도핑은 n 을 늘리지만 μ 를 줄이므로 σ = qnμ 는 둘의 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강전계에서는 무엇이 달라지나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3.4.4 · 속도 포화와 열전자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강전계에서는 속도가 멈춘다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3-24 · 127쪽 · 3.4.4 (127~128쪽) · GaAs 음성저항은 10 장</a:t>
            </a:r>
          </a:p>
        </p:txBody>
      </p:sp>
      <p:pic>
        <p:nvPicPr>
          <p:cNvPr id="5" name="Picture 4" descr="b7_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07" y="1280160"/>
            <a:ext cx="8121184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 얻는 에너지 &gt; 격자에 넘기는 몫 → 열전자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포논을 내보내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멈춤 — 포화속도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0.1 μm 에 1 V 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오늘날 소자는 늘 이 영역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126쪽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(a) 길이 0.1 cm, 단면적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Si 막대가 인(P)으로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도핑되어 있다. 10 V 가 인가되었을 때 300 K 에서의 전류를 구하라. (b) 100 V/cm 의 전계가 가해진 순수한 Si 에서 전자들이 1 μm 표동하는 데 얼마의 시간이 걸리는가?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에 대해 반복하라.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(a) L = 0.1 cm, A =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  (b) 순수 Si, 거리 1 μm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(a) 전류 I  (b) 100 V/cm ·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의 통과 시간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(μ) 과 그림 3-24 (속도 포화) 를 읽어 푼다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126~127쪽 · 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18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690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0.1 cm, A = 100 μm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41931"/>
            <a:ext cx="8229600" cy="133852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15165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142515"/>
            <a:ext cx="7296912" cy="121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길이로 나눈다 — 옴의 법칙이 성립하는 크기</a:t>
            </a:r>
          </a:p>
        </p:txBody>
      </p:sp>
      <p:pic>
        <p:nvPicPr>
          <p:cNvPr id="11" name="EQS010" descr="a354e60a6ac844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23819"/>
            <a:ext cx="2206489" cy="5200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57200" y="3415207"/>
            <a:ext cx="8229600" cy="12025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52493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515791"/>
            <a:ext cx="7296912" cy="1074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속도와 전류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에서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이므로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5" name="EQS014" descr="b46913594482e4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198239"/>
            <a:ext cx="7162038" cy="38176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7200" y="4762195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교재 풀이와 다른 까닭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 풀이는 L = 1 μm 로 풀어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포화 · 0.16 A (옴의 법칙이면 1.12 A) — 여기선 문제문대로 0.1 cm ·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127쪽 · 통과 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2587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97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순수 Si · 100 V/cm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진성이라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을 쓴다 — 시료가 바뀌었음</a:t>
            </a:r>
          </a:p>
        </p:txBody>
      </p:sp>
      <p:pic>
        <p:nvPicPr>
          <p:cNvPr id="8" name="EQS007" descr="59b0181e7982c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3971"/>
            <a:ext cx="4293108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2817"/>
            <a:ext cx="8229600" cy="14323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254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3401"/>
            <a:ext cx="7296912" cy="130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μm 를 지나는 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거리를 속도로 나눈다</a:t>
            </a:r>
          </a:p>
        </p:txBody>
      </p:sp>
      <p:pic>
        <p:nvPicPr>
          <p:cNvPr id="12" name="EQS011" descr="2d473b37ab9043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58068"/>
            <a:ext cx="2201313" cy="5904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23339"/>
            <a:ext cx="8229600" cy="14259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306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3923"/>
            <a:ext cx="7296912" cy="1297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V/cm 에서 반복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 — 그림 3-24 에서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6" name="EQS015" descr="aec9351c131968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728591"/>
            <a:ext cx="2423317" cy="58407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497189"/>
            <a:ext cx="8229600" cy="75742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전계는 1000 배, 시간은 74 배만 짧아짐 — 속도 포화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표동 · 저항 · 강전계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PART 1 ~ 4 · 답은 다음 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표동은 얼마나 느린가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 V/cm 에서 Si 전자의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열운동 속도(약 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cm/s)의 몇 %?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 어림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1 Ω·cm 인 n 형 Si 의 도핑은 대략? 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어림하고 그림 3-23 으로 확인)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대역도로 전계 읽기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순수 Si 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1 μm 사이에 0.5 eV 내려가면 전계는? 옴의 법칙이 맞을까?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해답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0.6 %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× 100 = 1.35×10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— 열운동의 170 분의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 으로 어림하면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그 농도의 μ 는 조금 작아 약 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V/cm — 조금 어긋남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넘어 휘기 시작 — 그림 3-24 로 μ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15~20 % 작음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재는 법, 그리고 마지막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3.4.5 홀 효과 · 3.5 평형 E</a:t>
            </a:r>
            <a:r>
              <a:rPr sz="2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효과로 캐리어를 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3-25 · 128~129쪽 · 홀 효과 — 타입 · 농도 · 이동도를 한 번에</a:t>
            </a:r>
          </a:p>
        </p:txBody>
      </p:sp>
      <p:pic>
        <p:nvPicPr>
          <p:cNvPr id="5" name="Picture 4" descr="b7_h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946" y="1280160"/>
            <a:ext cx="7594106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q(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(3-46) — 정공도 전자도 -y 로 밀림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/(q t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(3-50) · n 형은 |V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부호는 단자 배치 약속 — 힘의 방향으로 판단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자기력의 방향 — 손으로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(3-46) 의 v ×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를 손과 외적 두 가지로</a:t>
            </a:r>
          </a:p>
        </p:txBody>
      </p:sp>
      <p:pic>
        <p:nvPicPr>
          <p:cNvPr id="5" name="Picture 4" descr="b13_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플레밍 왼손 법칙 — 엄지 F · 검지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중지 I, 셋은 직각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양전하가 흐르는 쪽 — 전자는 v 가 -x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전하도 -q 라 두 번 뒤집혀 정공과 같은 -y(앞면 A)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홀 전압이 서기까지 — 세 걸음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위에서 본 그림 · 쌓임 → 전계 → 균형 · 부록 A4 로 이어짐</a:t>
            </a:r>
          </a:p>
        </p:txBody>
      </p:sp>
      <p:pic>
        <p:nvPicPr>
          <p:cNvPr id="5" name="Picture 4" descr="b13_hal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① 자기력 qv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캐리어를 한쪽 면으로 민다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② A 에 (+), B 엔 정공이 빠진 (-) → 가로 전계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③ 전기력이 자기력과 같아지면 멈춤 — 식 (3-48)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측정으로 무엇까지 아는가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(3-47) ~ (3-52)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370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3542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4807"/>
            <a:ext cx="7296912" cy="1014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 방향 힘 — 정공은 v × </a:t>
            </a: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가 -y, 곧 A 면으로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쌓인 전하의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맞서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 →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(3-48)</a:t>
            </a:r>
          </a:p>
        </p:txBody>
      </p:sp>
      <p:pic>
        <p:nvPicPr>
          <p:cNvPr id="8" name="EQS007" descr="4cd869b5550516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669" y="1935915"/>
            <a:ext cx="2146664" cy="3428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7298" y="1915169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48957"/>
            <a:ext cx="8229600" cy="13066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53779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45043"/>
            <a:ext cx="7296912" cy="118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계수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비례상수 · n 형은 -1/(qn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pic>
        <p:nvPicPr>
          <p:cNvPr id="13" name="EQS012" descr="686c770da3bb55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885" y="3084142"/>
            <a:ext cx="831262" cy="536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329" y="3160247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8875"/>
            <a:ext cx="8229600" cy="130515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8369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74961"/>
            <a:ext cx="7296912" cy="1182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측정값만으로 구해진다</a:t>
            </a:r>
          </a:p>
        </p:txBody>
      </p:sp>
      <p:pic>
        <p:nvPicPr>
          <p:cNvPr id="18" name="EQS017" descr="e9a662bc86e789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4686" y="4414060"/>
            <a:ext cx="1036417" cy="535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65086" y="4489400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07264"/>
            <a:ext cx="8229600" cy="13020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11208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103351"/>
            <a:ext cx="7296912" cy="1179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저항률과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 · D 전압으로 ρ · n 형은 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·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</a:t>
            </a:r>
          </a:p>
        </p:txBody>
      </p:sp>
      <p:pic>
        <p:nvPicPr>
          <p:cNvPr id="23" name="EQS022" descr="feddf4592266e3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029" y="5742448"/>
            <a:ext cx="2204795" cy="531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588149" y="5816260"/>
            <a:ext cx="3328416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(3-51)·(3-52)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130쪽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130쪽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3-25 에서 반도체 막대의 w = 0.1 mm, t = 10 μm, L = 5 mm 이다. 자계 B = 10 kG (1 kG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와 1 mA 의 전류가 그림에 있는 방향으로 주어졌을 때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mV,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 이다. 이 막대의 형(type), 농도, 다수캐리어의 이동도를 구하라.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w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t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L = 0.5 cm · B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 mA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형(n / p), 다수캐리어 농도, 다수캐리어 이동도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타입과 캐리어농도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0.5, w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t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</a:p>
        </p:txBody>
      </p:sp>
      <p:pic>
        <p:nvPicPr>
          <p:cNvPr id="8" name="EQS007" descr="15c862c62af8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24049"/>
            <a:ext cx="6423660" cy="38176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44698"/>
            <a:ext cx="8229600" cy="161820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5442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45282"/>
            <a:ext cx="7296912" cy="14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타입 판별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속도 -x · 전하 -q — 두 번 뒤집혀 역시 A 면으로 밀려 A 가 (-)</a:t>
            </a:r>
          </a:p>
          <a:p>
            <a:pPr eaLnBrk="0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&lt; 0 이므로 다수 캐리어는 전자 — n 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81779"/>
            <a:ext cx="8229600" cy="16885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459150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582363"/>
            <a:ext cx="7296912" cy="1560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에 그대로 넣는다</a:t>
            </a:r>
          </a:p>
        </p:txBody>
      </p:sp>
      <p:pic>
        <p:nvPicPr>
          <p:cNvPr id="15" name="EQS014" descr="22817f23910960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351957"/>
            <a:ext cx="4062222" cy="76352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식 (3-51)(3-52) 129쪽</a:t>
            </a:r>
          </a:p>
        </p:txBody>
      </p:sp>
      <p:pic>
        <p:nvPicPr>
          <p:cNvPr id="5" name="Picture 4" descr="b9_e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32" y="1280160"/>
            <a:ext cx="685393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(V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)·wt/L = 100 × 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)/0.5 = 0.002 Ω·cm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-1/(qn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-20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/C — 음이라 n 형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|R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(InSb · InAs 급 — 부록 A14)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는 꺾이지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3-26 · 131~132쪽 · 3 강 '페르미준위는 전자 바다의 수면'</a:t>
            </a:r>
          </a:p>
        </p:txBody>
      </p:sp>
      <p:pic>
        <p:nvPicPr>
          <p:cNvPr id="5" name="Picture 4" descr="b7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오가는 전자가 맞비겨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(3-57)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1/(1 + exp[(E -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)/kT]) 라 모든 E 에서 같으려면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다르면 전자가 높은 쪽 → 낮은 쪽으로 흘러 같아짐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앞 장을 물 비유와 오가는 전자로 · 식 전개는 다음 두 장</a:t>
            </a:r>
          </a:p>
        </p:txBody>
      </p:sp>
      <p:pic>
        <p:nvPicPr>
          <p:cNvPr id="5" name="Picture 4" descr="b13_e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17536"/>
            <a:ext cx="8631936" cy="3214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2362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→ 2 는 '1 의 찬 자리 × 2 의 빈 자리' 에 비례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 → 1 은 그 반대 — 평형이면 두 흐름이 같음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라야 성립 →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하나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일정하면 대역이 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3.5 절의 결론이 소자 동작으로 이어지는 자리</a:t>
            </a:r>
          </a:p>
        </p:txBody>
      </p:sp>
      <p:pic>
        <p:nvPicPr>
          <p:cNvPr id="5" name="Picture 4" descr="b9_nm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625" y="1280160"/>
            <a:ext cx="713474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 — 5 장 pn 접합 · 6 장 MOSFET 의 출발점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다르면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맞춰 오르내려 대역이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휜 곳의 전계가 만드는 표동 전류를 농도 차의 확산 전류가 상쇄 — 알짜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장을 마치며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네 시간을 한 줄로 꿰면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~ 2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원자가 모여 결합하고, 준위가 대역이 되고, 간극이 가른다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23744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2 ~ 3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캐리어는 전자와 정공 두 가지, 도핑으로 그 수를 설계하고 센다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22191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4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얼마나 있는지(n, p) 와 얼마나 잘 움직이는지(μ) 가 곱해져 전류가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75504"/>
            <a:ext cx="8229600" cy="529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C00000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다음 장부터는 이 캐리어들이 평형을 벗어났을 때를 다룸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전계의 가속과 충돌의 감속이 맞비겨 평균 속도가 일정해짐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q(nμ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(3-43)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단위는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조화평균 — 식 (3-40b)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(수를 셀 때의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다름)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(근사), 불순물산란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1/μ = Σ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가장 작은 쪽이 전체를 정함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넘으면 열전자가 되어 옴의 법칙이 깨짐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포논으로 에너지를 잃어 Si 는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포화 — 소자 속도의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n 형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|), μ =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어디서나 일정 — dE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0, 식 (3-58)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9144000" cy="1737360"/>
          </a:xfrm>
          <a:prstGeom prst="roundRect">
            <a:avLst>
              <a:gd name="adj" fmla="val 0"/>
            </a:avLst>
          </a:prstGeom>
          <a:solidFill>
            <a:srgbClr val="3B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99232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부록 — 확인 문제와 보충 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본문에서 결론만 말한 곳의 근거와,
스스로 풀어 볼 문항을 모아 둔다.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A1. 평균 자유시간을 어림한다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(3-40a)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68263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554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식을 뒤집는다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정의에서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를 구한다</a:t>
            </a:r>
          </a:p>
        </p:txBody>
      </p:sp>
      <p:pic>
        <p:nvPicPr>
          <p:cNvPr id="8" name="EQS007" descr="22c0d6ef9b674f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040610"/>
            <a:ext cx="1068238" cy="79416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892200"/>
            <a:ext cx="8229600" cy="197491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0019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992784"/>
            <a:ext cx="7296912" cy="1846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 에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= 0.135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/V·s,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pic>
        <p:nvPicPr>
          <p:cNvPr id="12" name="EQS011" descr="425c2669852629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69464"/>
            <a:ext cx="3664835" cy="76107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87964"/>
            <a:ext cx="8229600" cy="138481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99769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88548"/>
            <a:ext cx="7296912" cy="125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0.2 ps 마다 방향을 잃음 — 표동이 느린 까닭</a:t>
            </a:r>
          </a:p>
        </p:txBody>
      </p:sp>
      <p:pic>
        <p:nvPicPr>
          <p:cNvPr id="16" name="EQS015" descr="a950e2c66a47ee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97150"/>
            <a:ext cx="3138678" cy="38176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A2. 두 유효질량을 다시 견준다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(3-16b),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300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10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자리의 개수를 세는 데 쓰므로 부피처럼 더한다</a:t>
            </a:r>
          </a:p>
        </p:txBody>
      </p:sp>
      <p:pic>
        <p:nvPicPr>
          <p:cNvPr id="8" name="EQS007" descr="41527cdda8e841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8177"/>
            <a:ext cx="3693765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7023"/>
            <a:ext cx="8229600" cy="139650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675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7607"/>
            <a:ext cx="7296912" cy="1268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가속의 쉬움을 평균하므로 역수로 더한다</a:t>
            </a:r>
          </a:p>
        </p:txBody>
      </p:sp>
      <p:pic>
        <p:nvPicPr>
          <p:cNvPr id="12" name="EQS011" descr="b7fc49aafda8fc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66480"/>
            <a:ext cx="2848004" cy="55046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891747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0147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992331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왜 다른가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 계곡: 기하 0.33 · 조화 0.26 — 차이는 계곡 수 6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2/3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01376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2111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201960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기억법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셀 때는 계곡 여섯을 다 더하고, 움직일 때는 가벼운 축이 주도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A3. 충돌 항과 평균 자유시간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교재 식 (3-30) ~ (3-33) · 119~121쪽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 확률은 언제나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방금 충돌했든 한참 전이든 dt 안에 충돌할 확률은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1194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25092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241778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살아남는 수가 지수로 줄어든다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지수분포라 시간상수도 평균도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(3-32)</a:t>
            </a:r>
          </a:p>
        </p:txBody>
      </p:sp>
      <p:pic>
        <p:nvPicPr>
          <p:cNvPr id="11" name="EQS010" descr="18f740ec173ba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071952"/>
            <a:ext cx="1725930" cy="390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06090" y="306623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42309"/>
            <a:ext cx="8229600" cy="1647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75203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742893"/>
            <a:ext cx="7296912" cy="1519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운동량이 깎이는 빠르기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잃어 x 방향 운동량이 사라짐</a:t>
            </a:r>
          </a:p>
        </p:txBody>
      </p:sp>
      <p:pic>
        <p:nvPicPr>
          <p:cNvPr id="16" name="EQS015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512487"/>
            <a:ext cx="2077974" cy="722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58134" y="467250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3735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5463463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454319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엄밀히는 운동량 완화시간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작은 각 산란은 운동량을 조금만 없앰 · Si 0.2 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A4. 홀 전압에서 p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0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와 μ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p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(3-47) ~ (3-52) · 128~129쪽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95003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822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옆 방향 힘이 0 — F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0, 식 (3-47)</a:t>
            </a:r>
          </a:p>
        </p:txBody>
      </p:sp>
      <p:pic>
        <p:nvPicPr>
          <p:cNvPr id="8" name="EQS007" descr="730df14a0198f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729256"/>
            <a:ext cx="1216152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6312" y="170753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6553"/>
            <a:ext cx="8229600" cy="144953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27628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267137"/>
            <a:ext cx="7296912" cy="1321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를 전류로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정공의 표동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를 넣음</a:t>
            </a:r>
          </a:p>
        </p:txBody>
      </p:sp>
      <p:pic>
        <p:nvPicPr>
          <p:cNvPr id="13" name="EQS012" descr="179be03b50dcc1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018443"/>
            <a:ext cx="1987394" cy="561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67554" y="309780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43884"/>
            <a:ext cx="8229600" cy="147210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536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44468"/>
            <a:ext cx="7296912" cy="1344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잴 수 있는 양으로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/(wt),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/w 를 넣음</a:t>
            </a:r>
          </a:p>
        </p:txBody>
      </p:sp>
      <p:pic>
        <p:nvPicPr>
          <p:cNvPr id="18" name="EQS017" descr="0021598539180d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95775"/>
            <a:ext cx="1781278" cy="5836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61438" y="458642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43787"/>
            <a:ext cx="8229600" cy="11289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25351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244371"/>
            <a:ext cx="7296912" cy="1000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 — σ = 1/ρ = q μ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에서</a:t>
            </a:r>
          </a:p>
        </p:txBody>
      </p:sp>
      <p:pic>
        <p:nvPicPr>
          <p:cNvPr id="23" name="EQS022" descr="059cbe207159e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670304"/>
            <a:ext cx="1891976" cy="5659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72136" y="5752088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(3-52)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A5. 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일정한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(3-53) ~ (3-58) · 131~132쪽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에서 찬 자리 × 2 에서 빈 자리 · 식 (3-53)</a:t>
            </a:r>
          </a:p>
        </p:txBody>
      </p:sp>
      <p:pic>
        <p:nvPicPr>
          <p:cNvPr id="8" name="EQS007" descr="5397610f07731f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06225"/>
            <a:ext cx="2372868" cy="3406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587252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69698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687836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방향만 바꾼 같은 꼴 · 식 (3-54)</a:t>
            </a:r>
          </a:p>
        </p:txBody>
      </p:sp>
      <p:pic>
        <p:nvPicPr>
          <p:cNvPr id="12" name="EQS011" descr="e4bd5aef703392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504758"/>
            <a:ext cx="2372868" cy="3406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85784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955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86368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평형이면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정리하면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-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0 · 식 (3-55)(3-56)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12473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02220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013057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상태밀도와 무관하게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(3-57)(3-58)</a:t>
            </a:r>
          </a:p>
        </p:txBody>
      </p:sp>
      <p:pic>
        <p:nvPicPr>
          <p:cNvPr id="19" name="EQS018" descr="0b97b248a33fca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829979"/>
            <a:ext cx="3511296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A6. 세 물질의 이동도와 CMOS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300 K · 교재 부록 III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20385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14674"/>
            <a:ext cx="201168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314674"/>
            <a:ext cx="182880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1226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15808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15808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3859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3900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43859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37328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71910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171910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4822"/>
            <a:ext cx="8229600" cy="920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· 순수한 시료 — 도핑하면 줄어듦(그림 3-23)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전자가 매우 빠르고 정공은 Si 보다도 느림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37217"/>
            <a:ext cx="8229600" cy="14721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CMOS(상보형 MOS) 에서는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PMOS(p 채널)의 정공이 NMOS(n 채널)의 전자보다 약 3 배 느려 PMOS 폭을 2~3 배로 넓힌다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A7. 스스로 확인하기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걸어도 캐리어가 한없이 빨라지지 않는 까닭은?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단위가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인 까닭을 정의로 설명하라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올리면 이동도는 어떻게 되는가? 조건은?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포화가 소자 설계에 뜻하는 바는?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일정해야 하는 까닭은?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A8. 확인 문제 해답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충돌이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마다 운동량을 없애 가속과 맞비기므로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v/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(cm/s)/(V/cm) =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고온(격자산란)에서는 줄고, 저온(불순물산란)에서는 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더 올려도 속도가 늘지 않아 전류가 포화함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높은 쪽 → 낮은 쪽으로 흐름 — 평형이면 같아야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스스로 확인하기 (2/2) — 수치로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계산기를 들고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3-8 조건에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 형 Si 면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부호는?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3-7(a) 막대에 1000 V 면 전류는? 옴의 법칙 값은?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8500)로 예제 3-7(b) 100 V/cm 통과 시간은?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전자의 평균 자유행로 (열운동 속도 × 0.2 ps)는?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3-22 에서 도핑을 높이면 이동도 최대점은?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A10. 확인 문제 해답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B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t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+62.5 mV — 양(+), p 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옴이면 0.112 A, 그림 3-24 로 약 0.09~0.13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8.5×10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→ 1 μm 에 0.12 ns (Si 의 약 1/6)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-13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— 약 50 nm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최대점이 높은 온도 쪽으로 옮기고 높이는 낮아짐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533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5331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53312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3852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3852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4203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4203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mobility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4203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35808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45536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4553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conductivity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14553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749040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자유시간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74904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mean free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74904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42816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352544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35254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lattice (phonon) scattering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35254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-3/2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95604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95604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impurity 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95604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49824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55955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55955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Hall 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55955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자기학습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혼자서도 확인해 볼 수 있는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3장 3.4 ~ 3.5 (119~132쪽) — 예제 3-6, 3-7 을 다시 풀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되짚어 볼 곳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3.2.2절 유효질량(2 강 46~69번) / 부록 III 의 이동도 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12464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해 볼 것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Ge(μ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3900)로 예제 3-7(b)를 다시 풀어 볼 것 (0.26 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56048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다음 장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제4장 — 평형을 벗어난 과잉 캐리어와 그 수명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MOSFET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금속-산화막-반도체 전계효과 트랜지스터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Metal-Oxide-Semiconductor Field-Effect Transistor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26664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08376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상보형 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08376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Complementary 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NMOS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채널 MOSFET (전자)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n-channel MOSFET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251959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PMOS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33671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 채널 MOSFET (정공)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33671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p-channel MOSFET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79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64607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HEMT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846319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고전자이동도 트랜지스터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846319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High Electron Mobility Transistor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전자-정공쌍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Electron-Hole 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88336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670048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국제단위계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70048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International System of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전자볼트 1.602×10</a:t>
            </a:r>
            <a:r>
              <a:rPr sz="21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-19</a:t>
            </a: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 Volt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5902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5720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5720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Hot Carrier Injection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A14. 원소 · 화합물 이름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우리말 화합물은 '뒤 원소-화 + 앞 원소' · 발음은 미국식 어림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512064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1673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16736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167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1673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 발음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4708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4708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8470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470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4086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4086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408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arsenic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34086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아서닉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61488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8346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저마늄 (게르마늄)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34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germanium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83464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저메이니엄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2841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328416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인듐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2841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32841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22191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822191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82219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antimony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822191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앤티모니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31596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31596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갈륨비소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3159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 arsenide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31596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 아서나이드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36592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80974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InSb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80974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안티모니화 인듐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8097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antimonide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097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앤티머나이드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30352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303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비소화 인듐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5303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arsenide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303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아서나이드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A15. 식 (3-45) — 마티센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Matthiessen's rule · 교재 125쪽은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,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로 적음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6040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7097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 빈도가 더해진다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기구가 독립이면 단위시간 충돌 확률이 더해짐</a:t>
            </a:r>
          </a:p>
        </p:txBody>
      </p:sp>
      <p:pic>
        <p:nvPicPr>
          <p:cNvPr id="8" name="EQS007" descr="aff73da0fda947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172" y="1962669"/>
            <a:ext cx="1849042" cy="33314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380011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487332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78388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 — 식 (3-45)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/m* (3-40a) 는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비례 — 양변에 m*/q 를 곱함</a:t>
            </a:r>
          </a:p>
        </p:txBody>
      </p:sp>
      <p:pic>
        <p:nvPicPr>
          <p:cNvPr id="12" name="EQS011" descr="d643d177085289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555" y="3153960"/>
            <a:ext cx="2061447" cy="333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7852" y="3123776"/>
            <a:ext cx="1952244" cy="393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71303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678623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669680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작은 이동도(더 잦은 산란)가 전체를 정함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6974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449429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4485351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숫자로 —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1/700 = 1/1350 + 1/μ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1450, 두 산란이 맞먹음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02643"/>
            <a:ext cx="8229600" cy="110671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0996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301020"/>
            <a:ext cx="7296912" cy="981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 의존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 ·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도핑이 많을수록 작음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저작권과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8A8A8A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자료를 쓰기 전에 읽어 주세요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Streetman &amp; Banerjee, 「고체전자공학」 7판 (성진미디어)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원저 — Solid State Electronic Devices, 7th 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00902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만든 것과 가리킨 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그림은 모두 새로 작도했고 풀이 서술도 새로 썼습니다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· 절 · 쪽수는 교재의 해당 부분을 가리키는 표시입니다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21644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이용 범위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교재를 갖춘 수강생을 위한 수업용 보조자료입니다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수업 목적을 벗어난 복제 · 배포 · 공개를 금합니다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 — 전자가 뜨거워진다는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열전자(hot electron) · 교재 127~128쪽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약한 전계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420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조금만 뜨거워도 비긴다</a:t>
            </a:r>
          </a:p>
        </p:txBody>
      </p:sp>
      <p:sp>
        <p:nvSpPr>
          <p:cNvPr id="13" name="Lattice 13"/>
          <p:cNvSpPr/>
          <p:nvPr/>
        </p:nvSpPr>
        <p:spPr>
          <a:xfrm>
            <a:off x="460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14" name="EnergyBar 14"/>
          <p:cNvSpPr/>
          <p:nvPr/>
        </p:nvSpPr>
        <p:spPr>
          <a:xfrm>
            <a:off x="1516500" y="2975000"/>
            <a:ext cx="320000" cy="230000"/>
          </a:xfrm>
          <a:prstGeom prst="rect">
            <a:avLst/>
          </a:prstGeom>
          <a:solidFill>
            <a:srgbClr val="9FB8D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5" name="Connector 15"/>
          <p:cNvCxnSpPr/>
          <p:nvPr/>
        </p:nvCxnSpPr>
        <p:spPr>
          <a:xfrm>
            <a:off x="500000" y="2955000"/>
            <a:ext cx="966500" cy="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440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17" name="Connector 17"/>
          <p:cNvCxnSpPr/>
          <p:nvPr/>
        </p:nvCxnSpPr>
        <p:spPr>
          <a:xfrm>
            <a:off x="2076500" y="2585000"/>
            <a:ext cx="0" cy="580000"/>
          </a:xfrm>
          <a:prstGeom prst="straightConnector1">
            <a:avLst/>
          </a:prstGeom>
          <a:ln w="19050" cap="rnd">
            <a:solidFill>
              <a:srgbClr val="548235"/>
            </a:solidFill>
            <a:tailEnd type="triangle" w="med" len="med"/>
          </a:ln>
        </p:spPr>
      </p:cxnSp>
      <p:sp>
        <p:nvSpPr>
          <p:cNvPr id="18" name="TextBox 18"/>
          <p:cNvSpPr txBox="1"/>
          <p:nvPr/>
        </p:nvSpPr>
        <p:spPr>
          <a:xfrm>
            <a:off x="2146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강전계 — 열전자</a:t>
            </a:r>
          </a:p>
        </p:txBody>
      </p:sp>
      <p:sp>
        <p:nvSpPr>
          <p:cNvPr id="20" name="Panel 20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1"/>
          <p:cNvSpPr txBox="1"/>
          <p:nvPr/>
        </p:nvSpPr>
        <p:spPr>
          <a:xfrm>
            <a:off x="33135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많이 뜨거워져야 비긴다</a:t>
            </a:r>
          </a:p>
        </p:txBody>
      </p:sp>
      <p:sp>
        <p:nvSpPr>
          <p:cNvPr id="22" name="Lattice 22"/>
          <p:cNvSpPr/>
          <p:nvPr/>
        </p:nvSpPr>
        <p:spPr>
          <a:xfrm>
            <a:off x="33535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23" name="EnergyBar 23"/>
          <p:cNvSpPr/>
          <p:nvPr/>
        </p:nvSpPr>
        <p:spPr>
          <a:xfrm>
            <a:off x="4410000" y="2605000"/>
            <a:ext cx="320000" cy="60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4" name="Connector 24"/>
          <p:cNvCxnSpPr/>
          <p:nvPr/>
        </p:nvCxnSpPr>
        <p:spPr>
          <a:xfrm>
            <a:off x="3393500" y="2955000"/>
            <a:ext cx="966500" cy="0"/>
          </a:xfrm>
          <a:prstGeom prst="straightConnector1">
            <a:avLst/>
          </a:prstGeom>
          <a:ln w="31750" cap="rnd">
            <a:solidFill>
              <a:srgbClr val="203864"/>
            </a:solidFill>
            <a:tailEnd type="triangle" w="med" len="med"/>
          </a:ln>
        </p:spPr>
      </p:cxnSp>
      <p:sp>
        <p:nvSpPr>
          <p:cNvPr id="25" name="TextBox 25"/>
          <p:cNvSpPr txBox="1"/>
          <p:nvPr/>
        </p:nvSpPr>
        <p:spPr>
          <a:xfrm>
            <a:off x="33335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26" name="Connector 26"/>
          <p:cNvCxnSpPr/>
          <p:nvPr/>
        </p:nvCxnSpPr>
        <p:spPr>
          <a:xfrm>
            <a:off x="4970000" y="2585000"/>
            <a:ext cx="0" cy="580000"/>
          </a:xfrm>
          <a:prstGeom prst="straightConnector1">
            <a:avLst/>
          </a:prstGeom>
          <a:ln w="31750" cap="rnd">
            <a:solidFill>
              <a:srgbClr val="548235"/>
            </a:solidFill>
            <a:tailEnd type="triangle" w="med" len="med"/>
          </a:ln>
        </p:spPr>
      </p:cxnSp>
      <p:sp>
        <p:nvSpPr>
          <p:cNvPr id="27" name="TextBox 27"/>
          <p:cNvSpPr txBox="1"/>
          <p:nvPr/>
        </p:nvSpPr>
        <p:spPr>
          <a:xfrm>
            <a:off x="50400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광학 포논이 뚜껑</a:t>
            </a:r>
          </a:p>
        </p:txBody>
      </p:sp>
      <p:sp>
        <p:nvSpPr>
          <p:cNvPr id="29" name="Panel 29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TextBox 30"/>
          <p:cNvSpPr txBox="1"/>
          <p:nvPr/>
        </p:nvSpPr>
        <p:spPr>
          <a:xfrm>
            <a:off x="6207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여기서부터 확 버린다</a:t>
            </a:r>
          </a:p>
        </p:txBody>
      </p:sp>
      <p:sp>
        <p:nvSpPr>
          <p:cNvPr id="31" name="Lattice 31"/>
          <p:cNvSpPr/>
          <p:nvPr/>
        </p:nvSpPr>
        <p:spPr>
          <a:xfrm>
            <a:off x="6247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32" name="EnergyBar 32"/>
          <p:cNvSpPr/>
          <p:nvPr/>
        </p:nvSpPr>
        <p:spPr>
          <a:xfrm>
            <a:off x="7303500" y="2415000"/>
            <a:ext cx="320000" cy="79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3" name="Connector 33"/>
          <p:cNvCxnSpPr/>
          <p:nvPr/>
        </p:nvCxnSpPr>
        <p:spPr>
          <a:xfrm>
            <a:off x="6287000" y="2955000"/>
            <a:ext cx="966500" cy="0"/>
          </a:xfrm>
          <a:prstGeom prst="straightConnector1">
            <a:avLst/>
          </a:prstGeom>
          <a:ln w="41275" cap="rnd">
            <a:solidFill>
              <a:srgbClr val="203864"/>
            </a:solidFill>
            <a:tailEnd type="triangle" w="med" len="med"/>
          </a:ln>
        </p:spPr>
      </p:cxnSp>
      <p:sp>
        <p:nvSpPr>
          <p:cNvPr id="34" name="TextBox 34"/>
          <p:cNvSpPr txBox="1"/>
          <p:nvPr/>
        </p:nvSpPr>
        <p:spPr>
          <a:xfrm>
            <a:off x="6227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35" name="Connector 35"/>
          <p:cNvCxnSpPr/>
          <p:nvPr/>
        </p:nvCxnSpPr>
        <p:spPr>
          <a:xfrm>
            <a:off x="7863500" y="2585000"/>
            <a:ext cx="0" cy="580000"/>
          </a:xfrm>
          <a:prstGeom prst="straightConnector1">
            <a:avLst/>
          </a:prstGeom>
          <a:ln w="41275" cap="rnd">
            <a:solidFill>
              <a:srgbClr val="548235"/>
            </a:solidFill>
            <a:tailEnd type="triangle" w="med" len="med"/>
          </a:ln>
        </p:spPr>
      </p:cxnSp>
      <p:sp>
        <p:nvSpPr>
          <p:cNvPr id="36" name="TextBox 36"/>
          <p:cNvSpPr txBox="1"/>
          <p:nvPr/>
        </p:nvSpPr>
        <p:spPr>
          <a:xfrm>
            <a:off x="7933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광학 포논</a:t>
            </a:r>
          </a:p>
        </p:txBody>
      </p:sp>
      <p:cxnSp>
        <p:nvCxnSpPr>
          <p:cNvPr id="37" name="Connector 37"/>
          <p:cNvCxnSpPr/>
          <p:nvPr/>
        </p:nvCxnSpPr>
        <p:spPr>
          <a:xfrm>
            <a:off x="7113500" y="2355000"/>
            <a:ext cx="700000" cy="0"/>
          </a:xfrm>
          <a:prstGeom prst="straightConnector1">
            <a:avLst/>
          </a:prstGeom>
          <a:ln w="19050" cap="rnd">
            <a:solidFill>
              <a:srgbClr val="C00000"/>
            </a:solidFill>
            <a:prstDash val="dash"/>
          </a:ln>
        </p:spPr>
      </p:cxnSp>
      <p:sp>
        <p:nvSpPr>
          <p:cNvPr id="38" name="TextBox 38"/>
          <p:cNvSpPr txBox="1"/>
          <p:nvPr/>
        </p:nvSpPr>
        <p:spPr>
          <a:xfrm>
            <a:off x="6727000" y="2105000"/>
            <a:ext cx="148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ħω ≈ 63 meV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격자온도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= 300 K · 옴의 법칙 성립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수천 K 까지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격자는 그대로 300 K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더는 안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속도도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에서 멈춤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막대 = 전자의 평균 에너지 · 화살표 = 주는 몫(q</a:t>
            </a:r>
            <a:r>
              <a:rPr sz="14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v)과 버리는 몫 — 정상상태에선 둘이 같다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포논으로 버리는 빠르기는 전자가 뜨거울수록 커진다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세면 더 뜨거워져야 주는 몫과 비긴다 —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≫ 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포논이 열리면 조금만 더 올라도 비김 → 속도 포화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열전자가 소자에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속도 포화 너머 — 충돌 이온화 · 산화막 주입 · GaAs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속도 포화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충돌 이온화</a:t>
            </a:r>
          </a:p>
        </p:txBody>
      </p:sp>
      <p:sp>
        <p:nvSpPr>
          <p:cNvPr id="13" name="Panel 13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산화막으로 주입</a:t>
            </a:r>
          </a:p>
        </p:txBody>
      </p:sp>
      <p:sp>
        <p:nvSpPr>
          <p:cNvPr id="15" name="Panel 15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6" name="Connector 16"/>
          <p:cNvCxnSpPr/>
          <p:nvPr/>
        </p:nvCxnSpPr>
        <p:spPr>
          <a:xfrm>
            <a:off x="640000" y="2105000"/>
            <a:ext cx="0" cy="110000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640000" y="3205000"/>
            <a:ext cx="2030000" cy="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8" name="Connector 18"/>
          <p:cNvCxnSpPr/>
          <p:nvPr/>
        </p:nvCxnSpPr>
        <p:spPr>
          <a:xfrm flipV="1">
            <a:off x="660000" y="2585000"/>
            <a:ext cx="910000" cy="56000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1570000" y="2585000"/>
            <a:ext cx="1030000" cy="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500000" y="1850000"/>
            <a:ext cx="5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100" b="0" i="1" baseline="-2500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00000" y="3130000"/>
            <a:ext cx="2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70000" y="2300000"/>
            <a:ext cx="6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1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2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333500" y="2125000"/>
            <a:ext cx="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24" name="HotElectron 24"/>
          <p:cNvSpPr/>
          <p:nvPr/>
        </p:nvSpPr>
        <p:spPr>
          <a:xfrm>
            <a:off x="3463500" y="2405000"/>
            <a:ext cx="200000" cy="20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5" name="Connector 25"/>
          <p:cNvCxnSpPr/>
          <p:nvPr/>
        </p:nvCxnSpPr>
        <p:spPr>
          <a:xfrm>
            <a:off x="3713500" y="2505000"/>
            <a:ext cx="390000" cy="0"/>
          </a:xfrm>
          <a:prstGeom prst="straightConnector1">
            <a:avLst/>
          </a:prstGeom>
          <a:ln w="28575" cap="rnd">
            <a:solidFill>
              <a:srgbClr val="C00000"/>
            </a:solidFill>
            <a:tailEnd type="triangle" w="med" len="med"/>
          </a:ln>
        </p:spPr>
      </p:cxnSp>
      <p:sp>
        <p:nvSpPr>
          <p:cNvPr id="26" name="Bond 26"/>
          <p:cNvSpPr/>
          <p:nvPr/>
        </p:nvSpPr>
        <p:spPr>
          <a:xfrm>
            <a:off x="4143500" y="2325000"/>
            <a:ext cx="560000" cy="3600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결합</a:t>
            </a:r>
          </a:p>
        </p:txBody>
      </p:sp>
      <p:cxnSp>
        <p:nvCxnSpPr>
          <p:cNvPr id="27" name="Connector 27"/>
          <p:cNvCxnSpPr/>
          <p:nvPr/>
        </p:nvCxnSpPr>
        <p:spPr>
          <a:xfrm flipV="1">
            <a:off x="4743500" y="2225000"/>
            <a:ext cx="410000" cy="23500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cxnSp>
        <p:nvCxnSpPr>
          <p:cNvPr id="28" name="Connector 28"/>
          <p:cNvCxnSpPr/>
          <p:nvPr/>
        </p:nvCxnSpPr>
        <p:spPr>
          <a:xfrm>
            <a:off x="4743500" y="2550000"/>
            <a:ext cx="410000" cy="235000"/>
          </a:xfrm>
          <a:prstGeom prst="straightConnector1">
            <a:avLst/>
          </a:prstGeom>
          <a:ln w="19050" cap="rnd">
            <a:solidFill>
              <a:srgbClr val="C00000"/>
            </a:solidFill>
            <a:tailEnd type="triangle" w="med" len="med"/>
          </a:ln>
        </p:spPr>
      </p:cxnSp>
      <p:sp>
        <p:nvSpPr>
          <p:cNvPr id="29" name="TextBox 29"/>
          <p:cNvSpPr txBox="1"/>
          <p:nvPr/>
        </p:nvSpPr>
        <p:spPr>
          <a:xfrm>
            <a:off x="5203500" y="2095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203500" y="2700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</a:t>
            </a:r>
          </a:p>
        </p:txBody>
      </p:sp>
      <p:cxnSp>
        <p:nvCxnSpPr>
          <p:cNvPr id="31" name="Connector 31"/>
          <p:cNvCxnSpPr/>
          <p:nvPr/>
        </p:nvCxnSpPr>
        <p:spPr>
          <a:xfrm>
            <a:off x="6307000" y="2900000"/>
            <a:ext cx="7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2" name="Connector 32"/>
          <p:cNvCxnSpPr/>
          <p:nvPr/>
        </p:nvCxnSpPr>
        <p:spPr>
          <a:xfrm flipV="1">
            <a:off x="70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3" name="Connector 33"/>
          <p:cNvCxnSpPr/>
          <p:nvPr/>
        </p:nvCxnSpPr>
        <p:spPr>
          <a:xfrm>
            <a:off x="7007000" y="2300000"/>
            <a:ext cx="8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4" name="Connector 34"/>
          <p:cNvCxnSpPr/>
          <p:nvPr/>
        </p:nvCxnSpPr>
        <p:spPr>
          <a:xfrm>
            <a:off x="78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5" name="Connector 35"/>
          <p:cNvCxnSpPr/>
          <p:nvPr/>
        </p:nvCxnSpPr>
        <p:spPr>
          <a:xfrm>
            <a:off x="7807000" y="2900000"/>
            <a:ext cx="75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sp>
        <p:nvSpPr>
          <p:cNvPr id="36" name="TextBox 36"/>
          <p:cNvSpPr txBox="1"/>
          <p:nvPr/>
        </p:nvSpPr>
        <p:spPr>
          <a:xfrm>
            <a:off x="7057000" y="2430000"/>
            <a:ext cx="7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3.1 eV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57000" y="265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산화막</a:t>
            </a:r>
          </a:p>
        </p:txBody>
      </p:sp>
      <p:sp>
        <p:nvSpPr>
          <p:cNvPr id="38" name="HotElectron 38"/>
          <p:cNvSpPr/>
          <p:nvPr/>
        </p:nvSpPr>
        <p:spPr>
          <a:xfrm>
            <a:off x="6487000" y="2740000"/>
            <a:ext cx="170000" cy="17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9" name="Connector 39"/>
          <p:cNvCxnSpPr/>
          <p:nvPr/>
        </p:nvCxnSpPr>
        <p:spPr>
          <a:xfrm flipV="1">
            <a:off x="6587000" y="2120000"/>
            <a:ext cx="370000" cy="670000"/>
          </a:xfrm>
          <a:prstGeom prst="straightConnector1">
            <a:avLst/>
          </a:prstGeom>
          <a:ln w="25400" cap="rnd">
            <a:solidFill>
              <a:srgbClr val="C00000"/>
            </a:solidFill>
          </a:ln>
        </p:spPr>
      </p:cxnSp>
      <p:cxnSp>
        <p:nvCxnSpPr>
          <p:cNvPr id="40" name="Connector 40"/>
          <p:cNvCxnSpPr/>
          <p:nvPr/>
        </p:nvCxnSpPr>
        <p:spPr>
          <a:xfrm>
            <a:off x="6957000" y="2120000"/>
            <a:ext cx="1150000" cy="0"/>
          </a:xfrm>
          <a:prstGeom prst="straightConnector1">
            <a:avLst/>
          </a:prstGeom>
          <a:ln w="25400" cap="rnd">
            <a:solidFill>
              <a:srgbClr val="C00000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7007000" y="1840000"/>
            <a:ext cx="1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2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Si (채널)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게이트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포논으로 흘려 더 안 빨라짐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≈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깨진 결합이 EHP 한 쌍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애벌랜치 — 5.4.2 절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산화막에 갇힌 전하가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문턱전압을 밀어 소자가 늙음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HCI = Hot Carrier Injection(열전자 주입) · GaAs 는 속도가 되레 줄어듦 — 음성저항(10 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에너지를 포논으로 흘려 더 빨라지지 않음 — 속도 포화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센 전계에선 결합을 깨 EHP 를 만듦 — 충돌 이온화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산화막으로 뛰어들어 갇히면 소자가 늙음 — HCI 열화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열전자를 말로 먼저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전자온도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와 격자온도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이 무엇인지부터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온도는 '얼마나 들떠 있나' 를 적은 숫자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하나가 아니라 전자 무리가 얼마나 퍼져 있나를 적는다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넓게 퍼질수록 온도가 높다 — 평형이면 전자도 결정도 300 K</a:t>
            </a:r>
          </a:p>
        </p:txBody>
      </p:sp>
      <p:sp>
        <p:nvSpPr>
          <p:cNvPr id="13" name="Card 13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Oval 14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는 전자의 온도,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은 결정(격자)의 온도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결정이 떠는 정도. 전계를 걸어도 거의 그대로다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전자 무리가 퍼진 정도. 받은 몫을 다 못 버리면 오른다</a:t>
            </a:r>
          </a:p>
        </p:txBody>
      </p:sp>
      <p:sp>
        <p:nvSpPr>
          <p:cNvPr id="16" name="Card 16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Oval 17"/>
          <p:cNvSpPr/>
          <p:nvPr/>
        </p:nvSpPr>
        <p:spPr>
          <a:xfrm>
            <a:off x="630936" y="5309616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8720" y="4785360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=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만 올라간 전자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결정은 그대로 300 K 인데 전자만 수천 K 로 뜨거워진 상태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뜨거워지면 산란이 잦아져 μ 가 작아진다 — 옴의 법칙이 깨짐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되는 식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131~132쪽 · 식 (3-53) ~ (3-55) · 흐름을 세운다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건너가는 비율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쪽의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찬 자리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 쪽의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빈 자리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둘 다 있어야 건너간다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342859"/>
            <a:ext cx="4970400" cy="4275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6375787" y="23916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(3-53)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건너가는 비율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첨자만 맞바꾼 같은 꼴 — 같은 에너지 E 끼리만 센다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57359"/>
            <a:ext cx="4970400" cy="427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375787" y="41061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(3-54)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 — 오가는 수가 같다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평형은 '아무 일도 없음' 이 아니라 '알짜가 0'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771859"/>
            <a:ext cx="4012800" cy="4275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5418187" y="58206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(3-55)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되는 식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(3-56) ~ (3-58) · 상태밀도가 통째로 빠지는 것이 핵심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괄호를 풀면 곱항이 지워진다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양변에 똑같이 있는 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상쇄된다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342859"/>
            <a:ext cx="4123000" cy="4275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5528387" y="23916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(3-56)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상태밀도가 통째로 빠진다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은 0 이 아니므로 — 두 물질의 N 이 달라도 결론은 같다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57359"/>
            <a:ext cx="4605600" cy="427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010987" y="41061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(3-57)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 를 정하는 것은 E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하나뿐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 가 같으려면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같아야 한다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499359"/>
            <a:ext cx="2925000" cy="7000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4330387" y="568435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(3-58)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A16. 자속과 자속밀도의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Wb · T · G · Wb/cm</a:t>
            </a:r>
            <a:r>
              <a:rPr sz="21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· 예제 3-8(교재 130쪽)의 환산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자속 Φ — 단위 Wb (웨버, weber)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자기력선이 어떤 넓이를 꿰뚫는 총량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Wb = 1 V·s — 1 초 만에 사라지면 1 V 를 만든다</a:t>
            </a:r>
          </a:p>
        </p:txBody>
      </p:sp>
      <p:sp>
        <p:nvSpPr>
          <p:cNvPr id="13" name="Card 13"/>
          <p:cNvSpPr/>
          <p:nvPr/>
        </p:nvSpPr>
        <p:spPr>
          <a:xfrm>
            <a:off x="457200" y="2474595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Oval 14"/>
          <p:cNvSpPr/>
          <p:nvPr/>
        </p:nvSpPr>
        <p:spPr>
          <a:xfrm>
            <a:off x="594360" y="2577724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70432" y="2569130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— 자속밀도, 단위 Wb/m</a:t>
            </a:r>
            <a:r>
              <a:rPr sz="2200" b="0" i="0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T (테슬라)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자속을 넓이로 나눈 값 — 홀 효과에 쓰는 것은 이쪽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CGS 단위는 G (가우스, gauss) · 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G</a:t>
            </a:r>
          </a:p>
        </p:txBody>
      </p:sp>
      <p:sp>
        <p:nvSpPr>
          <p:cNvPr id="16" name="Card 16"/>
          <p:cNvSpPr/>
          <p:nvPr/>
        </p:nvSpPr>
        <p:spPr>
          <a:xfrm>
            <a:off x="457200" y="3760470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Oval 17"/>
          <p:cNvSpPr/>
          <p:nvPr/>
        </p:nvSpPr>
        <p:spPr>
          <a:xfrm>
            <a:off x="594360" y="386359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70432" y="3855005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교재가 쓰는 Wb/cm</a:t>
            </a:r>
            <a:r>
              <a:rPr sz="2200" b="0" i="0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kG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G = 0.1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교재 130쪽</a:t>
            </a:r>
          </a:p>
        </p:txBody>
      </p:sp>
      <p:sp>
        <p:nvSpPr>
          <p:cNvPr id="19" name="Card 19"/>
          <p:cNvSpPr/>
          <p:nvPr/>
        </p:nvSpPr>
        <p:spPr>
          <a:xfrm>
            <a:off x="457200" y="5046345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Oval 20"/>
          <p:cNvSpPr/>
          <p:nvPr/>
        </p:nvSpPr>
        <p:spPr>
          <a:xfrm>
            <a:off x="594360" y="5149474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70432" y="5140880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예제 3-8 에 넣는 꼴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 kG = 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이 cm 계라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로 맞춰 넣는다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A17. 유효질량이 하나가 아닌 까닭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같은 타원을 놓고 무엇을 묻느냐에 따라 평균이 갈린다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방향마다 다르다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420000" y="1805000"/>
            <a:ext cx="2513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질량이 축마다 다름</a:t>
            </a:r>
          </a:p>
        </p:txBody>
      </p:sp>
      <p:sp>
        <p:nvSpPr>
          <p:cNvPr id="13" name="Valley 13"/>
          <p:cNvSpPr/>
          <p:nvPr/>
        </p:nvSpPr>
        <p:spPr>
          <a:xfrm>
            <a:off x="796500" y="2260000"/>
            <a:ext cx="1760000" cy="760000"/>
          </a:xfrm>
          <a:prstGeom prst="ellipse">
            <a:avLst/>
          </a:prstGeom>
          <a:solidFill>
            <a:srgbClr val="EEF3FA"/>
          </a:solidFill>
          <a:ln w="1905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4" name="Connector 14"/>
          <p:cNvCxnSpPr/>
          <p:nvPr/>
        </p:nvCxnSpPr>
        <p:spPr>
          <a:xfrm>
            <a:off x="866500" y="2640000"/>
            <a:ext cx="1620000" cy="0"/>
          </a:xfrm>
          <a:prstGeom prst="straightConnector1">
            <a:avLst/>
          </a:prstGeom>
          <a:ln w="19050" cap="rnd">
            <a:solidFill>
              <a:srgbClr val="203864"/>
            </a:solidFill>
            <a:headEnd type="triangle" w="med" len="med"/>
            <a:tailEnd type="triangle" w="med" len="med"/>
          </a:ln>
        </p:spPr>
      </p:cxnSp>
      <p:cxnSp>
        <p:nvCxnSpPr>
          <p:cNvPr id="15" name="Connector 15"/>
          <p:cNvCxnSpPr/>
          <p:nvPr/>
        </p:nvCxnSpPr>
        <p:spPr>
          <a:xfrm>
            <a:off x="1676500" y="2300000"/>
            <a:ext cx="0" cy="680000"/>
          </a:xfrm>
          <a:prstGeom prst="straightConnector1">
            <a:avLst/>
          </a:prstGeom>
          <a:ln w="19050" cap="rnd">
            <a:solidFill>
              <a:srgbClr val="203864"/>
            </a:solidFill>
            <a:headEnd type="triangle" w="med" len="med"/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자리를 센다</a:t>
            </a:r>
          </a:p>
        </p:txBody>
      </p:sp>
      <p:sp>
        <p:nvSpPr>
          <p:cNvPr id="17" name="Panel 17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8" name="TextBox 18"/>
          <p:cNvSpPr txBox="1"/>
          <p:nvPr/>
        </p:nvSpPr>
        <p:spPr>
          <a:xfrm>
            <a:off x="3313500" y="1805000"/>
            <a:ext cx="2513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부피를 센다</a:t>
            </a:r>
          </a:p>
        </p:txBody>
      </p:sp>
      <p:sp>
        <p:nvSpPr>
          <p:cNvPr id="19" name="Valley 19"/>
          <p:cNvSpPr/>
          <p:nvPr/>
        </p:nvSpPr>
        <p:spPr>
          <a:xfrm>
            <a:off x="3690000" y="2260000"/>
            <a:ext cx="1760000" cy="760000"/>
          </a:xfrm>
          <a:prstGeom prst="ellipse">
            <a:avLst/>
          </a:prstGeom>
          <a:solidFill>
            <a:srgbClr val="EEF3FA"/>
          </a:solidFill>
          <a:ln w="1905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State 20"/>
          <p:cNvSpPr/>
          <p:nvPr/>
        </p:nvSpPr>
        <p:spPr>
          <a:xfrm>
            <a:off x="3902428" y="2601000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State 21"/>
          <p:cNvSpPr/>
          <p:nvPr/>
        </p:nvSpPr>
        <p:spPr>
          <a:xfrm>
            <a:off x="4111952" y="2465285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2" name="State 22"/>
          <p:cNvSpPr/>
          <p:nvPr/>
        </p:nvSpPr>
        <p:spPr>
          <a:xfrm>
            <a:off x="4111952" y="2601000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3" name="State 23"/>
          <p:cNvSpPr/>
          <p:nvPr/>
        </p:nvSpPr>
        <p:spPr>
          <a:xfrm>
            <a:off x="4111952" y="2736714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4" name="State 24"/>
          <p:cNvSpPr/>
          <p:nvPr/>
        </p:nvSpPr>
        <p:spPr>
          <a:xfrm>
            <a:off x="4321476" y="2329571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5" name="State 25"/>
          <p:cNvSpPr/>
          <p:nvPr/>
        </p:nvSpPr>
        <p:spPr>
          <a:xfrm>
            <a:off x="4321476" y="2465285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6" name="State 26"/>
          <p:cNvSpPr/>
          <p:nvPr/>
        </p:nvSpPr>
        <p:spPr>
          <a:xfrm>
            <a:off x="4321476" y="2601000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7" name="State 27"/>
          <p:cNvSpPr/>
          <p:nvPr/>
        </p:nvSpPr>
        <p:spPr>
          <a:xfrm>
            <a:off x="4321476" y="2736714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8" name="State 28"/>
          <p:cNvSpPr/>
          <p:nvPr/>
        </p:nvSpPr>
        <p:spPr>
          <a:xfrm>
            <a:off x="4321476" y="2872428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9" name="State 29"/>
          <p:cNvSpPr/>
          <p:nvPr/>
        </p:nvSpPr>
        <p:spPr>
          <a:xfrm>
            <a:off x="4531000" y="2329571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State 30"/>
          <p:cNvSpPr/>
          <p:nvPr/>
        </p:nvSpPr>
        <p:spPr>
          <a:xfrm>
            <a:off x="4531000" y="2465285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1" name="State 31"/>
          <p:cNvSpPr/>
          <p:nvPr/>
        </p:nvSpPr>
        <p:spPr>
          <a:xfrm>
            <a:off x="4531000" y="2601000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2" name="State 32"/>
          <p:cNvSpPr/>
          <p:nvPr/>
        </p:nvSpPr>
        <p:spPr>
          <a:xfrm>
            <a:off x="4531000" y="2736714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3" name="State 33"/>
          <p:cNvSpPr/>
          <p:nvPr/>
        </p:nvSpPr>
        <p:spPr>
          <a:xfrm>
            <a:off x="4531000" y="2872428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4" name="State 34"/>
          <p:cNvSpPr/>
          <p:nvPr/>
        </p:nvSpPr>
        <p:spPr>
          <a:xfrm>
            <a:off x="4740523" y="2329571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5" name="State 35"/>
          <p:cNvSpPr/>
          <p:nvPr/>
        </p:nvSpPr>
        <p:spPr>
          <a:xfrm>
            <a:off x="4740523" y="2465285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6" name="State 36"/>
          <p:cNvSpPr/>
          <p:nvPr/>
        </p:nvSpPr>
        <p:spPr>
          <a:xfrm>
            <a:off x="4740523" y="2601000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7" name="State 37"/>
          <p:cNvSpPr/>
          <p:nvPr/>
        </p:nvSpPr>
        <p:spPr>
          <a:xfrm>
            <a:off x="4740523" y="2736714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8" name="State 38"/>
          <p:cNvSpPr/>
          <p:nvPr/>
        </p:nvSpPr>
        <p:spPr>
          <a:xfrm>
            <a:off x="4740523" y="2872428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9" name="State 39"/>
          <p:cNvSpPr/>
          <p:nvPr/>
        </p:nvSpPr>
        <p:spPr>
          <a:xfrm>
            <a:off x="4950047" y="2465285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0" name="State 40"/>
          <p:cNvSpPr/>
          <p:nvPr/>
        </p:nvSpPr>
        <p:spPr>
          <a:xfrm>
            <a:off x="4950047" y="2601000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1" name="State 41"/>
          <p:cNvSpPr/>
          <p:nvPr/>
        </p:nvSpPr>
        <p:spPr>
          <a:xfrm>
            <a:off x="4950047" y="2736714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2" name="State 42"/>
          <p:cNvSpPr/>
          <p:nvPr/>
        </p:nvSpPr>
        <p:spPr>
          <a:xfrm>
            <a:off x="5159571" y="2601000"/>
            <a:ext cx="78000" cy="780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3" name="TextBox 43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힘을 준다</a:t>
            </a:r>
          </a:p>
        </p:txBody>
      </p:sp>
      <p:sp>
        <p:nvSpPr>
          <p:cNvPr id="44" name="Panel 44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5" name="TextBox 45"/>
          <p:cNvSpPr txBox="1"/>
          <p:nvPr/>
        </p:nvSpPr>
        <p:spPr>
          <a:xfrm>
            <a:off x="6207000" y="1805000"/>
            <a:ext cx="2513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응답을 본다</a:t>
            </a:r>
          </a:p>
        </p:txBody>
      </p:sp>
      <p:sp>
        <p:nvSpPr>
          <p:cNvPr id="46" name="Valley 46"/>
          <p:cNvSpPr/>
          <p:nvPr/>
        </p:nvSpPr>
        <p:spPr>
          <a:xfrm>
            <a:off x="6583500" y="2260000"/>
            <a:ext cx="1760000" cy="760000"/>
          </a:xfrm>
          <a:prstGeom prst="ellipse">
            <a:avLst/>
          </a:prstGeom>
          <a:solidFill>
            <a:srgbClr val="EEF3FA"/>
          </a:solidFill>
          <a:ln w="1905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47" name="Connector 47"/>
          <p:cNvCxnSpPr/>
          <p:nvPr/>
        </p:nvCxnSpPr>
        <p:spPr>
          <a:xfrm>
            <a:off x="7463500" y="2640000"/>
            <a:ext cx="185000" cy="0"/>
          </a:xfrm>
          <a:prstGeom prst="straightConnector1">
            <a:avLst/>
          </a:prstGeom>
          <a:ln w="28575" cap="rnd">
            <a:solidFill>
              <a:srgbClr val="C00000"/>
            </a:solidFill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>
            <a:off x="7463500" y="2640000"/>
            <a:ext cx="0" cy="700000"/>
          </a:xfrm>
          <a:prstGeom prst="straightConnector1">
            <a:avLst/>
          </a:prstGeom>
          <a:ln w="28575" cap="rnd">
            <a:solidFill>
              <a:srgbClr val="C00000"/>
            </a:solidFill>
            <a:tailEnd type="triangle" w="med" len="med"/>
          </a:ln>
        </p:spPr>
      </p:cxnSp>
      <p:sp>
        <p:nvSpPr>
          <p:cNvPr id="49" name="TextBox 49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긴 쪽이 무거운 </a:t>
            </a:r>
            <a:r>
              <a:rPr sz="13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0.98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짧은 쪽이 가벼운 </a:t>
            </a:r>
            <a:r>
              <a:rPr sz="1300" b="0" i="1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</a:t>
            </a:r>
            <a:r>
              <a:rPr sz="1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= 0.19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 공간 부피 = 반축의 곱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기하평균으로 모인다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같은 힘에 가벼운 쪽으로 더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조화평균으로 모인다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유효질량은 밴드의 곡률이라 원래 텐서다 — 스칼라 </a:t>
            </a: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m*</a:t>
            </a: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은 한 가지 물리량에 맞춘 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밴드 곡률이 방향마다 달라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m*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은 원래 텐서다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스칼라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m*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은 한 물리량에 맞춰 줄인 값이다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묻는 물리량이 다르면 줄이는 방법도 달라진다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A17. 세는 문제는 부피다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자리의 개수 — 곱으로 모여 기하평균이 된다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등에너지면은 타원체다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반축의 길이가 √m 에 비례 — 방향마다 다르다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223159"/>
            <a:ext cx="4552400" cy="5472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5957787" y="233175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반축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부피는 세 반축의 곱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곱이라서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기하평균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으로 모인다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99217"/>
            <a:ext cx="5200000" cy="385642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605387" y="4127038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한 계곡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계곡 6 개는 자리가 6 배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∝ (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m*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이라 질량에는 6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2/3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붙는다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785308"/>
            <a:ext cx="5200000" cy="414051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6605387" y="5827333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상태밀도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A17. 움직이는 문제는 응답이다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힘에 대한 응답 — 역수로 모여 조화평균이 된다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가속은 성분별로 일어난다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들어오는 것은 질량이 아니라 그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역수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299159"/>
            <a:ext cx="3129300" cy="4712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4534687" y="236975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역수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세 축의 1/m 을 평균한다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계곡 6 개가 합쳐지면 입방 대칭이 회복된다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13659"/>
            <a:ext cx="4197100" cy="4712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5602487" y="408425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조화평균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계곡 수는 질량에 안 들어간다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이미 n 에 들어 있다 — 또 곱하면 이중 계산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604659"/>
            <a:ext cx="4229400" cy="5947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5634787" y="57370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 에 있음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A17. 어느 쪽을 쓰나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Si · 300 K · 단위는 자유전자 질량 m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10" name="HeaderBand 10"/>
          <p:cNvSpPr/>
          <p:nvPr/>
        </p:nvSpPr>
        <p:spPr>
          <a:xfrm>
            <a:off x="457200" y="1207008"/>
            <a:ext cx="8229600" cy="520385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640080" y="1314674"/>
            <a:ext cx="292608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묻는 것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57600" y="1314674"/>
            <a:ext cx="182880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쓰는 질량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7840" y="1314674"/>
            <a:ext cx="155448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Si 전자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223760" y="1314674"/>
            <a:ext cx="137160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Si 정공</a:t>
            </a:r>
          </a:p>
        </p:txBody>
      </p:sp>
      <p:sp>
        <p:nvSpPr>
          <p:cNvPr id="15" name="RowBand 15"/>
          <p:cNvSpPr/>
          <p:nvPr/>
        </p:nvSpPr>
        <p:spPr>
          <a:xfrm>
            <a:off x="457200" y="1781226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RowBand 16"/>
          <p:cNvSpPr/>
          <p:nvPr/>
        </p:nvSpPr>
        <p:spPr>
          <a:xfrm>
            <a:off x="457200" y="3037328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TextBox 17"/>
          <p:cNvSpPr txBox="1"/>
          <p:nvPr/>
        </p:nvSpPr>
        <p:spPr>
          <a:xfrm>
            <a:off x="640080" y="1915808"/>
            <a:ext cx="29260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57600" y="1915808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577840" y="1915808"/>
            <a:ext cx="15544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1.08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223760" y="1915808"/>
            <a:ext cx="13716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0.81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2543859"/>
            <a:ext cx="29260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· σ · ρ ·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t̄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657600" y="2543859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577840" y="2543859"/>
            <a:ext cx="15544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0.26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223760" y="2543859"/>
            <a:ext cx="13716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0.386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40080" y="3171910"/>
            <a:ext cx="29260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사이클로트론 공명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657600" y="3171910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사이클로트론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577840" y="3171910"/>
            <a:ext cx="15544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0.19~0.43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223760" y="3171910"/>
            <a:ext cx="13716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7200" y="3844822"/>
            <a:ext cx="8229600" cy="920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정공은 두 밴드 — 자리를 더하면 상태밀도, 전류를 더하면 전도도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 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0.98 (긴축), 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0.19 (짧은축)</a:t>
            </a:r>
          </a:p>
        </p:txBody>
      </p:sp>
      <p:sp>
        <p:nvSpPr>
          <p:cNvPr id="30" name="Callout 30"/>
          <p:cNvSpPr/>
          <p:nvPr/>
        </p:nvSpPr>
        <p:spPr>
          <a:xfrm>
            <a:off x="457200" y="4837217"/>
            <a:ext cx="8229600" cy="14721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바꿔 쓰면 자릿수가 틀어진다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 t̄ /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m*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1.08 을 넣으면 이동도가 4.2 배 작게,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0.26 을 넣으면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8.5 배 작게 나온다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Verdana"/>
        <a:ea typeface="メイリオ"/>
        <a:cs typeface=""/>
      </a:majorFont>
      <a:minorFont>
        <a:latin typeface="Verdana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400"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35021</TotalTime>
  <Words>674</Words>
  <Application>Microsoft Office PowerPoint</Application>
  <PresentationFormat>화면 슬라이드 쇼(4:3)</PresentationFormat>
  <Paragraphs>255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HY견고딕</vt:lpstr>
      <vt:lpstr>ＭＳ Ｐゴシック</vt:lpstr>
      <vt:lpstr>Yu Gothic</vt:lpstr>
      <vt:lpstr>Yu Mincho</vt:lpstr>
      <vt:lpstr>돋움</vt:lpstr>
      <vt:lpstr>맑은 고딕 Semilight</vt:lpstr>
      <vt:lpstr>Arial</vt:lpstr>
      <vt:lpstr>Calibri</vt:lpstr>
      <vt:lpstr>Verdana</vt:lpstr>
      <vt:lpstr>Wingdings</vt:lpstr>
      <vt:lpstr>Office テーマ</vt:lpstr>
      <vt:lpstr>PowerPoint 프레젠테이션</vt:lpstr>
      <vt:lpstr>담당 교수</vt:lpstr>
      <vt:lpstr>강의 정보</vt:lpstr>
      <vt:lpstr>평가 및 과제 정보</vt:lpstr>
      <vt:lpstr>주차 별 강의 계획</vt:lpstr>
      <vt:lpstr>주차 별 강의 계획</vt:lpstr>
      <vt:lpstr>기타 정보</vt:lpstr>
      <vt:lpstr>PowerPoint 프레젠테이션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Lee</dc:creator>
  <cp:lastModifiedBy>Sang_yeop Lee</cp:lastModifiedBy>
  <cp:revision>2481</cp:revision>
  <cp:lastPrinted>2026-01-05T02:52:01Z</cp:lastPrinted>
  <dcterms:created xsi:type="dcterms:W3CDTF">2017-12-10T06:56:12Z</dcterms:created>
  <dcterms:modified xsi:type="dcterms:W3CDTF">2026-03-03T07:07:09Z</dcterms:modified>
</cp:coreProperties>
</file>