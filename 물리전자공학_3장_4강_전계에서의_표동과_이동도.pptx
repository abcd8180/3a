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1" r:id="rId1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  <p:sldId id="259" r:id="rId6"/>
    <p:sldId id="260" r:id="rId5"/>
    <p:sldId id="261" r:id="rId4"/>
    <p:sldId id="262" r:id="rId3"/>
    <p:sldId id="263" r:id="rId2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318" r:id="rId72"/>
    <p:sldId id="319" r:id="rId73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</p:sldIdLst>
  <p:sldSz cx="9144000" cy="6858000" type="screen4x3"/>
  <p:notesSz cx="6735763" cy="9866313"/>
  <p:defaultTextStyle>
    <a:defPPr>
      <a:defRPr lang="ja-JP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5B94"/>
    <a:srgbClr val="203864"/>
    <a:srgbClr val="987D1C"/>
    <a:srgbClr val="C00000"/>
    <a:srgbClr val="FFFFCC"/>
    <a:srgbClr val="E3C867"/>
    <a:srgbClr val="943900"/>
    <a:srgbClr val="644C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6BEF38-D529-407E-B3AD-B42BCED6C6A2}" v="40" dt="2026-03-02T07:36:02.5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スタイル (中間)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E8034E78-7F5D-4C2E-B375-FC64B27BC917}" styleName="スタイル (濃色)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スタイル (濃色)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2838BEF-8BB2-4498-84A7-C5851F593DF1}" styleName="中間スタイル 4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851" autoAdjust="0"/>
    <p:restoredTop sz="94312" autoAdjust="0"/>
  </p:normalViewPr>
  <p:slideViewPr>
    <p:cSldViewPr>
      <p:cViewPr varScale="1">
        <p:scale>
          <a:sx n="151" d="100"/>
          <a:sy n="151" d="100"/>
        </p:scale>
        <p:origin x="1992" y="3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49" d="100"/>
          <a:sy n="49" d="100"/>
        </p:scale>
        <p:origin x="2756" y="5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8.xml"/><Relationship Id="rId3" Type="http://schemas.openxmlformats.org/officeDocument/2006/relationships/slide" Target="slides/slide7.xml"/><Relationship Id="rId4" Type="http://schemas.openxmlformats.org/officeDocument/2006/relationships/slide" Target="slides/slide6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  <Relationship Id="rId72" Type="http://schemas.openxmlformats.org/officeDocument/2006/relationships/slide" Target="slides/slide63.xml"/>
  <Relationship Id="rId73" Type="http://schemas.openxmlformats.org/officeDocument/2006/relationships/slide" Target="slides/slide64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g_yeop Lee" userId="394f17e693450fa8" providerId="LiveId" clId="{23681903-A90C-4420-A205-EE8C1D406859}"/>
    <pc:docChg chg="undo custSel addSld modSld">
      <pc:chgData name="Sang_yeop Lee" userId="394f17e693450fa8" providerId="LiveId" clId="{23681903-A90C-4420-A205-EE8C1D406859}" dt="2026-03-02T07:36:04.686" v="352" actId="20577"/>
      <pc:docMkLst>
        <pc:docMk/>
      </pc:docMkLst>
      <pc:sldChg chg="modSp mod">
        <pc:chgData name="Sang_yeop Lee" userId="394f17e693450fa8" providerId="LiveId" clId="{23681903-A90C-4420-A205-EE8C1D406859}" dt="2026-03-02T07:36:04.686" v="352" actId="20577"/>
        <pc:sldMkLst>
          <pc:docMk/>
          <pc:sldMk cId="0" sldId="460"/>
        </pc:sldMkLst>
        <pc:spChg chg="mod">
          <ac:chgData name="Sang_yeop Lee" userId="394f17e693450fa8" providerId="LiveId" clId="{23681903-A90C-4420-A205-EE8C1D406859}" dt="2026-03-02T07:36:04.686" v="352" actId="20577"/>
          <ac:spMkLst>
            <pc:docMk/>
            <pc:sldMk cId="0" sldId="460"/>
            <ac:spMk id="6146" creationId="{2FD41A2B-9A73-4E9D-9F8B-2A97637523B2}"/>
          </ac:spMkLst>
        </pc:spChg>
      </pc:sldChg>
      <pc:sldChg chg="addSp delSp modSp mod">
        <pc:chgData name="Sang_yeop Lee" userId="394f17e693450fa8" providerId="LiveId" clId="{23681903-A90C-4420-A205-EE8C1D406859}" dt="2026-03-02T07:27:50.659" v="295" actId="1038"/>
        <pc:sldMkLst>
          <pc:docMk/>
          <pc:sldMk cId="3144068361" sldId="1805"/>
        </pc:sldMkLst>
        <pc:spChg chg="mod">
          <ac:chgData name="Sang_yeop Lee" userId="394f17e693450fa8" providerId="LiveId" clId="{23681903-A90C-4420-A205-EE8C1D406859}" dt="2026-03-02T07:27:45.282" v="282" actId="20577"/>
          <ac:spMkLst>
            <pc:docMk/>
            <pc:sldMk cId="3144068361" sldId="1805"/>
            <ac:spMk id="3" creationId="{52EBE5E0-30D7-3E62-5706-3991104B3525}"/>
          </ac:spMkLst>
        </pc:spChg>
        <pc:picChg chg="del">
          <ac:chgData name="Sang_yeop Lee" userId="394f17e693450fa8" providerId="LiveId" clId="{23681903-A90C-4420-A205-EE8C1D406859}" dt="2026-03-02T07:24:02.707" v="141" actId="478"/>
          <ac:picMkLst>
            <pc:docMk/>
            <pc:sldMk cId="3144068361" sldId="1805"/>
            <ac:picMk id="5" creationId="{42E16466-6D46-827E-0CC9-B50E2DC9A11B}"/>
          </ac:picMkLst>
        </pc:picChg>
        <pc:picChg chg="del">
          <ac:chgData name="Sang_yeop Lee" userId="394f17e693450fa8" providerId="LiveId" clId="{23681903-A90C-4420-A205-EE8C1D406859}" dt="2026-03-02T07:23:53.334" v="134" actId="478"/>
          <ac:picMkLst>
            <pc:docMk/>
            <pc:sldMk cId="3144068361" sldId="1805"/>
            <ac:picMk id="9" creationId="{714E5252-5D14-ED21-2693-F66D20F2B5C9}"/>
          </ac:picMkLst>
        </pc:picChg>
        <pc:picChg chg="add mod">
          <ac:chgData name="Sang_yeop Lee" userId="394f17e693450fa8" providerId="LiveId" clId="{23681903-A90C-4420-A205-EE8C1D406859}" dt="2026-03-02T07:27:50.659" v="295" actId="1038"/>
          <ac:picMkLst>
            <pc:docMk/>
            <pc:sldMk cId="3144068361" sldId="1805"/>
            <ac:picMk id="11" creationId="{25F543AB-D274-3CB3-40CB-75A61A5BF39C}"/>
          </ac:picMkLst>
        </pc:picChg>
        <pc:picChg chg="add del mod">
          <ac:chgData name="Sang_yeop Lee" userId="394f17e693450fa8" providerId="LiveId" clId="{23681903-A90C-4420-A205-EE8C1D406859}" dt="2026-03-02T07:24:20.344" v="145" actId="22"/>
          <ac:picMkLst>
            <pc:docMk/>
            <pc:sldMk cId="3144068361" sldId="1805"/>
            <ac:picMk id="13" creationId="{799D61D2-82E0-136D-87D6-3DCBF8F0959A}"/>
          </ac:picMkLst>
        </pc:picChg>
        <pc:picChg chg="add mod">
          <ac:chgData name="Sang_yeop Lee" userId="394f17e693450fa8" providerId="LiveId" clId="{23681903-A90C-4420-A205-EE8C1D406859}" dt="2026-03-02T07:27:50.659" v="295" actId="1038"/>
          <ac:picMkLst>
            <pc:docMk/>
            <pc:sldMk cId="3144068361" sldId="1805"/>
            <ac:picMk id="15" creationId="{6EE1F8C5-66F4-946A-A9C7-AE89604A1756}"/>
          </ac:picMkLst>
        </pc:picChg>
      </pc:sldChg>
      <pc:sldChg chg="modSp mod">
        <pc:chgData name="Sang_yeop Lee" userId="394f17e693450fa8" providerId="LiveId" clId="{23681903-A90C-4420-A205-EE8C1D406859}" dt="2026-03-02T07:30:32.237" v="341" actId="20577"/>
        <pc:sldMkLst>
          <pc:docMk/>
          <pc:sldMk cId="493901075" sldId="1806"/>
        </pc:sldMkLst>
        <pc:spChg chg="mod">
          <ac:chgData name="Sang_yeop Lee" userId="394f17e693450fa8" providerId="LiveId" clId="{23681903-A90C-4420-A205-EE8C1D406859}" dt="2026-03-02T07:30:32.237" v="341" actId="20577"/>
          <ac:spMkLst>
            <pc:docMk/>
            <pc:sldMk cId="493901075" sldId="1806"/>
            <ac:spMk id="3" creationId="{458966CF-632F-7D43-B792-DF41D238E673}"/>
          </ac:spMkLst>
        </pc:spChg>
        <pc:graphicFrameChg chg="modGraphic">
          <ac:chgData name="Sang_yeop Lee" userId="394f17e693450fa8" providerId="LiveId" clId="{23681903-A90C-4420-A205-EE8C1D406859}" dt="2026-03-02T07:27:01.851" v="240" actId="20577"/>
          <ac:graphicFrameMkLst>
            <pc:docMk/>
            <pc:sldMk cId="493901075" sldId="1806"/>
            <ac:graphicFrameMk id="4" creationId="{991267E6-0D8F-B28E-62B0-3BAA7D029C4F}"/>
          </ac:graphicFrameMkLst>
        </pc:graphicFrameChg>
      </pc:sldChg>
      <pc:sldChg chg="addSp delSp modSp mod">
        <pc:chgData name="Sang_yeop Lee" userId="394f17e693450fa8" providerId="LiveId" clId="{23681903-A90C-4420-A205-EE8C1D406859}" dt="2026-03-02T07:32:19.718" v="343" actId="22"/>
        <pc:sldMkLst>
          <pc:docMk/>
          <pc:sldMk cId="600804426" sldId="1807"/>
        </pc:sldMkLst>
        <pc:spChg chg="add del">
          <ac:chgData name="Sang_yeop Lee" userId="394f17e693450fa8" providerId="LiveId" clId="{23681903-A90C-4420-A205-EE8C1D406859}" dt="2026-03-02T07:32:19.718" v="343" actId="22"/>
          <ac:spMkLst>
            <pc:docMk/>
            <pc:sldMk cId="600804426" sldId="1807"/>
            <ac:spMk id="5" creationId="{8F1E75B1-9BC7-96C7-37D0-A2B043A20D53}"/>
          </ac:spMkLst>
        </pc:spChg>
        <pc:graphicFrameChg chg="mod">
          <ac:chgData name="Sang_yeop Lee" userId="394f17e693450fa8" providerId="LiveId" clId="{23681903-A90C-4420-A205-EE8C1D406859}" dt="2026-03-02T07:28:49.642" v="310" actId="1035"/>
          <ac:graphicFrameMkLst>
            <pc:docMk/>
            <pc:sldMk cId="600804426" sldId="1807"/>
            <ac:graphicFrameMk id="4" creationId="{17EF1142-3585-EE39-707F-C3E83FFF0BD9}"/>
          </ac:graphicFrameMkLst>
        </pc:graphicFrameChg>
      </pc:sldChg>
      <pc:sldChg chg="modSp mod">
        <pc:chgData name="Sang_yeop Lee" userId="394f17e693450fa8" providerId="LiveId" clId="{23681903-A90C-4420-A205-EE8C1D406859}" dt="2026-03-02T07:26:15.729" v="223" actId="20577"/>
        <pc:sldMkLst>
          <pc:docMk/>
          <pc:sldMk cId="202650841" sldId="1809"/>
        </pc:sldMkLst>
        <pc:spChg chg="mod">
          <ac:chgData name="Sang_yeop Lee" userId="394f17e693450fa8" providerId="LiveId" clId="{23681903-A90C-4420-A205-EE8C1D406859}" dt="2026-03-02T07:26:15.729" v="223" actId="20577"/>
          <ac:spMkLst>
            <pc:docMk/>
            <pc:sldMk cId="202650841" sldId="1809"/>
            <ac:spMk id="3" creationId="{7241F45C-C3B0-6ACC-A325-16131174FDD7}"/>
          </ac:spMkLst>
        </pc:spChg>
      </pc:sldChg>
      <pc:sldChg chg="addSp modSp add mod">
        <pc:chgData name="Sang_yeop Lee" userId="394f17e693450fa8" providerId="LiveId" clId="{23681903-A90C-4420-A205-EE8C1D406859}" dt="2026-03-02T07:32:55.801" v="350" actId="1076"/>
        <pc:sldMkLst>
          <pc:docMk/>
          <pc:sldMk cId="1158565504" sldId="1810"/>
        </pc:sldMkLst>
        <pc:spChg chg="add mod">
          <ac:chgData name="Sang_yeop Lee" userId="394f17e693450fa8" providerId="LiveId" clId="{23681903-A90C-4420-A205-EE8C1D406859}" dt="2026-03-02T07:32:36.042" v="346" actId="1076"/>
          <ac:spMkLst>
            <pc:docMk/>
            <pc:sldMk cId="1158565504" sldId="1810"/>
            <ac:spMk id="3" creationId="{62A46FFF-0991-46E9-EB8F-C18FA6A25DB8}"/>
          </ac:spMkLst>
        </pc:spChg>
        <pc:spChg chg="add mod">
          <ac:chgData name="Sang_yeop Lee" userId="394f17e693450fa8" providerId="LiveId" clId="{23681903-A90C-4420-A205-EE8C1D406859}" dt="2026-03-02T07:32:36.042" v="346" actId="1076"/>
          <ac:spMkLst>
            <pc:docMk/>
            <pc:sldMk cId="1158565504" sldId="1810"/>
            <ac:spMk id="5" creationId="{55BB2BDA-D322-2F66-C07E-EBFDAE90EB25}"/>
          </ac:spMkLst>
        </pc:spChg>
        <pc:spChg chg="add mod">
          <ac:chgData name="Sang_yeop Lee" userId="394f17e693450fa8" providerId="LiveId" clId="{23681903-A90C-4420-A205-EE8C1D406859}" dt="2026-03-02T07:32:43.668" v="348" actId="1076"/>
          <ac:spMkLst>
            <pc:docMk/>
            <pc:sldMk cId="1158565504" sldId="1810"/>
            <ac:spMk id="6" creationId="{C7EB9021-CE4B-6C90-4B00-F7BC521F94EF}"/>
          </ac:spMkLst>
        </pc:spChg>
        <pc:spChg chg="add mod">
          <ac:chgData name="Sang_yeop Lee" userId="394f17e693450fa8" providerId="LiveId" clId="{23681903-A90C-4420-A205-EE8C1D406859}" dt="2026-03-02T07:32:43.668" v="348" actId="1076"/>
          <ac:spMkLst>
            <pc:docMk/>
            <pc:sldMk cId="1158565504" sldId="1810"/>
            <ac:spMk id="7" creationId="{689B90B0-BB36-929F-039C-E168DB014457}"/>
          </ac:spMkLst>
        </pc:spChg>
        <pc:spChg chg="add mod">
          <ac:chgData name="Sang_yeop Lee" userId="394f17e693450fa8" providerId="LiveId" clId="{23681903-A90C-4420-A205-EE8C1D406859}" dt="2026-03-02T07:32:55.801" v="350" actId="1076"/>
          <ac:spMkLst>
            <pc:docMk/>
            <pc:sldMk cId="1158565504" sldId="1810"/>
            <ac:spMk id="8" creationId="{2436AFF9-B783-115D-DBDA-5CA13410D203}"/>
          </ac:spMkLst>
        </pc:spChg>
        <pc:spChg chg="add mod">
          <ac:chgData name="Sang_yeop Lee" userId="394f17e693450fa8" providerId="LiveId" clId="{23681903-A90C-4420-A205-EE8C1D406859}" dt="2026-03-02T07:32:55.801" v="350" actId="1076"/>
          <ac:spMkLst>
            <pc:docMk/>
            <pc:sldMk cId="1158565504" sldId="1810"/>
            <ac:spMk id="9" creationId="{19933CEB-3852-5A48-4945-31E1F360F2B7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943236F7-4664-455E-BC07-0CDCE215548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5300"/>
          </a:xfrm>
          <a:prstGeom prst="rect">
            <a:avLst/>
          </a:prstGeom>
        </p:spPr>
        <p:txBody>
          <a:bodyPr vert="horz" lIns="90644" tIns="45322" rIns="90644" bIns="45322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431DEB9-9004-426F-A335-67E0A3C1849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6350" y="0"/>
            <a:ext cx="2917825" cy="495300"/>
          </a:xfrm>
          <a:prstGeom prst="rect">
            <a:avLst/>
          </a:prstGeom>
        </p:spPr>
        <p:txBody>
          <a:bodyPr vert="horz" lIns="90644" tIns="45322" rIns="90644" bIns="45322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EE9C24FB-D0E1-477A-919D-465B8B628DFD}" type="datetimeFigureOut">
              <a:rPr lang="ja-JP" altLang="en-US"/>
              <a:pPr>
                <a:defRPr/>
              </a:pPr>
              <a:t>2026/3/3</a:t>
            </a:fld>
            <a:endParaRPr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95136CF-7728-43A0-B27C-D0DDF271B7E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5300"/>
          </a:xfrm>
          <a:prstGeom prst="rect">
            <a:avLst/>
          </a:prstGeom>
        </p:spPr>
        <p:txBody>
          <a:bodyPr vert="horz" lIns="90644" tIns="45322" rIns="90644" bIns="45322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9A165A7-74BC-48CC-80C3-CE94A50EC5B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6350" y="9371013"/>
            <a:ext cx="2917825" cy="495300"/>
          </a:xfrm>
          <a:prstGeom prst="rect">
            <a:avLst/>
          </a:prstGeom>
        </p:spPr>
        <p:txBody>
          <a:bodyPr vert="horz" lIns="90644" tIns="45322" rIns="90644" bIns="45322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94FCE010-7189-4AB6-860B-AC912DAA42E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89B411FF-44D7-4F30-B6C9-6D73587B0A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5300"/>
          </a:xfrm>
          <a:prstGeom prst="rect">
            <a:avLst/>
          </a:prstGeom>
        </p:spPr>
        <p:txBody>
          <a:bodyPr vert="horz" lIns="91427" tIns="45714" rIns="91427" bIns="45714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A67D5FF-B4C2-4B88-A72C-6759EE7CE2EC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14763" y="0"/>
            <a:ext cx="2919412" cy="495300"/>
          </a:xfrm>
          <a:prstGeom prst="rect">
            <a:avLst/>
          </a:prstGeom>
        </p:spPr>
        <p:txBody>
          <a:bodyPr vert="horz" lIns="91427" tIns="45714" rIns="91427" bIns="45714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fld id="{ED38E453-D9C6-41F5-97FE-17581C5E367F}" type="datetimeFigureOut">
              <a:rPr lang="ja-JP" altLang="en-US"/>
              <a:pPr>
                <a:defRPr/>
              </a:pPr>
              <a:t>2026/3/3</a:t>
            </a:fld>
            <a:endParaRPr lang="ja-JP" altLang="en-US"/>
          </a:p>
        </p:txBody>
      </p:sp>
      <p:sp>
        <p:nvSpPr>
          <p:cNvPr id="4" name="スライド イメージ プレースホルダー 3">
            <a:extLst>
              <a:ext uri="{FF2B5EF4-FFF2-40B4-BE49-F238E27FC236}">
                <a16:creationId xmlns:a16="http://schemas.microsoft.com/office/drawing/2014/main" id="{8B7C5BA1-14B7-43BA-BF4B-15E2054014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7763" y="1233488"/>
            <a:ext cx="4440237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7" tIns="45714" rIns="91427" bIns="45714" rtlCol="0" anchor="ctr"/>
          <a:lstStyle/>
          <a:p>
            <a:pPr lvl="0"/>
            <a:endParaRPr lang="ja-JP" altLang="en-US" noProof="0"/>
          </a:p>
        </p:txBody>
      </p:sp>
      <p:sp>
        <p:nvSpPr>
          <p:cNvPr id="5" name="ノート プレースホルダー 4">
            <a:extLst>
              <a:ext uri="{FF2B5EF4-FFF2-40B4-BE49-F238E27FC236}">
                <a16:creationId xmlns:a16="http://schemas.microsoft.com/office/drawing/2014/main" id="{77060ABE-4850-42E2-8D6F-8D9B7C8F04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3100" y="4748213"/>
            <a:ext cx="5389563" cy="3884612"/>
          </a:xfrm>
          <a:prstGeom prst="rect">
            <a:avLst/>
          </a:prstGeom>
        </p:spPr>
        <p:txBody>
          <a:bodyPr vert="horz" lIns="91427" tIns="45714" rIns="91427" bIns="45714" rtlCol="0"/>
          <a:lstStyle/>
          <a:p>
            <a:pPr lvl="0"/>
            <a:r>
              <a:rPr lang="ja-JP" altLang="en-US" noProof="0"/>
              <a:t>マスター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 dirty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 dirty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 dirty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 dirty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23B6BFF-7ECE-45F5-9909-D2E7233D130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9371013"/>
            <a:ext cx="2919413" cy="495300"/>
          </a:xfrm>
          <a:prstGeom prst="rect">
            <a:avLst/>
          </a:prstGeom>
        </p:spPr>
        <p:txBody>
          <a:bodyPr vert="horz" lIns="91427" tIns="45714" rIns="91427" bIns="45714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264B258-E4FB-4D80-9067-3D4335CE33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14763" y="9371013"/>
            <a:ext cx="2919412" cy="495300"/>
          </a:xfrm>
          <a:prstGeom prst="rect">
            <a:avLst/>
          </a:prstGeom>
        </p:spPr>
        <p:txBody>
          <a:bodyPr vert="horz" lIns="91427" tIns="45714" rIns="91427" bIns="45714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fld id="{7D1A5431-0282-471B-8CD3-3E8084B05B2A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3장의 마지막 시간이며, 5장 pn 접합으로 넘어가는 다리이기도 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'수 × 잘 움직임 = 전류' 라는 구조를 먼저 말해 둘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J 는 모양과 무관하게 물질의 성질만으로 정해지는 양이다.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이 그림이 제5장 pn 접합 대역도를 읽는 바탕이 된다. 교재 그림 3-9 는 전자가 기운 E_c 를 따라가며 산란으로 운동에너지를 계단처럼 잃는 모습을 그린다 — 점선만큼(전체 에너지 일정) 가속하다가 충돌하면 E_c 까지 떨어지고, 잃은 에너지는 격자(포논)로 간다. 산란이 없다면 2 강 예제 3-1(42번)처럼 운동에너지가 3 → 7 eV 로 계속 늘겠지만(결정에서는 결국 블로흐 진동, 2 강 69번), 실제 결정에서는 약 0.2 ps 마다 산란이 일어나 평균 속도가 일정해진다 — 오늘 첫 물음의 답. 정공은 에너지 축이 반대라 위로 떠오른다(전계 방향으로 표동).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표동속도는 열운동 속도보다 훨씬 작다는 점을 강조할 것. 숫자로 — Si 전자는 100 V/cm 에서 μ_n𝓔 = 1350 × 100 = 1.35×10^5 cm/s 로 열운동 속도 2.3×10^7 의 170 분의 1 이고, 1 V/cm 이면 1350 cm/s 뿐이다. 전계를 올리면 10^3 ~ 10^4 V/cm 부터 μ𝓔 에서 벗어나기 시작해 10^5 V/cm 쯤에는 광학 포논 방출 때문에 전자 약 1×10^7, 정공 약 0.8×10^7 cm/s 로 포화한다(PART 4 「강전계에서는 속도가 멈춘다」) — 포화속도조차 열운동 속도의 절반 이하다. 0.1 μm 에 1 V 면 10^5 V/cm 이라 오늘날 소자는 늘 포화 영역에서 동작한다. 가속과 충돌을 되풀이하는 이 그림을 드루드(Drude) 모형이라 부른다. 전하가 움직이는 까닭은 셋 — 열운동(원인 열, 방향 무작위, 알짜 흐름 없음), 표동(원인 전계, 오늘의 주제), 확산(원인 농도 차, 4 장). 산란이 없다면 전자는 블로흐 진동을 하겠지만 그 주기가 t̄ 보다 훨씬 길어 실제로는 보이지 않는다(2 강 69번, 부록 A5 노트). 그림의 붉은 경로는 전자라서 전계 𝓔(오른쪽)와 반대인 왼쪽으로 치우친다(v_x = −μ_n 𝓔_x, 교재 그림 3-20b). 정공이라면 전계 방향으로 치우친다. 열운동 속도는 (1/2)m*v^2 = (3/2)kT 에서 √(3kT/m*) — m* = 0.26 m_0 이면 2.3×10^7 cm/s 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'한없이 가속되지 않는 까닭' 이 오늘 첫 물음의 답이다. p_x 는 한 전자의 운동량이 아니라 1 cm^3 속 전자 n 개의 운동량을 모두 더한 것이다 — 그래서 전계 항에 n 이 붙는다(−nq𝓔_x). 충돌은 시간 dt 동안 전자 가운데 dt/t̄ 의 몫을 무작위 방향으로 흩어 그 몫의 x 방향 운동량을 없애므로, 운동량이 p_x/t̄ 의 빠르기로 줄어든다(식 (3-30)~(3-33), 부록 A3). 두 몫의 합이 0 인 정상상태에서 p_x = −nqt̄𝓔_x 이고, 전자 하나로 나누면 ⟨p_x⟩ = −qt̄𝓔_x(식 3-35), 유효질량으로 나누면 식 (3-36). 2 강 65번의 d(m*v)/dt = F_ext 에 충돌로 잃는 몫을 더한 셈이다.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앞 장의 그림을 식으로 옮긴 것이다. 기호 둘을 먼저 약속한다 — ⟨ ⟩ 는 전자 하나가 아니라 그 자리의 전자 전체를 평균한 값이고(열운동 때문에 전자 하나의 v_x 는 10^7 cm/s 급으로 제멋대로지만 평균을 내면 전계가 만든 치우침만 남는다), t̄ 는 산란과 산란 사이의 평균 시간(평균 자유시간)으로 Si 전자가 약 0.2 ps 다(부록 A1). p_x 는 한 전자의 운동량이 아니라 1 cm³ 안 전자 n 개의 운동량을 모두 더한 것이라 전계 항에 n 이 붙는다. 충돌 항의 꼴 −p_x/t̄ 가 나오는 과정은 부록 A3 에 있다. 두 몫의 합이 0 인 정상상태가 '한없이 가속되지 않는 까닭' 이고, 전자 하나로 나누면 ⟨p_x⟩ = −q t̄ 𝓔_x(식 (3-35)), 유효질량으로 나누면 식 (3-36) 이다. 2 강 65번의 d(m*v)/dt = F_ext 에 충돌로 잃는 몫을 더한 셈이며, 여기서부터 전류밀도 · 이동도 · 저항이 한 줄로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옴의 법칙이 '가정' 이 아니라 '유도된 결과' 라는 점이 핵심이다.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123쪽. 식 (3-41) 의 음의 부호는 전자가 전계와 반대로 표동하므로 이동도를 양수로 두려는 것이다. 식 (3-42) J_x = q n μ_n 𝓔_x 는 식 (3-39) 의 σ 에 이동도를 넣은 꼴이며, 정공은 n → p, -q → +q, μ_n → μ_p 로 바꾸면 된다. 이동도를 정하는 것은 유효질량 m^{*} 과 평균 자유시간 t̄ 두 가지뿐이다. 2강의 '곡률이 클수록 가볍다' 가 여기서 이동도로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122쪽 예제 3-6. 두 유효질량의 비교 그림은 다음 장, 계산은 그다음 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같은 'Si 의 전자 유효질량' 이 1.1 과 0.26 으로 다른 까닭이다.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122쪽 예제 3-6 풀이를 한 줄씩 따라간 것이다. 1/m^*_n = (1/3)(1/m_x + 1/m_y + 1/m_z) 에서 한 계곡의 세 축 중 하나가 m_l, 둘이 m_t 이고, 여섯 계곡이 x · y · z 방향으로 고르게 놓여 있으므로 한 계곡으로 계산해도 같다. 셈으로 보면 — 전계를 x 로 걸 때 긴 축이 x 인 계곡 2 개는 m_l 로, 긴 축이 y · z 인 계곡 4 개는 m_t 로 반응한다. 전류는 1/m 에 비례하므로 여섯 계곡의 평균은 (2/m_l + 4/m_t)/6 = (1/3)(1/m_l + 2/m_t). 질량이 아니라 역수를 평균하는 것은 '가속의 쉬움(1/m)' 이 더해지는 양이기 때문이다. 상태밀도 유효질량(1.1 m_0, 예제 3-4)과 다른 까닭은 앞 장 그림.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3강에서 미뤄 둔 σ = q(nμ_n + pμ_p) 를 여기서 갚는다. 교재 124쪽 — 접점은 옴(ohmic) 접점이어야 두 캐리어를 모두 공급 · 흡수한다. 정공은 x = L 에서 전자와 재결합해 사라지고, x = 0 에서 EHP(전자-정공쌍, electron-hole pair) 생성으로 다시 공급된다. 4장 · 5장의 접촉과 캐리어 보존으로 이어지는 대목이다.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앞 장 그림의 막대를 식으로. (3-43) 은 전자 전류 (−q)n(−μ_n𝓔) 와 정공 전류 (+q)p(+μ_p𝓔) 를 더한 것이라 두 캐리어가 반대로 움직여도 전류는 같은 방향으로 더해진다. σ 와 ρ 는 물질의 성질이고, 저항 R 은 거기에 길이와 단면이라는 모양이 더해진 값 — 같은 물질이라도 길고 가늘면 크다. 넷째 줄은 J = σ𝓔 (3-39) 가 회로에서 보던 V = IR 과 같은 말임을 확인한 것이다. n 형이면 p 항을, p 형이면 n 항을 버려 σ ≒ qnμ_n, σ ≒ qpμ_p 로 쓴다 — 다음 장의 저항률 계산.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n 과 μ 가 서로 반대로 움직인다는 점을 여기서 처음 말한다. 진성 값은 3 강 예제 3-5 와 같은 n_i = 1.5×10^10 으로 계산했다 (n_i 를 10^10 으로 잡으면 3.4×10^5 Ω·cm). 10^15 은 이동도가 거의 줄지 않는 농도라 1350 을 그대로 쓴다(뒤의 '도핑과 이동도'). 10^17 에서는 불순물산란으로 μ_n 이 700 으로 줄어, 전자를 100 배 넣었는데 ρ 는 4.6 → 0.089 로 약 52 배만 줄어든다.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두 기구가 반대 방향이라 이동도가 어느 온도에서 최대가 된다. 왜 1/μ 가 더해지나 — 산란이 일어날 빈도(단위시간당 확률)는 1/t̄ 이고, 기구가 둘이면 두 빈도가 더해진다: 1/t̄ = 1/t̄_L + 1/t̄_I. 이동도 μ = qt̄/m* 는 t̄ 에 비례하므로 1/μ 가 더해진다 (마티센 규칙, 교재 125쪽). 그래서 더 작은 이동도(더 잦은 산란)가 전체를 정한다. 격자산란의 T^{-3/2} 는 근사다 — Si 전자의 실측은 대략 T^{-2.4}.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두 산란 기구를 그림으로. ① 격자산란(포논산란)은 제자리에서 흔들리는 원자에 전자가 부딪히는 것이다. 온도가 오르면 진동의 진폭이 커져 전자가 지나갈 틈이 좁아지므로 부딪히는 일이 잦아지고 t̄ 가 짧아진다 — μ_L ∝ T^{-3/2}(음향 포논 산란의 근사, Si 전자의 실측은 대략 T^{-2.4}). 알갱이로 세면 포논이고, 그 그림은 2 강 부록 A28 에 있다. ② 불순물산란은 부딪히는 것이 아니라 이온화된 도너 · 억셉터의 쿨롱 힘에 끌려(또는 밀려) 길이 휘는 것이다. 러더퍼드 산란과 같은 꼴이라 전자가 이온 곁에 머무는 시간이 길수록 많이 휜다. 온도가 오르면 열운동 속도 √(3kT/m*) 가 커져 곁을 빨리 스쳐 지나가므로 덜 휘고 t̄ 가 길어진다 — μ_I ∝ T^{3/2}. 또 불순물이 많을수록 휠 기회가 잦으므로 μ_I 는 도핑에 반비례한다(뒤의 「도핑과 이동도」). 그림의 두 곡선은 꺾인 각이 곧 바뀐 운동량이다. 완전히 규칙적인 격자는 전자를 흩뜨리지 않는다(2 강 블로흐 파) — 열로 원자가 제자리에서 어긋난 그 몫이 산란을 일으키므로 온도가 오를수록 잦아진다. 두 곡선은 같은 자리를 지나는 느린 전자와 빠른 전자다. 두 기구의 온도의존이 반대라 앞 장처럼 중간 온도에서 이동도가 가장 커지고, 둘이 함께 있으면 1/μ = 1/μ_L + 1/μ_I 로 더 작은 쪽이 전체를 정한다(식 (3-45), 부록 A15).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125쪽 각주의 포논이라는 이름을 여기서 붙여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10^17 도핑 Si 의 μ_n = 700 이라는 앞의 값이 이 그림에서 나온다.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127~128쪽 — 전계가 세지면 전자가 격자와 열평형을 벗어나 '뜨거워지는' 열전자(hot electron) 효과가 나타나고, 교재는 이 한계가 평균 열적 속도(약 10^7 cm/s)와 같은 자릿수라고 적는다 — 앞의 √(3kT/m*) = 2.3×10^7 과 같은 크기라는 뜻일 뿐, 멈추는 원인은 광학 포논 방출이다(산란제한속도, scattering limited velocity). GaAs 는 강전계에서 전자가 무거운 상층 계곡으로 옮겨 가 속도가 오히려 줄고, 이것이 음성저항 불안정성(10 장)으로 이어진다. 또 다른 강전계효과는 애벌랜치 증식(5.4.2 절)이다. 0.1 μm 소자에 1 V 만 걸어도 10^5 V/cm 라 오늘날 소자는 늘 이 영역에서 동작한다. 그림에서 10^4 V/cm 는 아직 완전 포화 전이고 10^7 은 어림값이다. 얻은 에너지를 격자에 그대로 넘겨 주기 때문에 더 빨라지지 않는다. 곡선을 식 하나로 맞출 때는 Caughey-Thomas 경험식 v_d = μ_0𝓔 / [1 + (μ_0𝓔/v_s)^β]^{1/β} 를 흔히 쓴다(교재 밖). 저전계에서는 v_d = μ_0𝓔(옴의 법칙), 강전계에서는 v_d → v_s(Si 약 10^7 cm/s)이고, Si 에서 β 는 전자 약 2, 정공 약 1 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126쪽 예제 3-7. 두 물음은 시료가 다르다 — (a) 는 도핑 막대, (b) 는 순수 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풀이는 길이를 1 μm 로 보고 𝓔 = 10 V / 10^-4 cm = 10^5 V/cm (포화 영역) 에서 I = qAnv_s = 1.6×10^-19 × 10^-6 × 10^17 × 10^7 = 0.16 A 를 얻는다 — 문제문(0.1 cm)과 풀이(1 μm)가 어긋나는 교재의 오기다. 여기서는 문제문의 0.1 cm 를 그대로 살려 100 V/cm 옴 영역에서 풀었다(μ_n = 700, 그림 3-23). 두 풀이의 차이가 곧 PART 4 의 교훈이다 — 길이가 1000 배 짧아 전계가 1000 배 세지면 옴의 법칙(1.12 A)이 깨지고 속도가 포화해 0.16 A 에 머문다. 진성 이동도 1350 을 그대로 쓰면 2.2 mA 가 나오지만 10^17 도핑이므로 700 이 맞다. 0.1 cm 막대에 1000 V 를 걸면 10^4 V/cm 인데, 완전 포화로 보면 0.16 A 가 상한이고 그림 3-24 대로 읽으면 v 약 6~8×10^6 cm/s 라 I 약 0.09~0.13 A 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0.74 ns 와 10 ps 의 비가 74 다. 옴의 법칙대로라면 10^5 V/cm 에서 속도가 1000 배(1.35×10^8 cm/s)가 되어야 하지만, 실제로는 v_s = 10^7 cm/s 에서 멈춘다(그림 3-24). 통과 시간은 순수 Si 의 값이다.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① 은 식 (3-40a) 의 v_d = μ𝓔, ② 는 ρ = 1/(q n μ_n), ③ 은 𝓔 = (1/q) dE_c/dx 와 그림 3-24 로 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① 1.35×10^5 / 2.3×10^7 = 0.0059. ② n = 1/(qρμ_n) = 1/(1.6×10^-19 × 1 × 1350) = 4.6×10^15; 그림 3-23 에서 이 농도의 μ_n 은 1350 보다 조금 작아 n 은 약 5×10^15. ③ 𝓔 = 0.5 V / 10^-4 cm = 5×10^3 V/cm. μ𝓔 = 6.8×10^6 cm/s 인데 Si 전자(β = 2)의 v = μ𝓔/√(1 + (μ𝓔/v_s)^2) = 5.6×10^6 cm/s — 약 17 % 작다(β = 2 경험식, 강전계 장 노트). 10^17 도핑(μ 700)이면 약 6 % 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전압의 부호가 캐리어의 부호를 알려 준다는 점이 실용적으로 중요. 단자 이름 — V_AB 는 전류와 자계에 모두 수직한 두 면 A · B 사이의 전압(홀 전압), V_CD 는 전류 방향으로 떨어진 두 단자 C · D 사이의 전압(저항률 측정용)이다 — 교재 그림 3-25. R_H 는 홀 계수(Hall coefficient). 그림의 좌표 — 전류 x, 자계 z(위), y 는 안쪽. 힘 F = q(𝓔 + v × B) 에서 v = v_x x̂, B = B_z ẑ 이면 v × B = −v_x B_z ŷ 라 정공은 −y, 곧 앞면 A 로 밀려 A 가 (+), V_AB &gt; 0 이다. 전자는 속도가 −x, 전하가 −q 로 두 번 뒤집혀 역시 −y(A 면)로 밀리므로 A 가 (−), V_AB &lt; 0 — 그래서 V_AB 의 부호가 타입을 알려 준다. 단자 배치가 바뀌면 부호 약속도 바뀌므로 '음이면 n 형' 을 외우지 말고 힘의 방향으로 판단할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셀프학습이 되도록 자기력의 방향을 손 법칙까지. 좌표는 앞 장 그림 3-25 와 같다: 전류 +x(오른쪽), 자계 𝓑 는 +z(위), y 는 종이 안쪽이라 −y 가 앞면 A 쪽이다. ① 손으로 정하기 — 왼손의 엄지 · 검지 · 중지를 서로 직각으로 펴고 검지를 자기장 𝓑, 중지를 전류 I 에 맞추면 엄지가 힘 F 를 가리킨다(플레밍 왼손 법칙). 여기서는 검지가 위, 중지가 오른쪽이므로 엄지는 앞쪽 — 곧 A 면이다. 전류 I 는 '양전하가 흐르는 쪽' 이라는 약속이므로 전자를 다룰 때도 손은 전류 방향에 맞춘다. ② 외적으로 확인 — v = v x̂, 𝓑 = 𝓑 ẑ 일 때 x̂ × ẑ = −ŷ 이므로 v × 𝓑 는 −y 다. 정공은 전하가 +q 라 F = q(v × 𝓑) 가 그대로 −y. 전자는 같은 전류를 만들려면 속도가 −x 라 v × 𝓑 가 +y 로 뒤집히는데, 전하도 −q 라 한 번 더 뒤집혀 결국 −y 다. 그래서 캐리어의 종류와 상관없이 모두 같은 면(A)에 쌓이고, 쌓이는 전하의 부호만 달라진다 — 정공이면 A 가 (+), 전자면 A 가 (−). 이것이 홀 전압의 부호로 반도체의 타입을 가려내는 원리다(예제 3-8). 오른손을 쓰는 법도 같다 — 오른손으로 v 에서 𝓑 로 감아쥐면 엄지가 v × 𝓑 를 가리키고, 전자는 거기에 음부호를 한 번 더 붙이면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홀 전압이 어떻게 '서는지' 를 세 걸음으로 나눈 그림이다. ① 전류가 흐르는 시료에 자계를 걸면 캐리어마다 자기력 qv × 𝓑 를 받아 한쪽 면(A)으로 밀린다. 앞 장에서 보았듯 정공이든 전자든 같은 면이다. ② 밀려간 캐리어가 그 면에 쌓이면 반대 면에는 그만큼의 반대 전하가 남는다. 쌓인 전하가 시료를 가로지르는 전계 𝓔_y 를 만든다 — 이 전계는 캐리어를 되밀어 내는 쪽이다. ③ 쌓임은 끝없이 이어지지 않는다. 되미는 전기력 q𝓔_y 가 미는 자기력 qv_x𝓑_z 와 같아지는 순간 y 방향 알짜 힘이 0 이 되어(식 (3-47) 에서 F_y = 0) 더 쌓이지 않고, 그때 𝓔_y = v_x𝓑_z 로 멈춘다(식 (3-48)). 이 상태가 되기까지 걸리는 시간은 유전완화시간 τ = ρε 정도로, 도핑된 시료(ρ = 0.002 Ω·cm)라면 10^-12 s 아래라 측정에서는 처음부터 균형 상태를 보는 셈이다(고저항 시료는 훨씬 길다). 그림 ② 의 B 면 (−)는 전자가 아니라 정공이 빠져 남은 억셉터 이온의 음전하다 — 앞 장에서 본 '정공도 전자도 같은 면' 과 헷갈리지 말 것. 잴 수 있는 것은 전계가 아니라 전압이므로 두 면 사이 거리 w 를 곱해 V_AB = 𝓔_y w 로 읽는다 — 이것이 홀 전압이다. 여기에 v_x = J_x/(qp_0) 를 넣고 J_x = I_x/(wt) 로 바꾸면 다음 장의 식 (3-50) p_0 = I_x𝓑_z/(q t V_AB) 가 나온다(부록 A4). 세 걸음 가운데 학생이 가장 자주 놓치는 것은 ③ 이다 — 홀 전압은 '자기력이 만든 전압' 이 아니라 '자기력과 전기력이 비긴 자리' 의 전압이다.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농도·저항률·이동도를 한 시료에서 모두 얻는 표준 측정법이다. 식 (3-48) 에서 (3-50)·(3-52) 로 가는 한 줄씩의 유도는 부록 A4 에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130쪽 예제 3-8. 단위를 cm 로 맞춰 두는 것이 첫 단계다. 막대 그림은 두 장 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홀 전압의 부호 하나로 n 형인지 p 형인지가 먼저 정해진다.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한 시료에서 타입·농도·이동도를 모두 얻는 표준 측정법이다. μ_n = 10^4 은 Si(1350)의 7 배쯤이다. 교재는 물질을 밝히지 않은 수치 연습이며, 이 농도에서 이 값이 나오려면 InSb · InAs 처럼 전자가 아주 가벼운 물질이어야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이 한 줄이 5장 pn 접합에서 내부전위를 구하는 출발점이 된다. 3 강의 수면 비유로 보면 — 수위가 다른 두 컵을 이으면 물이 흘러 수면이 같아진다. E_F 가 다른 두 물질을 붙이면 E_F 가 높은 쪽(전자가 더 높이 찬 쪽)에서 낮은 쪽으로 전자가 옮겨 가고, 그만큼 전하가 쌓여 대역이 휘면서 두 E_F 가 같아질 때 흐름이 멈춘다. 식으로는 — 1 → 2 와 2 → 1 의 흐름이 같다는 조건에서 f_1 = f_2 (부록 A5), f 의 꼴이 1/[1 + e^{(E−E_F)/kT}] 이므로 모든 E 에서 같으려면 E_F1 = E_F2.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'오가는 전자의 수가 같아서 E_F 가 꺾이지 않는다' 를 더 쉽게. 세 걸음으로 읽는다. ① 전자가 1 에서 2 로 건너가려면 1 쪽에 '찬 자리' 가 있어야 하고 2 쪽에 '빈 자리' 가 있어야 한다 — 그래서 흐름이 (1 의 찬 자리 수) × (2 의 빈 자리 수) 에 비례한다. 2 → 1 은 그 반대다. ② 평형은 '아무 일도 안 일어나는 것' 이 아니라 '오가는 수가 같아 어느 쪽도 늘지도 줄지도 않는 것' 이다. 두 흐름이 같다고 놓고 정리하면 상태밀도가 통째로 지워지고 f_1(E) = f_2(E) 만 남는다(부록 A5 의 식 (3-53) ~ (3-57)). ③ f 의 모양을 정하는 것은 E_F 하나뿐이므로, 모든 에너지에서 f 가 같으려면 두 쪽의 E_F 가 같아야 한다. 물 비유로 보면 — 수면(E_F)이 다른 두 물통을 이으면 높은 쪽에서 낮은 쪽으로 물이 흐르고, 수면이 같아지는 순간 흐름이 멈춘다. 반도체에서는 그렇게 옮겨 간 전자가 한쪽에 음전하, 다른 쪽에 양전하를 남겨 그 전하가 만든 전계가 대역을 휘게 하고(다음 장), 두 E_F 가 같아진 자리에서 멈춘다. 그래서 '평형이면 E_F 가 꺾이지 않는다(dE_F/dx = 0)' 가 된다 — 휘는 것은 E_c · E_v 이고 평평한 것은 E_F 다. 이 한 줄이 5 장 pn 접합 대역도의 출발점이다. 물 비유의 한계도 알아 둘 것 — 물은 수면이 같아질 때까지 꽤 많이 옮겨 가지만, 전자는 아주 조금만 옮겨 가도 남겨진 전하가 만든 전계가 흐름을 멈춘다. 그 전계가 대역을 휘게 하는 것이 다음 장이다. 또 '오가는 수가 같다' 는 같은 에너지끼리의 전이를 놓고 센 것이고(부록 A5), 거기서 상태밀도 N_1 · N_2 가 통째로 지워지기 때문에 결론이 상태밀도와 무관해진다.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앞의 '전계를 걸면 대역이 기운다' 와 모순처럼 보이는 점 — 대역이 휜 곳에는 전계가 있어 표동 전류가 생긴다. 그러나 같은 곳의 농도 차가 만드는 확산 전류(4 장 4.4.2 절)가 정확히 반대로 흘러 알짜 전류는 0 이다. E_F 가 평평하다는 것이 곧 '알짜 전류 0' 의 표지다. 휜 구간이 공핍영역(5 장)이다. 그림의 장벽이 MOSFET 의 꺼진 상태이고, 게이트 전압이 이 장벽을 낮추면 전류가 흐른다 — 5장 이후의 이야기를 여기서 예고해 둔다. MOSFET = metal-oxide-semiconductor field-effect transistor(금속-산화막-반도체 전계효과 트랜지스터). 그림은 NMOS(n 채널 MOSFET, n-channel MOSFET; n+ / p / n+) — 소스·드레인의 전자가 p 영역의 장벽에 막힌다. PMOS(p 채널 MOSFET, p-channel MOSFET; p+ / n / p+)는 거울상으로, E_F 는 역시 평평하고 n 영역이 정공에게 장벽이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4장은 과잉 캐리어, 5장은 pn 접합으로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표동은 '가속' 이 아니라 '가속과 산란의 균형' 이라는 점을 다시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σ = q(nμ_n + pμ_p) 하나로 3 장 전체가 마무리된다.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계산은 SI(국제단위계, International System of Units) 단위(m², kg, C)로 한다 — μ_n 을 0.135 m²/V·s 로 바꿔 넣는 것이 요점이다. 평균 자유시간이 얼마나 짧은지를 숫자로 실감시키는 것이 목적.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Si 의 m_t = 0.19 가 작아서 조화평균이 0.26 까지 내려간다.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본문에서 받아 쓴 충돌 항의 뿌리다. 교재 119~121쪽은 식 (3-30) ~ (3-32) 로 같은 이야기를 적는다 — 전자가 dt 동안 충돌할 확률이 dt/t̄ 로 일정하다는 가정(방사성 붕괴와 같은 꼴, 기억이 없는 과정)에서 출발하면 충돌하지 않고 남은 전자 수가 N(t) = N_0 e^{-t/t̄} 로 줄고, 충돌까지 걸리는 시간의 평균이 바로 t̄ 가 된다. dt 동안 흩어지는 몫은 전체의 dt/t̄ 이고 그 몫은 방향이 고르게 퍼져 x 방향 운동량이 평균 0 이 되므로, 집단 운동량이 p_x·(dt/t̄) 만큼 깎인다. 양변을 dt 로 나눈 것이 식 (3-33) 이다. 엄밀히는 t̄ 를 운동량 완화시간(momentum relaxation time)이라 부르는 편이 정확하다 — 작은 각도로 비끼는 산란은 운동량을 조금만 없애므로 '충돌 횟수' 의 역수와 꼭 같지는 않다. 교재는 이 구분 없이 t̄ 하나로 쓴다. Si 전자의 t̄ = 0.2 ps(부록 A1)이고, 열운동 속도 2.3×10^7 cm/s 를 곱하면 평균 자유행정은 약 46 nm(어림 50 nm) — 격자상수의 백 배쯤이다. 같은 0.2 ps 동안 100 V/cm 에서 전계 쪽으로 치우치는 거리는 0.27 nm 뿐이라, 표동이 왜 그렇게 느린지가 숫자로 보인다.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129쪽의 흐름을 한 줄씩 적은 것이다. 식 (3-48) 에서 홀 전계는 자계가 정공을 -y 쪽으로 밀어 쌓이게 한 결과이며, 쌓임은 전기력이 자기력을 정확히 상쇄할 때 멈춘다. V_AB = 𝓔_y w 가 홀 전압이다. 전자가 다수 캐리어이면 q 대신 -q 가 들어가 R_H 와 V_AB 의 부호가 바뀐다 — 예제 3-8 의 타입 판별 근거.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식 (3-56) 에서 양변의 N_1 f_1 N_2 f_2 항이 서로 지워지면 N_1 N_2 (f_1 - f_2) = 0 이 남고, 상태밀도는 0 이 아니므로 f_1 = f_2, 곧 E_{F1} = E_{F2} 이다. 이것을 위치에 대해 일반화한 것이 식 (3-58) dE_F/dx = 0 이다(교재 132쪽). 두 물질을 붙여도 평형이면 E_F 가 꺾이지 않는다는 것이 5 장 pn 접합의 출발점이다.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교재 부록 III 의 값이다. 이동도 차이의 뿌리는 유효질량과 산란 — 식 (3-40a) μ = q t̄/m^*. NMOS(n 채널, 전자)와 PMOS(p 채널, 정공)를 한 칩에 함께 쓰는 CMOS(complementary MOS, 상보형 MOS)에서는 전류가 이동도에 비례하므로 PMOS 쪽 트랜지스터 폭을 넓혀 균형을 맞춘다. GaAs 의 큰 μ_n 은 고주파 소자(HEMT 등 — HEMT 는 고전자이동도 트랜지스터, high electron mobility transistor)에, Ge 의 큰 μ_p 는 고속 PMOS 채널(SiGe)에 쓰인다. 4 장 이후의 확산계수 D 도 아인슈타인 관계 D = (kT/q)μ 로 이 표에서 나온다.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Q3 은 '어느 산란이 주된 영역인가' 를 되물어야 답할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A5 가 5장 pn 접합의 논리와 그대로 이어진다 — E_F 가 다르면 한쪽의 찬 자리와 다른 쪽의 빈 자리가 어긋나 전자가 E_F 높은 쪽에서 낮은 쪽으로 흐른다. 평형(알짜 흐름 0)이면 그 흐름이 없어야 하므로 E_F 가 같다.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Q1 은 식 (3-50) 을 거꾸로, Q2 는 포화속도 10^7 cm/s, Q3 은 부록 A6 의 표, Q4 는 부록 A1 의 t̄ 와 열운동 속도 2.3×10^7 cm/s, Q5 는 불순물산란이 저온 쪽에서 커진다는 점을 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A1 — 10^-3 × 10^-4 / (1.6×10^-19 × 10^-3 × 10^16) = 0.0625 V. A2 — 10^4 V/cm 에서 옴의 법칙이면 qAnμ𝓔 = 1.6×10^-19 × 10^-6 × 10^17 × 700 × 10^4 = 0.112 A. β = 2 · μ 700 이면 v = 5.7×10^6 cm/s → 0.092 A, 완전 포화 상한은 qAn v_s = 0.16 A. 교재처럼 1 μm 로 10^5 V/cm 이면 0.16 A 이고, 옴의 법칙대로면 qAnμ𝓔 = 1.6×10^-19 × 10^-6 × 10^17 × 700 × 10^5 = 1.12 A. A3 — 10^-4 / (8500 × 100) = 1.18×10^-10 s. A4 — 격자 간격(0.54 nm)의 백 배쯤을 날아간 뒤 산란한다. A5 — 불순물산란(μ ∝ T^{3/2})이 커져 저온 쪽 이동도가 더 깎이므로 최대점이 고온 쪽으로 밀리고 전체 높이가 낮아진다.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영어 용어는 원서를 볼 때 필요하다.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Ge 로 풀면 낮은 전계 통과 시간이 10^-4 / (3900 × 100) = 0.26 ns 로 줄어든다. GaAs 는 부록 A9 Q3.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V_AB · V_CD · R_H 는 약어가 아니라 단자 이름과 홀 계수를 가리키는 기호다(그림 3-25). MOS 는 금속-산화막-반도체(metal-oxide-semiconductor) 구조를 줄인 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V_AB · V_CD · R_H 는 약어가 아니라 단자 이름과 홀 계수를 가리키는 기호다(그림 3-25). MOS 는 금속-산화막-반도체(metal-oxide-semiconductor) 구조를 줄인 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우리말 이름은 대한화학회 원소 이름(2014)을 따르고 괄호는 옛 이름이다. 강세가 오는 음절 — gallium 갤, arsenic 아, germanium 메이, indium 인, antimony 앤. 화합물은 영어로 '앞 원소 + 뒤 원소 어간-ide', 우리말은 '뒤 원소-화 + 앞 원소' (InSb = 안티모니화 인듐). InSb · InAs 는 전자 이동도가 가장 큰 반도체에 든다(예제 3-8). SiGe 는 Si 와 Ge 의 합금이다. 1 강 부록 A16 에 원소 이름을 더 모아 두었다.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본문 「이동도의 온도의존성」 의 (3-45) 가 나오는 과정이다. 산란 기구가 둘 이상이고 서로 독립이면 단위시간에 충돌할 확률 1/t̄ 가 더해지고(마티센 규칙, Matthiessen's rule), μ = qt̄/m* 는 t̄ 에 비례하므로 1/μ 가 더해진다. 10^{17} cm^{-3} 도핑의 Si 에서 1/700 = 1/1350 + 1/μ_I 로 μ_I ≒ 1450 — 두 산란이 맞먹는 농도다(본문 「왜 반대 방향인가」). 격자산란의 T^{-3/2} 는 음향 포논 산란의 근사이고 Si 전자의 실측은 대략 T^{-2.4} 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앞 장에서 한 줄로만 지나간 '열전자(hot electron)' 를 에너지 수지로 풀어 둔 장이다. 먼저 말을 정리한다 — 여기서 말하는 열전자는 뜨거운 금속에서 튀어나오는 열전자 방출(thermionic emission)이 아니라, 강전계에서 격자보다 뜨거워진 전자(hot carrier)를 가리킨다. 세 걸음으로 읽는다. ① 약한 전계 — 전자가 전계에서 받는 일률은 q𝓔v 이고, 산란 때마다 음향 포논에 에너지를 조금씩 넘긴다. 받는 몫이 작아 받는 즉시 넘길 수 있으므로 전자의 평균 에너지는 (3/2)kT 를 거의 벗어나지 않는다 — 전자온도 T_e 가 격자온도 T_L = 300 K 와 같고, 이때 t̄ 가 전계와 무관해 μ 가 상수이며 v_d = μ𝓔(옴의 법칙)가 성립한다. ② 강전계 — 10^3 ~ 10^4 V/cm 를 넘으면 q𝓔v 가 커져 음향 포논으로 넘기는 몫을 앞지른다. 남는 에너지가 전자 쪽에 쌓여 분포가 통째로 달궈지고, 그 분포를 유효온도로 적으면 T_e ≫ T_L (강한 전계에서는 수천 K 급)이 된다. 격자는 여전히 300 K 이고 전자만 뜨겁다는 점이 '열전자' 라는 이름의 뜻이다. 에너지가 오르면 산란이 잦아져 t̄ 가 줄고, 그래서 μ 가 더 이상 상수가 아니라 전계의 함수가 된다 — 옴의 법칙이 깨지는 까닭이 여기에 있다. ③ 광학 포논이 뚜껑 — Si 의 광학 포논 에너지는 약 63 meV(ħω)로 상온 kT = 26 meV 의 두 배가 넘어 약한 전계에서는 거의 내보내지 못한다. 그러나 전자가 그만한 에너지를 모으는 순간부터는 광학 포논을 아주 빠르게(약 0.1 ps 간격) 내보내며 에너지를 통째로 격자에 버린다. 얻는 즉시 버리므로 평균 에너지가 더 오르지 못하고, 그래서 표동속도가 v_s 에서 멈춘다 — Si 전자 약 1×10^7, 정공 약 0.8×10^7 cm/s(그림 3-24). 교재가 포화속도를 평균 열적 속도(√(3kT/m*) = 2.3×10^7 cm/s)와 같은 자릿수라고 적는 것은 크기의 어림일 뿐이고, 멈추는 원인은 광학 포논 방출이다(산란제한속도, scattering limited velocity). 한 줄로 — 정상상태는 '얻는 몫 q𝓔v = 포논으로 잃는 몫' 이 비기는 자리이고, 전계가 셀수록 그 자리가 높아지다가 광학 포논이 열리는 높이에서 더 오르지 못한다. 다음 장에서 이 열전자가 소자에 무엇을 남기는지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열전자가 실제 소자에서 어떤 일을 하는지 셋으로 모았다. ① 속도 포화 — 앞 장에서 본 그대로, 얻은 에너지를 광학 포논으로 흘려보내 더 빨라지지 않는다(v_s ≈ 10^7 cm/s, 그림 3-24). 전류가 전압에 비례하지 않게 되고, 짧은 채널 소자의 구동전류 한계가 여기서 정해진다 — 0.1 μm 에 1 V 면 10^5 V/cm 이라 오늘날 소자는 늘 이 영역에서 동작한다. ② 충돌 이온화(impact ionization) — 전자가 에너지대역간격 E_g(Si 1.1 eV) 이상을 모으면 포논 대신 결합을 깨서 전자-정공쌍(EHP)을 새로 만든다. 새로 난 캐리어가 다시 가속되어 또 다른 쌍을 만드는 되먹임이 애벌랜치 증식이고, 이것이 pn 접합의 항복을 설명한다(5.4.2 절). 교재가 '또 다른 강전계효과' 로 드는 것이 이것이다. ③ 산화막으로 주입(hot carrier injection) — 채널의 열전자가 Si 와 SiO₂ 사이의 장벽(전자 약 3.1 eV)을 넘을 만큼 뜨거워지면 게이트 산화막으로 뛰어들어 그 안에 갇히거나 계면에 결함을 만든다. 갇힌 전하가 문턱전압을 밀고 이동도를 떨어뜨려 소자가 시간이 갈수록 느려지는데, 이것이 열전자 열화(HCI, hot carrier injection/degradation)다 — 드레인 쪽 전계가 가장 센 자리에서 주로 일어나 LDD(저농도 드레인) 구조 같은 완화책을 쓴다. ④ 하나 더 — GaAs 는 강전계에서 전자가 가벼운 Γ 계곡에서 무거운 상층 계곡(L)으로 옮겨 가 유효질량이 커지고 속도가 되레 줄어든다. 전계를 올렸는데 전류가 줄어드는 음성 미분저항이 생기고, 이것이 건(Gunn) 소자의 바탕이다(10 장). 세 가지 모두 뿌리는 하나 — 전자가 격자와의 열평형을 벗어났다는 것이다. 앞 장의 T_e ≫ T_L 이 어디로 이어지는지를 보여 주는 장이다.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5800" y="1886973"/>
            <a:ext cx="7772400" cy="1470025"/>
          </a:xfrm>
        </p:spPr>
        <p:txBody>
          <a:bodyPr>
            <a:noAutofit/>
          </a:bodyPr>
          <a:lstStyle>
            <a:lvl1pPr algn="ctr">
              <a:defRPr sz="5400" baseline="0">
                <a:solidFill>
                  <a:schemeClr val="accent5">
                    <a:lumMod val="50000"/>
                  </a:schemeClr>
                </a:solidFill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371600" y="4340696"/>
            <a:ext cx="6400800" cy="1464568"/>
          </a:xfrm>
        </p:spPr>
        <p:txBody>
          <a:bodyPr>
            <a:normAutofit/>
          </a:bodyPr>
          <a:lstStyle>
            <a:lvl1pPr marL="0" indent="0" algn="ctr">
              <a:buNone/>
              <a:defRPr sz="3200" baseline="0">
                <a:solidFill>
                  <a:srgbClr val="203864"/>
                </a:solidFill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1pPr>
            <a:lvl2pPr marL="34289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6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4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3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2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 dirty="0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933711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51520" y="126753"/>
            <a:ext cx="8892479" cy="709963"/>
          </a:xfrm>
        </p:spPr>
        <p:txBody>
          <a:bodyPr/>
          <a:lstStyle>
            <a:lvl1pPr>
              <a:defRPr sz="4000" b="1"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 hasCustomPrompt="1"/>
          </p:nvPr>
        </p:nvSpPr>
        <p:spPr>
          <a:xfrm>
            <a:off x="467916" y="1124744"/>
            <a:ext cx="8218884" cy="5256212"/>
          </a:xfrm>
        </p:spPr>
        <p:txBody>
          <a:bodyPr/>
          <a:lstStyle>
            <a:lvl1pPr>
              <a:buClr>
                <a:srgbClr val="005B94"/>
              </a:buCl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1pPr>
            <a:lvl2pPr marL="766800">
              <a:buClr>
                <a:srgbClr val="005B94"/>
              </a:buCl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2pPr>
            <a:lvl3pPr marL="1278000">
              <a:buClr>
                <a:srgbClr val="005B94"/>
              </a:buCl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3pPr>
            <a:lvl4pP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4pPr>
            <a:lvl5pP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5pPr>
          </a:lstStyle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8EB2A9E2-FDDE-B474-FFB0-C537D63B5A2F}"/>
              </a:ext>
            </a:extLst>
          </p:cNvPr>
          <p:cNvCxnSpPr>
            <a:cxnSpLocks/>
          </p:cNvCxnSpPr>
          <p:nvPr userDrawn="1"/>
        </p:nvCxnSpPr>
        <p:spPr>
          <a:xfrm>
            <a:off x="251520" y="980728"/>
            <a:ext cx="8784976" cy="0"/>
          </a:xfrm>
          <a:prstGeom prst="line">
            <a:avLst/>
          </a:prstGeom>
          <a:ln w="57150">
            <a:solidFill>
              <a:srgbClr val="20386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9005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457200" y="1340768"/>
            <a:ext cx="4038600" cy="496855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4648200" y="1340768"/>
            <a:ext cx="4038600" cy="496855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916382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65768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1A8AECB-21A0-420C-B2A7-F93440F308F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7684294" y="6351591"/>
            <a:ext cx="14097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9pPr>
          </a:lstStyle>
          <a:p>
            <a:pPr algn="r" eaLnBrk="1" hangingPunct="1">
              <a:defRPr/>
            </a:pPr>
            <a:fld id="{C7F6A713-E7E1-49DF-8057-6BEF4A8AAE4B}" type="slidenum">
              <a:rPr lang="ja-JP" altLang="en-US" sz="1800" smtClean="0">
                <a:solidFill>
                  <a:srgbClr val="000000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  <a:cs typeface="Times New Roman" panose="02020603050405020304" pitchFamily="18" charset="0"/>
              </a:rPr>
              <a:pPr algn="r" eaLnBrk="1" hangingPunct="1">
                <a:defRPr/>
              </a:pPr>
              <a:t>‹#›</a:t>
            </a:fld>
            <a:endParaRPr lang="ja-JP" altLang="en-US" sz="1800">
              <a:solidFill>
                <a:srgbClr val="000000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189594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EE880FD-2128-43B9-83E4-10F583244DE0}"/>
              </a:ext>
            </a:extLst>
          </p:cNvPr>
          <p:cNvSpPr/>
          <p:nvPr userDrawn="1"/>
        </p:nvSpPr>
        <p:spPr>
          <a:xfrm>
            <a:off x="7365207" y="5"/>
            <a:ext cx="1778794" cy="13509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prstClr val="white"/>
              </a:solidFill>
              <a:latin typeface="Calibri" panose="020F0502020204030204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9114047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タイトル プレースホルダ 1">
            <a:extLst>
              <a:ext uri="{FF2B5EF4-FFF2-40B4-BE49-F238E27FC236}">
                <a16:creationId xmlns:a16="http://schemas.microsoft.com/office/drawing/2014/main" id="{759E051D-B08D-4FA4-BB6B-053A2F8A93D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251223" y="115889"/>
            <a:ext cx="8065294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7" name="テキスト プレースホルダ 2">
            <a:extLst>
              <a:ext uri="{FF2B5EF4-FFF2-40B4-BE49-F238E27FC236}">
                <a16:creationId xmlns:a16="http://schemas.microsoft.com/office/drawing/2014/main" id="{5BA7339D-367C-4B3F-BEB9-7250DFF5F0A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67916" y="1268413"/>
            <a:ext cx="8218884" cy="5256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28" name="テキスト ボックス 7">
            <a:extLst>
              <a:ext uri="{FF2B5EF4-FFF2-40B4-BE49-F238E27FC236}">
                <a16:creationId xmlns:a16="http://schemas.microsoft.com/office/drawing/2014/main" id="{7744A59C-659B-4599-BAA0-5CFBAAD2F3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244408" y="6351591"/>
            <a:ext cx="84958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9pPr>
          </a:lstStyle>
          <a:p>
            <a:pPr algn="r" eaLnBrk="1" hangingPunct="1">
              <a:defRPr/>
            </a:pPr>
            <a:fld id="{6D4AAB7A-58BC-4B23-BBDA-7EEF2F53C539}" type="slidenum">
              <a:rPr lang="ja-JP" altLang="en-US" sz="1800" smtClean="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 Semilight" panose="020B0502040204020203" pitchFamily="50" charset="-127"/>
              </a:rPr>
              <a:pPr algn="r" eaLnBrk="1" hangingPunct="1">
                <a:defRPr/>
              </a:pPr>
              <a:t>‹#›</a:t>
            </a:fld>
            <a:endParaRPr lang="ja-JP" altLang="en-US" sz="1800" dirty="0">
              <a:solidFill>
                <a:srgbClr val="000000"/>
              </a:solidFill>
              <a:latin typeface="HY견고딕" panose="02030600000101010101" pitchFamily="18" charset="-127"/>
              <a:ea typeface="HY견고딕" panose="02030600000101010101" pitchFamily="18" charset="-127"/>
              <a:cs typeface="Malgun Gothic Semilight" panose="020B0502040204020203" pitchFamily="50" charset="-127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28" r:id="rId1"/>
    <p:sldLayoutId id="2147483829" r:id="rId2"/>
    <p:sldLayoutId id="2147483830" r:id="rId3"/>
    <p:sldLayoutId id="2147483831" r:id="rId4"/>
    <p:sldLayoutId id="2147483832" r:id="rId5"/>
    <p:sldLayoutId id="2147483833" r:id="rId6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200" b="1" kern="1200">
          <a:solidFill>
            <a:srgbClr val="203864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5pPr>
      <a:lvl6pPr marL="342892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6pPr>
      <a:lvl7pPr marL="685783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7pPr>
      <a:lvl8pPr marL="1028675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8pPr>
      <a:lvl9pPr marL="1371566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9pPr>
    </p:titleStyle>
    <p:bodyStyle>
      <a:lvl1pPr marL="257168" indent="-269075" algn="l" rtl="0" eaLnBrk="0" fontAlgn="base" hangingPunct="0">
        <a:spcBef>
          <a:spcPts val="900"/>
        </a:spcBef>
        <a:spcAft>
          <a:spcPct val="0"/>
        </a:spcAft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1pPr>
      <a:lvl2pPr marL="557199" indent="-269075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n"/>
        <a:defRPr kumimoji="1" sz="24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2pPr>
      <a:lvl3pPr marL="740551" indent="-271457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3pPr>
      <a:lvl4pPr marL="1012006" indent="-339320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4pPr>
      <a:lvl5pPr marL="1276318" indent="-332177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notesSlide" Target="../notesSlides/notesSlide3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4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3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4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notesSlide" Target="../notesSlides/notesSlide4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notesSlide" Target="../notesSlides/notesSlide4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notesSlide" Target="../notesSlides/notesSlide5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9144000" cy="242316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B8CCE8"/>
                </a:solidFill>
                <a:latin typeface="맑은 고딕"/>
                <a:ea typeface="맑은 고딕"/>
                <a:cs typeface="맑은 고딕"/>
              </a:rPr>
              <a:t>물리전자공학 · 3장 에너지대역과 반도체에서의 전하 캐리어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51560"/>
            <a:ext cx="7772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제4강  전계에서의 표동과 이동도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33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Carrier Drift, Mobility and the Hall Effect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4553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 ~ 3.5 · 교재 119~132쪽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785615"/>
            <a:ext cx="7772400" cy="0"/>
          </a:xfrm>
          <a:prstGeom prst="line">
            <a:avLst/>
          </a:prstGeom>
          <a:ln w="25400">
            <a:solidFill>
              <a:srgbClr val="B4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740664" y="403250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4041648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무작위 산란 속에서도 남는 표동 — 식 (3-36)</a:t>
            </a:r>
          </a:p>
        </p:txBody>
      </p:sp>
      <p:sp>
        <p:nvSpPr>
          <p:cNvPr id="12" name="Oval 11"/>
          <p:cNvSpPr/>
          <p:nvPr/>
        </p:nvSpPr>
        <p:spPr>
          <a:xfrm>
            <a:off x="740664" y="4471416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4480560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전도도와 이동도 — J = q(nμ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pμ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</a:p>
        </p:txBody>
      </p:sp>
      <p:sp>
        <p:nvSpPr>
          <p:cNvPr id="14" name="Oval 13"/>
          <p:cNvSpPr/>
          <p:nvPr/>
        </p:nvSpPr>
        <p:spPr>
          <a:xfrm>
            <a:off x="740664" y="491032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919472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이동도를 정하는 두 산란기구와 온도의존성</a:t>
            </a:r>
          </a:p>
        </p:txBody>
      </p:sp>
      <p:sp>
        <p:nvSpPr>
          <p:cNvPr id="16" name="Oval 15"/>
          <p:cNvSpPr/>
          <p:nvPr/>
        </p:nvSpPr>
        <p:spPr>
          <a:xfrm>
            <a:off x="740664" y="5349240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5358384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강전계에서의 속도 포화와 열전자 효과</a:t>
            </a:r>
          </a:p>
        </p:txBody>
      </p:sp>
      <p:sp>
        <p:nvSpPr>
          <p:cNvPr id="18" name="Oval 17"/>
          <p:cNvSpPr/>
          <p:nvPr/>
        </p:nvSpPr>
        <p:spPr>
          <a:xfrm>
            <a:off x="740664" y="578815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5797296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홀 효과로 캐리어를 재는 법, 그리고 평형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의 일정성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오늘의 강의 내용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제4강 · 전체 흐름 · 교재 119~132쪽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9224" y="1362456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252728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되짚기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 강 — 도핑과 캐리어농도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29968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9224" y="2203704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093976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표동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산란 속에서 남는 실질적 흐름 · 식 (3-29) ~ (3-36)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871216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3044952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35224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전도도와 이동도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J = σ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식 (3-37) ~ (3-44) · 예제 3-6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12464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9224" y="3886200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76472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산란과 온도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격자산란과 불순물산란 · 교재 그림 3-22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553712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9224" y="4727448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617720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강전계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속도 포화와 열전자 · 예제 3-7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394960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5568696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458968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홀 효과와 E</a:t>
            </a:r>
            <a:r>
              <a:rPr sz="23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F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캐리어를 재는 법 · 평형에서 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는 일정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전계에서의 표동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3.4.1 · 산란 속에서 남는 흐름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3 강에서 어디까지 왔나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캐리어를 세는 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8229600" cy="14058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f(E) 는 자리를 차지할 확률,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그 곡선의 높이를 정함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exp[-(E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)/kT], p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exp[-(E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)/kT]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평형이면 언제나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p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834640"/>
            <a:ext cx="8229600" cy="1942807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오늘 답할 물음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전계를 걸면 캐리어는 왜 한없이 빨라지지 않는가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이동도는 무엇이 정하며 왜 온도에 따라 오르내리는가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캐리어의 수와 부호를 실제로 어떻게 재는가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전류와 전류밀도는 다르다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오늘 내내 쓰는 J 의 뜻 · 그림의 μ 는 PART 2 에서 정의</a:t>
            </a:r>
          </a:p>
        </p:txBody>
      </p:sp>
      <p:pic>
        <p:nvPicPr>
          <p:cNvPr id="5" name="Picture 4" descr="b9_cur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526453"/>
            <a:ext cx="8631936" cy="31984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16333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전류 I 는 단면 전체를 1 초에 지나는 전하 [A]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전류밀도 J 는 그것을 단면적으로 나눈 값 [A/cm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]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굵기가 다른 시료를 견주려면 J 로 봐야 하므로 J 를 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전계를 걸면 대역이 기울어진다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3-9 · 96쪽</a:t>
            </a:r>
          </a:p>
        </p:txBody>
      </p:sp>
      <p:pic>
        <p:nvPicPr>
          <p:cNvPr id="5" name="Picture 4" descr="b8_ti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961" y="1280160"/>
            <a:ext cx="6764076" cy="2998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70197"/>
            <a:ext cx="8229600" cy="1939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[보충]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(1/q) dE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/dx — 대역도로 전계를 읽음 (4.4.2 절)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전자는 가속하다 충돌로 에너지를 잃음 — 이것이 표동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산란이 없으면 2 강 42번 예제 3-1 처럼 운동에너지가 계속 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산란 속에서도 한쪽으로 흐른다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3-20 · 119~120쪽 · 강전계 포화 10</a:t>
            </a:r>
            <a:r>
              <a:rPr sz="2100" b="0" i="1" baseline="30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cm/s 는 PART 4</a:t>
            </a:r>
          </a:p>
        </p:txBody>
      </p:sp>
      <p:pic>
        <p:nvPicPr>
          <p:cNvPr id="5" name="Picture 4" descr="b7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460" y="1280160"/>
            <a:ext cx="7267078" cy="2998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70197"/>
            <a:ext cx="8229600" cy="1939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열운동 2.3×10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대 표동 1.35×10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 (100 V/cm) — 170 배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산란 사이의 평균 시간 t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(평균 자유시간, 다음 장)가 짧을수록 덜 빨라짐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전계를 걸면 평균에 치우침 — 전자는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와 반대쪽으로 표동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가속과 감속이 맞비긴다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119~121쪽 · 식 (3-29)~(3-36) · 2 강 65번에 충돌을 더함</a:t>
            </a:r>
          </a:p>
        </p:txBody>
      </p:sp>
      <p:pic>
        <p:nvPicPr>
          <p:cNvPr id="5" name="Picture 4" descr="b7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63" y="1280160"/>
            <a:ext cx="8295473" cy="3322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9402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전계가 주는 가속과 충돌이 깎는 몫이 맞비겨 평균 속도가 일정해짐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그래서 한없이 빨라지지 않음 — 오늘 첫 물음의 답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식으로 적으면 다음 장 — (3-29) ~ (3-36)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운동량 균형을 식으로 — (3-29) ~ (3-36)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119~121쪽 · </a:t>
            </a:r>
            <a:r>
              <a:rPr sz="2100" b="0" i="0" lang="ko-KR" altLang="en-US">
                <a:solidFill>
                  <a:srgbClr val="595959"/>
                </a:solidFill>
                <a:latin typeface="Cambria"/>
                <a:ea typeface="Cambria"/>
                <a:cs typeface="Cambria"/>
              </a:rPr>
              <a:t>⟨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595959"/>
                </a:solidFill>
                <a:latin typeface="Cambria"/>
                <a:ea typeface="Cambria"/>
                <a:cs typeface="Cambria"/>
              </a:rPr>
              <a:t>⟩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는 전자 전체의 평균 · t</a:t>
            </a:r>
            <a:r>
              <a:rPr sz="2100" b="0" i="0" lang="ko-KR" altLang="en-US">
                <a:solidFill>
                  <a:srgbClr val="595959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는 평균 자유시간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56280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18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3255"/>
            <a:ext cx="7296912" cy="1442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전계가 주는 몫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는 1 cm³ 속 전자 n 개의 운동량 합 — 그래서 n 이 붙음</a:t>
            </a:r>
          </a:p>
        </p:txBody>
      </p:sp>
      <p:pic>
        <p:nvPicPr>
          <p:cNvPr id="8" name="EQS007" descr="80806800bb7ffa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387" y="2217833"/>
            <a:ext cx="1717578" cy="49931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07649" y="2278421"/>
            <a:ext cx="1952244" cy="378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(3-29)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74384"/>
            <a:ext cx="8229600" cy="125699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2877513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868919"/>
            <a:ext cx="7296912" cy="11366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충돌이 깎는 몫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dt 동안 dt/t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의 몫이 방향을 잃음 — 과정은 부록 A3</a:t>
            </a:r>
          </a:p>
        </p:txBody>
      </p:sp>
      <p:pic>
        <p:nvPicPr>
          <p:cNvPr id="13" name="EQS012" descr="5d302e25315bb2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388" y="3497693"/>
            <a:ext cx="1436318" cy="4993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08391" y="3558281"/>
            <a:ext cx="1952244" cy="378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(3-33)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054244"/>
            <a:ext cx="8229600" cy="89404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4157373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4148779"/>
            <a:ext cx="7296912" cy="7737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정상상태 — 두 몫의 합이 0</a:t>
            </a:r>
          </a:p>
        </p:txBody>
      </p:sp>
      <p:pic>
        <p:nvPicPr>
          <p:cNvPr id="18" name="EQS017" descr="55a18308ddb683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1525" y="4471747"/>
            <a:ext cx="2847027" cy="44216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09373" y="4503761"/>
            <a:ext cx="1952244" cy="378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(3-34)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971148"/>
            <a:ext cx="8229600" cy="133821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5074276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5065682"/>
            <a:ext cx="7296912" cy="1217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전자 하나로 · 유효질량으로 나눔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 으로 나눈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⟨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⟩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-q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식 (3-35)</a:t>
            </a:r>
          </a:p>
        </p:txBody>
      </p:sp>
      <p:pic>
        <p:nvPicPr>
          <p:cNvPr id="23" name="EQS022" descr="d35177e59b870c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9067" y="5694457"/>
            <a:ext cx="1832586" cy="5805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230016" y="5795651"/>
            <a:ext cx="1952244" cy="378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(3-36)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속도에서 전류밀도까지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식 (3-36) ~ (3-40)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14206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230"/>
            <a:ext cx="384048" cy="38328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104"/>
            <a:ext cx="7296912" cy="1014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평균 속도 — 정상상태 운동량 ÷ 유효질량</a:t>
            </a:r>
          </a:p>
        </p:txBody>
      </p:sp>
      <p:pic>
        <p:nvPicPr>
          <p:cNvPr id="8" name="EQS007" descr="c529ffd2f5b6e8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732" y="1677832"/>
            <a:ext cx="1307877" cy="6164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90637" y="1785288"/>
            <a:ext cx="1952244" cy="401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51593"/>
            <a:ext cx="8229600" cy="90890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2461104"/>
            <a:ext cx="384048" cy="38328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451978"/>
            <a:ext cx="7296912" cy="7811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전류밀도 — 단위시간 · 단위면적당 전하</a:t>
            </a:r>
          </a:p>
        </p:txBody>
      </p:sp>
      <p:pic>
        <p:nvPicPr>
          <p:cNvPr id="13" name="EQS012" descr="4228801b85f3d7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033" y="2862379"/>
            <a:ext cx="1610714" cy="33993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94076" y="2831579"/>
            <a:ext cx="1952244" cy="401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(3-37)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81302"/>
            <a:ext cx="8229600" cy="117560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390813"/>
            <a:ext cx="384048" cy="38328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381687"/>
            <a:ext cx="7296912" cy="10478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식 (3-36) 을 넣으면</a:t>
            </a:r>
          </a:p>
        </p:txBody>
      </p:sp>
      <p:pic>
        <p:nvPicPr>
          <p:cNvPr id="18" name="EQS017" descr="b08827df5a50c9a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524" y="3770414"/>
            <a:ext cx="1098831" cy="64998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381175" y="3894639"/>
            <a:ext cx="1952244" cy="401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(3-38)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77713"/>
            <a:ext cx="8229600" cy="90890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4587223"/>
            <a:ext cx="384048" cy="38328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578097"/>
            <a:ext cx="7296912" cy="7811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곧 옴의 법칙 꼴</a:t>
            </a:r>
          </a:p>
        </p:txBody>
      </p:sp>
      <p:pic>
        <p:nvPicPr>
          <p:cNvPr id="23" name="EQS022" descr="251f0118e5c81b5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1468" y="4988500"/>
            <a:ext cx="1042629" cy="33993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324862" y="4957700"/>
            <a:ext cx="1952244" cy="401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(3-39)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553436"/>
            <a:ext cx="8229600" cy="755924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σ 를 q n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으로 놓은 것이 이동도의 정의 — 식 (3-40a)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전도도와 이동도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3.4.1 마무리 · 3.4.2 표동과 저항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이동도의 정의와 단위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식 (3-40a), (3-41), (3-42)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6"/>
            <a:ext cx="8229600" cy="1060704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5875">
            <a:solidFill>
              <a:srgbClr val="B4C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pic>
        <p:nvPicPr>
          <p:cNvPr id="6" name="EQ001" descr="91fb0be61d5d51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7212" y="1325880"/>
            <a:ext cx="2169574" cy="8595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2395728"/>
            <a:ext cx="8229600" cy="2053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단위전계당 평균 표동속도 — 단위는 (cm/s)/(V/cm) = 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전자는 전계와 반대로 가므로 음의 부호를 붙여 양수로 함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전류밀도는 J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q n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(3-42) · 정공은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+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⟨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⟩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577206"/>
            <a:ext cx="8229600" cy="1500339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가벼우면 빠르다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GaAs 는 Γ 계곡이 뾰족하게 휘어(곡률이 커) 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작으므로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이 매우 큼 — 고주파 소자에 쓰이는 까닭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3-6 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122쪽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1159471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문제 · 교재 122쪽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에서 전자의 전도도 유효질량을 계산하라.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49359"/>
            <a:ext cx="8229600" cy="23772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주어진 것 —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0.98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0.19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(부록 III) · 전도대의 등가 X 계곡 6 개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구할 것 — 전도도 유효질량 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식 (3-40b) 의 조화평균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참고 — GaAs 는 구형이라 상태밀도 · 전도도 유효질량이 모두 0.067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유효질량은 쓰임마다 다르다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예제 3-6 · 122쪽 · 2 강 60번 전도도 유효질량</a:t>
            </a:r>
          </a:p>
        </p:txBody>
      </p:sp>
      <p:pic>
        <p:nvPicPr>
          <p:cNvPr id="5" name="Picture 4" descr="b7_m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65" y="1280160"/>
            <a:ext cx="7893268" cy="33224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9402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수를 셀 때는 상태밀도 유효질량(기하평균) — 3강의 1.1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움직임을 볼 때는 전도도 유효질량(조화평균) — 식 (3-40b)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에서 1/m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(1/3)(1/m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+ 2/m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→ 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0.26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3-6 을 손으로 따라간다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122쪽 · 식 (3-40b)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98085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85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조화평균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 로 밀면 계곡 2 개는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4 개는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→ (2/m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+ 4/m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)/6</a:t>
            </a:r>
          </a:p>
        </p:txBody>
      </p:sp>
      <p:pic>
        <p:nvPicPr>
          <p:cNvPr id="8" name="EQS007" descr="5cba5f3f78cf24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365984"/>
            <a:ext cx="2203857" cy="76701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3204326"/>
            <a:ext cx="8229600" cy="165953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331405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3304910"/>
            <a:ext cx="7296912" cy="15315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값을 넣으면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1/0.98 = 1.02, 2/0.19 = 10.53</a:t>
            </a:r>
          </a:p>
        </p:txBody>
      </p:sp>
      <p:pic>
        <p:nvPicPr>
          <p:cNvPr id="12" name="EQS011" descr="d8d59232dde32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056217"/>
            <a:ext cx="3008214" cy="77106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4898606"/>
            <a:ext cx="8229600" cy="137417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500833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999190"/>
            <a:ext cx="7296912" cy="12461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전자 — 상태밀도 유효질량 1.1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보다 훨씬 가벼움</a:t>
            </a:r>
          </a:p>
        </p:txBody>
      </p:sp>
      <p:pic>
        <p:nvPicPr>
          <p:cNvPr id="16" name="EQS015" descr="8e7e264bb2acf6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5789898"/>
            <a:ext cx="1652778" cy="40690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막대 하나의 저항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그림 3-21 · 124쪽 · 식 (3-43) 123쪽 · 부호는 2 강 82번(A4)</a:t>
            </a:r>
          </a:p>
        </p:txBody>
      </p:sp>
      <p:pic>
        <p:nvPicPr>
          <p:cNvPr id="5" name="Picture 4" descr="b7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365980"/>
            <a:ext cx="8631936" cy="34902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947629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전자(←) · 정공(→)은 반대로 가도 전류는 같은 쪽 (3-43)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저항은 전도도에 모양이 더해진 값 — R = ρL/wt, 식 (3-44)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과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의 값은 교재 부록 III 에 물질별로 실려 있음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전도도에서 저항까지 — (3-43), (3-44)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123~124쪽 · 두 캐리어를 함께 · 옴의 법칙과 같은 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21696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0889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두 캐리어의 전류를 더한다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 (-q)(-μ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· 정공 (+q)(+μ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— 같은 쪽</a:t>
            </a:r>
          </a:p>
        </p:txBody>
      </p:sp>
      <p:pic>
        <p:nvPicPr>
          <p:cNvPr id="8" name="EQS007" descr="5b12c0c8c7181e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1997632"/>
            <a:ext cx="2978658" cy="3589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58818" y="1975915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33481"/>
            <a:ext cx="8229600" cy="121696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2543209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534065"/>
            <a:ext cx="7296912" cy="10889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저항률은 전도도의 역수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물질의 성질 — 모양과 무관</a:t>
            </a:r>
          </a:p>
        </p:txBody>
      </p:sp>
      <p:pic>
        <p:nvPicPr>
          <p:cNvPr id="13" name="EQS012" descr="2cec58080a1b6a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242393"/>
            <a:ext cx="3387852" cy="35890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57200" y="3678242"/>
            <a:ext cx="8229600" cy="134978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4360" y="3787970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778826"/>
            <a:ext cx="7296912" cy="1221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막대의 저항 — 모양이 더해짐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길이 L, 단면 wt</a:t>
            </a:r>
          </a:p>
        </p:txBody>
      </p:sp>
      <p:pic>
        <p:nvPicPr>
          <p:cNvPr id="17" name="EQS016" descr="04b2a0f4a336d8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4474582"/>
            <a:ext cx="675122" cy="5168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955282" y="4531846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(3-44)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55820"/>
            <a:ext cx="8229600" cy="121696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4360" y="51655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" y="5156404"/>
            <a:ext cx="7296912" cy="10889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옴의 법칙과 같은 말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 =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L, I = J wt 를 넣으면 V = IR</a:t>
            </a:r>
          </a:p>
        </p:txBody>
      </p:sp>
      <p:pic>
        <p:nvPicPr>
          <p:cNvPr id="22" name="EQS021" descr="74a774d05fd59f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0432" y="5873877"/>
            <a:ext cx="4423410" cy="34061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3 강의 저항률 계산을 마무리한다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이제 μ 를 알므로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49285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2357"/>
            <a:ext cx="384048" cy="36273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3721"/>
            <a:ext cx="7296912" cy="13719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진성 Si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 = p =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1.5×10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(3 강과 같은 값),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1350,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480</a:t>
            </a:r>
          </a:p>
        </p:txBody>
      </p:sp>
      <p:pic>
        <p:nvPicPr>
          <p:cNvPr id="8" name="EQS007" descr="a597c1eabff039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846" y="2284300"/>
            <a:ext cx="5799368" cy="3627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714394"/>
            <a:ext cx="8229600" cy="118554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818032"/>
            <a:ext cx="384048" cy="36273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809395"/>
            <a:ext cx="7296912" cy="10646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n 형 10</a:t>
            </a:r>
            <a:r>
              <a:rPr sz="22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이동도가 거의 줄지 않는 농도 —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1350 (PART 3)</a:t>
            </a:r>
          </a:p>
        </p:txBody>
      </p:sp>
      <p:pic>
        <p:nvPicPr>
          <p:cNvPr id="12" name="EQS011" descr="fb49780e903c7b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8411" y="3503741"/>
            <a:ext cx="5376183" cy="36057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3932756"/>
            <a:ext cx="8229600" cy="118554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4036393"/>
            <a:ext cx="384048" cy="36273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027756"/>
            <a:ext cx="7296912" cy="10646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n 형 10</a:t>
            </a:r>
            <a:r>
              <a:rPr sz="22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도핑이 이동도를 줄임 —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700 (그림 3-23)</a:t>
            </a:r>
          </a:p>
        </p:txBody>
      </p:sp>
      <p:pic>
        <p:nvPicPr>
          <p:cNvPr id="16" name="EQS015" descr="507120f9130389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8045" y="4722102"/>
            <a:ext cx="4683109" cy="360571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57200" y="5272028"/>
            <a:ext cx="8229600" cy="1037332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 을 100 배 늘렸는데 ρ 는 약 52 배만 줄어듦 — 1350 을 그대로 쓰면 0.046 으로 두 배 틀림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무엇이 이동도를 정하는가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3.4.3 · 두 산란기구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이동도의 온도의존성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3-22 · 124~125쪽 · 식 (3-45) · 유도는 부록 A15</a:t>
            </a:r>
          </a:p>
        </p:txBody>
      </p:sp>
      <p:pic>
        <p:nvPicPr>
          <p:cNvPr id="5" name="Picture 4" descr="b7_mo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390" y="1280160"/>
            <a:ext cx="6669219" cy="2998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70197"/>
            <a:ext cx="8229600" cy="1939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두 기구의 온도의존이 반대라 중간 온도에서 이동도가 가장 큼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저온의 느린 캐리어일수록 이온 곁에 오래 머물러 더 휘어짐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산란 빈도 1/t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더해지고 μ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라서 1/μ = 1/μ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+ 1/μ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(3-45)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두 산란을 그림으로 보면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교재 124~125쪽의 두 기구를 그림으로 · 표는 다음 장</a:t>
            </a:r>
          </a:p>
        </p:txBody>
      </p:sp>
      <p:pic>
        <p:nvPicPr>
          <p:cNvPr id="5" name="Picture 4" descr="b13_sca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487091"/>
            <a:ext cx="8631936" cy="32700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4853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격자산란 — 완전히 규칙적이면 산란 없음 · 흔들림이 산란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불순물산란 — 이온 곁에서 휘어짐 · 느릴수록 많이 휨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그래서 온도의존이 반대 — 앞 장 곡선 둘의 까닭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왜 반대 방향인가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두 산란을 나란히 놓고 본다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530352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1335024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견주는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335024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격자산란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335024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불순물산란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8229600" cy="56692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929384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무엇에 부딪히나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929384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격자의 열진동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1929384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이온화된 불순물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496312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온도가 오르면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496312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진동이 커져 심해짐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2496312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캐리어가 빨라 덜 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962656"/>
            <a:ext cx="8229600" cy="56692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3063240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온도의존성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3063240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-3/2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(근사)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3063240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μ </a:t>
            </a:r>
            <a:r>
              <a:rPr sz="2100" b="0" i="0" lang="ko-KR" altLang="en-US">
                <a:solidFill>
                  <a:srgbClr val="C00000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3/2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3630168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주된 영역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3630168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높은 온도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3630168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낮은 온도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096512"/>
            <a:ext cx="8229600" cy="56692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4197096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줄이는 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4197096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온도를 낮춘다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4197096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도핑을 낮춘다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791456"/>
            <a:ext cx="8229600" cy="1098296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17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도핑 : 1/700 = 1/1350 + 1/μ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→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약 1450 — 두 산란이 맞먹음 · 격자산란 = 포논산란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도핑과 이동도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3-23 · 126쪽 · 300 K</a:t>
            </a:r>
          </a:p>
        </p:txBody>
      </p:sp>
      <p:pic>
        <p:nvPicPr>
          <p:cNvPr id="5" name="Picture 4" descr="b8_mud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014" y="1280160"/>
            <a:ext cx="8273971" cy="36462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017846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16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아래에서는 이동도가 거의 그대로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그보다 높이면 이온화된 불순물의 산란으로 뚜렷하게 떨어짐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도핑은 n 을 늘리지만 μ 를 줄이므로 σ = qnμ 는 둘의 곱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강전계에서는 무엇이 달라지나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3.4.4 · 속도 포화와 열전자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강전계에서는 속도가 멈춘다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3-24 · 127쪽 · 3.4.4 (127~128쪽) · GaAs 음성저항은 10 장</a:t>
            </a:r>
          </a:p>
        </p:txBody>
      </p:sp>
      <p:pic>
        <p:nvPicPr>
          <p:cNvPr id="5" name="Picture 4" descr="b7_s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07" y="1280160"/>
            <a:ext cx="8121184" cy="36462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017846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강전계에서 얻는 에너지 &gt; 격자에 넘기는 몫 → 열전자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광학 포논을 내보내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 에서 멈춤 — 포화속도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0.1 μm 에 1 V 면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— 오늘날 소자는 늘 이 영역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3-7 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126쪽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2522943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문제 · 교재 126쪽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(a) 길이 0.1 cm, 단면적 100 μm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인 Si 막대가 인(P)으로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17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도핑되어 있다. 10 V 가 인가되었을 때 300 K 에서의 전류를 구하라. (b) 100 V/cm 의 전계가 가해진 순수한 Si 에서 전자들이 1 μm 표동하는 데 얼마의 시간이 걸리는가?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에 대해 반복하라.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12831"/>
            <a:ext cx="8229600" cy="2053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주어진 것 — (a) L = 0.1 cm, A = 100 μm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17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V = 10 V  (b) 순수 Si, 거리 1 μm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구할 것 — (a) 전류 I  (b) 100 V/cm ·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의 통과 시간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그림 3-23 (μ) 과 그림 3-24 (속도 포화) 를 읽어 푼다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3-7 을 손으로 따라간다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126~127쪽 · 전류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8184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690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주어진 것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 = 0.1 cm, A = 100 μm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17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V = 10 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41931"/>
            <a:ext cx="8229600" cy="133852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94360" y="2151659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142515"/>
            <a:ext cx="7296912" cy="121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전압을 길이로 나눈다 — 옴의 법칙이 성립하는 크기</a:t>
            </a:r>
          </a:p>
        </p:txBody>
      </p:sp>
      <p:pic>
        <p:nvPicPr>
          <p:cNvPr id="11" name="EQS010" descr="a354e60a6ac844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823819"/>
            <a:ext cx="2206489" cy="52006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57200" y="3415207"/>
            <a:ext cx="8229600" cy="120251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3524935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3515791"/>
            <a:ext cx="7296912" cy="1074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속도와 전류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그림 3-23 에서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700 이므로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7×10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</a:t>
            </a:r>
          </a:p>
        </p:txBody>
      </p:sp>
      <p:pic>
        <p:nvPicPr>
          <p:cNvPr id="15" name="EQS014" descr="b46913594482e4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198239"/>
            <a:ext cx="7162038" cy="38176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57200" y="4762195"/>
            <a:ext cx="8229600" cy="1500339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교재 풀이와 다른 까닭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교재 풀이는 L = 1 μm 로 풀어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포화 · 0.16 A (옴의 법칙이면 1.12 A) — 여기선 문제문대로 0.1 cm ·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700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3-7 을 손으로 따라간다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127쪽 · 통과 시간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225875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0978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순수 Si · 100 V/cm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진성이라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1350 을 쓴다 — 시료가 바뀌었음</a:t>
            </a:r>
          </a:p>
        </p:txBody>
      </p:sp>
      <p:pic>
        <p:nvPicPr>
          <p:cNvPr id="8" name="EQS007" descr="59b0181e7982c3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1993971"/>
            <a:ext cx="4293108" cy="3840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452817"/>
            <a:ext cx="8229600" cy="143230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562545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553401"/>
            <a:ext cx="7296912" cy="13042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 μm 를 지나는 시간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거리를 속도로 나눈다</a:t>
            </a:r>
          </a:p>
        </p:txBody>
      </p:sp>
      <p:pic>
        <p:nvPicPr>
          <p:cNvPr id="12" name="EQS011" descr="2d473b37ab9043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258068"/>
            <a:ext cx="2201313" cy="59047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3923339"/>
            <a:ext cx="8229600" cy="142590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4033067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023923"/>
            <a:ext cx="7296912" cy="1297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2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V/cm 에서 반복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속도 포화 — 그림 3-24 에서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</a:t>
            </a:r>
          </a:p>
        </p:txBody>
      </p:sp>
      <p:pic>
        <p:nvPicPr>
          <p:cNvPr id="16" name="EQS015" descr="aec9351c131968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4728591"/>
            <a:ext cx="2423317" cy="584073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57200" y="5497189"/>
            <a:ext cx="8229600" cy="757427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전계는 1000 배, 시간은 74 배만 짧아짐 — 속도 포화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잠깐 확인 — 표동 · 저항 · 강전계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PART 1 ~ 4 · 답은 다음 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728216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408176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표동은 얼마나 느린가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100 V/cm 에서 Si 전자의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는 열운동 속도(약 2.3×10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cm/s)의 몇 %?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798063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3246120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926079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도핑 어림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ρ = 1 Ω·cm 인 n 형 Si 의 도핑은 대략? (μ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을 어림하고 그림 3-23 으로 확인)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315968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476402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4443983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대역도로 전계 읽기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순수 Si 에서 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1 μm 사이에 0.5 eV 내려가면 전계는? 옴의 법칙이 맞을까?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잠깐 확인 — 해답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근거까지 확인할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728216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408176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약 0.6 %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1350 × 100 = 1.35×10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 — 열운동의 170 분의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798063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3246120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926079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약 5×10</a:t>
            </a:r>
            <a:r>
              <a:rPr sz="2100" b="1" i="1" baseline="3000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15</a:t>
            </a: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 /cm</a:t>
            </a:r>
            <a:r>
              <a:rPr sz="2100" b="1" i="1" baseline="3000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1350 으로 어림하면 4.6×10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15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그 농도의 μ 는 조금 작아 약 5×10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315968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476402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4443983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5×10</a:t>
            </a:r>
            <a:r>
              <a:rPr sz="2100" b="1" i="1" baseline="3000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 V/cm — 조금 어긋남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를 넘어 휘기 시작 — 그림 3-24 로 μ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보다 15~20 % 작음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재는 법, 그리고 마지막 규칙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3.4.5 홀 효과 · 3.5 평형 E</a:t>
            </a:r>
            <a:r>
              <a:rPr sz="23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F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홀 효과로 캐리어를 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그림 3-25 · 128~129쪽 · 홀 효과 — 타입 · 농도 · 이동도를 한 번에</a:t>
            </a:r>
          </a:p>
        </p:txBody>
      </p:sp>
      <p:pic>
        <p:nvPicPr>
          <p:cNvPr id="5" name="Picture 4" descr="b7_h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946" y="1280160"/>
            <a:ext cx="7594106" cy="33224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9402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 = q(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v ×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(3-46) — 정공도 전자도 -y 로 밀림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 형 p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I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/(q t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(3-50) · n 형은 |V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 로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부호는 단자 배치 약속 — 힘의 방향으로 판단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자기력의 방향 — 손으로 정하기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식 (3-46) 의 v × </a:t>
            </a:r>
            <a:r>
              <a:rPr sz="2100" b="0" i="0" lang="ko-KR" altLang="en-US">
                <a:solidFill>
                  <a:srgbClr val="595959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를 손과 외적 두 가지로</a:t>
            </a:r>
          </a:p>
        </p:txBody>
      </p:sp>
      <p:pic>
        <p:nvPicPr>
          <p:cNvPr id="5" name="Picture 4" descr="b13_h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487091"/>
            <a:ext cx="8631936" cy="32700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4853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플레밍 왼손 법칙 — 엄지 F · 검지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중지 I, 셋은 직각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전류 I 는 양전하가 흐르는 쪽 — 전자는 v 가 -x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전하도 -q 라 두 번 뒤집혀 정공과 같은 -y(앞면 A)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홀 전압이 서기까지 — 세 걸음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위에서 본 그림 · 쌓임 → 전계 → 균형 · 부록 A4 로 이어짐</a:t>
            </a:r>
          </a:p>
        </p:txBody>
      </p:sp>
      <p:pic>
        <p:nvPicPr>
          <p:cNvPr id="5" name="Picture 4" descr="b13_hal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487091"/>
            <a:ext cx="8631936" cy="32700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4853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① 자기력 qv ×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캐리어를 한쪽 면으로 민다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② A 에 (+), B 엔 정공이 빠진 (-) → 가로 전계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③ 전기력이 자기력과 같아지면 멈춤 — 식 (3-48)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홀 측정으로 무엇까지 아는가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식 (3-47) ~ (3-52)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13700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3542"/>
            <a:ext cx="384048" cy="366877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4807"/>
            <a:ext cx="7296912" cy="1014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y 방향 힘 — 정공은 v × </a:t>
            </a:r>
            <a:r>
              <a:rPr sz="2200" b="0" i="0" lang="ko-KR" altLang="en-US">
                <a:solidFill>
                  <a:srgbClr val="203864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가 -y, 곧 A 면으로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쌓인 전하의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맞서 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 →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(3-48)</a:t>
            </a:r>
          </a:p>
        </p:txBody>
      </p:sp>
      <p:pic>
        <p:nvPicPr>
          <p:cNvPr id="8" name="EQS007" descr="4cd869b5550516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669" y="1935915"/>
            <a:ext cx="2146664" cy="34285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27298" y="1915169"/>
            <a:ext cx="1952244" cy="3843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(3-47)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48957"/>
            <a:ext cx="8229600" cy="130668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2453779"/>
            <a:ext cx="384048" cy="366877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445043"/>
            <a:ext cx="7296912" cy="1184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홀 계수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R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J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의 비례상수 · n 형은 -1/(qn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pic>
        <p:nvPicPr>
          <p:cNvPr id="13" name="EQS012" descr="686c770da3bb55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885" y="3084142"/>
            <a:ext cx="831262" cy="536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50329" y="3160247"/>
            <a:ext cx="1952244" cy="3843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(3-49)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78875"/>
            <a:ext cx="8229600" cy="130515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783696"/>
            <a:ext cx="384048" cy="366877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774961"/>
            <a:ext cx="7296912" cy="11828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캐리어농도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측정값만으로 구해진다</a:t>
            </a:r>
          </a:p>
        </p:txBody>
      </p:sp>
      <p:pic>
        <p:nvPicPr>
          <p:cNvPr id="18" name="EQS017" descr="e9a662bc86e789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4686" y="4414060"/>
            <a:ext cx="1036417" cy="53502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365086" y="4489400"/>
            <a:ext cx="1952244" cy="3843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007264"/>
            <a:ext cx="8229600" cy="130209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5112086"/>
            <a:ext cx="384048" cy="366877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5103351"/>
            <a:ext cx="7296912" cy="1179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저항률과 이동도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 · D 전압으로 ρ · n 형은 |V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 · |R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 로</a:t>
            </a:r>
          </a:p>
        </p:txBody>
      </p:sp>
      <p:pic>
        <p:nvPicPr>
          <p:cNvPr id="23" name="EQS022" descr="feddf4592266e3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2029" y="5742448"/>
            <a:ext cx="2204795" cy="53197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588149" y="5816260"/>
            <a:ext cx="3328416" cy="3843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(3-51)·(3-52)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3-8 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130쪽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2522943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문제 · 교재 130쪽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그림 3-25 에서 반도체 막대의 w = 0.1 mm, t = 10 μm, L = 5 mm 이다. 자계 B = 10 kG (1 kG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Wb/cm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와 1 mA 의 전류가 그림에 있는 방향으로 주어졌을 때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-2 mV,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CD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100 mV 이다. 이 막대의 형(type), 농도, 다수캐리어의 이동도를 구하라.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1283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주어진 것 — w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cm, t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cm, L = 0.5 cm · B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-4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Wb/cm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I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 mA ·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-2 mV ·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CD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100 mV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구할 것 — 형(n / p), 다수캐리어 농도, 다수캐리어 이동도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3-8 — 홀 측정으로 시료를 읽는다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예제 3-8 · 130쪽 · 타입과 캐리어농도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43710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309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주어진 것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 = 0.5, w =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t =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</a:t>
            </a:r>
          </a:p>
        </p:txBody>
      </p:sp>
      <p:pic>
        <p:nvPicPr>
          <p:cNvPr id="8" name="EQS007" descr="15c862c62af8d6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124049"/>
            <a:ext cx="6423660" cy="38176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744698"/>
            <a:ext cx="8229600" cy="161820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854426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845282"/>
            <a:ext cx="7296912" cy="1490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타입 판별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전자는 속도 -x · 전하 -q — 두 번 뒤집혀 역시 A 면으로 밀려 A 가 (-)</a:t>
            </a:r>
          </a:p>
          <a:p>
            <a:pPr eaLnBrk="0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1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&lt; 0 이므로 다수 캐리어는 전자 — n 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481779"/>
            <a:ext cx="8229600" cy="168856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4591507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4582363"/>
            <a:ext cx="7296912" cy="1560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캐리어농도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식 (3-50) 에 그대로 넣는다</a:t>
            </a:r>
          </a:p>
        </p:txBody>
      </p:sp>
      <p:pic>
        <p:nvPicPr>
          <p:cNvPr id="15" name="EQS014" descr="22817f23910960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5351957"/>
            <a:ext cx="4062222" cy="76352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3-8 — 홀 측정으로 시료를 읽는다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예제 3-8 · 130쪽 · 식 (3-51)(3-52) 129쪽</a:t>
            </a:r>
          </a:p>
        </p:txBody>
      </p:sp>
      <p:pic>
        <p:nvPicPr>
          <p:cNvPr id="5" name="Picture 4" descr="b9_ex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032" y="1280160"/>
            <a:ext cx="6853936" cy="2998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70197"/>
            <a:ext cx="8229600" cy="1939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ρ = (V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CD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/I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)·wt/L = 100 × (10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)(10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)/0.5 = 0.002 Ω·cm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R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-1/(qn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= -20 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/C — 음이라 n 형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|R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|/ρ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 (InSb · InAs 급 — 부록 A14)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평형에서 E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F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는 꺾이지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3-26 · 131~132쪽 · 3 강 '페르미준위는 전자 바다의 수면'</a:t>
            </a:r>
          </a:p>
        </p:txBody>
      </p:sp>
      <p:pic>
        <p:nvPicPr>
          <p:cNvPr id="5" name="Picture 4" descr="b7_fl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65" y="1280160"/>
            <a:ext cx="7893268" cy="33224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9402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평형이면 오가는 전자가 맞비겨 f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(E) = f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(E) (3-57)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 = 1/(1 + exp[(E -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)/kT]) 라 모든 E 에서 같으려면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F1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F2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다르면 전자가 높은 쪽 → 낮은 쪽으로 흘러 같아짐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왜 E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F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가 하나가 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앞 장을 물 비유와 오가는 전자로 · 식은 부록 A5</a:t>
            </a:r>
          </a:p>
        </p:txBody>
      </p:sp>
      <p:pic>
        <p:nvPicPr>
          <p:cNvPr id="5" name="Picture 4" descr="b13_efl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517536"/>
            <a:ext cx="8631936" cy="32146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2362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 → 2 는 '1 의 찬 자리 × 2 의 빈 자리' 에 비례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 → 1 은 그 반대 — 평형이면 두 흐름이 같음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모든 E 에서 f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f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라야 성립 →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하나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E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F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가 일정하면 대역이 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3.5 절의 결론이 소자 동작으로 이어지는 자리</a:t>
            </a:r>
          </a:p>
        </p:txBody>
      </p:sp>
      <p:pic>
        <p:nvPicPr>
          <p:cNvPr id="5" name="Picture 4" descr="b9_nm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625" y="1280160"/>
            <a:ext cx="7134749" cy="2998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70197"/>
            <a:ext cx="8229600" cy="1939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평형이면 dE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/dx = 0 — 5 장 pn 접합 · 6 장 MOSFET 의 출발점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도핑이 다르면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에 맞춰 오르내려 대역이 휨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휜 곳의 전계가 만드는 표동 전류를 농도 차의 확산 전류가 상쇄 — 알짜 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3 장을 마치며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네 시간을 한 줄로 꿰면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6"/>
            <a:ext cx="8229600" cy="120700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 ~ 2 강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원자가 모여 결합하고, 준위가 대역이 되고, 간극이 가른다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23744"/>
            <a:ext cx="8229600" cy="1207008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2 ~ 3 강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캐리어는 전자와 정공 두 가지, 도핑으로 그 수를 설계하고 센다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822191"/>
            <a:ext cx="8229600" cy="1207008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4 강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얼마나 있는지(n, p) 와 얼마나 잘 움직이는지(μ) 가 곱해져 전류가 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75504"/>
            <a:ext cx="8229600" cy="529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C00000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다음 장부터는 이 캐리어들이 평형을 벗어났을 때를 다룸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강의 요약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제4강 · 되짚기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185928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335024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표동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전계의 가속과 충돌의 감속이 맞비겨 평균 속도가 일정해짐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⟨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⟩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-q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 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식 (3-36)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005328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0936" y="3584448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060192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전도도와 이동도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J = q(nμ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pμ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σ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식 (3-43)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 = q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 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단위는 cm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730496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0936" y="5309615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785359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전도도 유효질량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움직임을 볼 때는 조화평균 — 식 (3-40b)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는 0.26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(수를 셀 때의 1.1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과 다름)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강의 요약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제4강 · 되짚기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185928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335024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산란과 온도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격자산란 μ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-3/2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(근사), 불순물산란 μ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3/2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1/μ = Σ 1/μ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가장 작은 쪽이 전체를 정함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005328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0936" y="3584448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060192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강전계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를 넘으면 열전자가 되어 옴의 법칙이 깨짐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광학 포논으로 에너지를 잃어 Si 는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 에서 포화 — 소자 속도의 한계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730496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0936" y="5309615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785359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홀 효과와 E</a:t>
            </a:r>
            <a:r>
              <a:rPr sz="22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F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 형 p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I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/(qtV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· n 형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I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/(qt|V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|), μ = |R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|/ρ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평형에서 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는 어디서나 일정 — dE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/dx = 0, 식 (3-58)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331720"/>
            <a:ext cx="9144000" cy="1737360"/>
          </a:xfrm>
          <a:prstGeom prst="roundRect">
            <a:avLst>
              <a:gd name="adj" fmla="val 0"/>
            </a:avLst>
          </a:prstGeom>
          <a:solidFill>
            <a:srgbClr val="3B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42032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B8CCE8"/>
                </a:solidFill>
                <a:latin typeface="맑은 고딕"/>
                <a:ea typeface="맑은 고딕"/>
                <a:cs typeface="맑은 고딕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99232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부록 — 확인 문제와 보충 자료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749807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본문에서 결론만 말한 곳의 근거와,
스스로 풀어 볼 문항을 모아 둔다.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A1. 평균 자유시간을 어림한다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보충 · 식 (3-40a)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68263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554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식을 뒤집는다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이동도의 정의에서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를 구한다</a:t>
            </a:r>
          </a:p>
        </p:txBody>
      </p:sp>
      <p:pic>
        <p:nvPicPr>
          <p:cNvPr id="8" name="EQS007" descr="22c0d6ef9b674f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040610"/>
            <a:ext cx="1068238" cy="79416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892200"/>
            <a:ext cx="8229600" cy="1974915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300192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992784"/>
            <a:ext cx="7296912" cy="1846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Si 에 넣으면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1350 cm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 = 0.135 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/V·s, 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0.26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pic>
        <p:nvPicPr>
          <p:cNvPr id="12" name="EQS011" descr="425c2669852629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069464"/>
            <a:ext cx="3664835" cy="76107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4887964"/>
            <a:ext cx="8229600" cy="138481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499769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988548"/>
            <a:ext cx="7296912" cy="12568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0.2 ps 마다 방향을 잃음 — 표동이 느린 까닭</a:t>
            </a:r>
          </a:p>
        </p:txBody>
      </p:sp>
      <p:pic>
        <p:nvPicPr>
          <p:cNvPr id="16" name="EQS015" descr="a950e2c66a47ee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5797150"/>
            <a:ext cx="3138678" cy="381762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A2. 두 유효질량을 다시 견준다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보충 · 식 (3-16b), (3-40b)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23008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102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상태밀도 유효질량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자리의 개수를 세는 데 쓰므로 부피처럼 더한다</a:t>
            </a:r>
          </a:p>
        </p:txBody>
      </p:sp>
      <p:pic>
        <p:nvPicPr>
          <p:cNvPr id="8" name="EQS007" descr="41527cdda8e841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1998177"/>
            <a:ext cx="3693765" cy="3840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457023"/>
            <a:ext cx="8229600" cy="139650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566751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557607"/>
            <a:ext cx="7296912" cy="1268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전도도 유효질량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가속의 쉬움을 평균하므로 역수로 더한다</a:t>
            </a:r>
          </a:p>
        </p:txBody>
      </p:sp>
      <p:pic>
        <p:nvPicPr>
          <p:cNvPr id="12" name="EQS011" descr="b7fc49aafda8fc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266480"/>
            <a:ext cx="2848004" cy="55046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3891747"/>
            <a:ext cx="8229600" cy="117140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4001475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3992331"/>
            <a:ext cx="7296912" cy="10433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왜 다른가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한 계곡: 기하 0.33 · 조화 0.26 — 차이는 계곡 수 6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2/3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3.3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101376"/>
            <a:ext cx="8229600" cy="117140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4360" y="521110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5201960"/>
            <a:ext cx="7296912" cy="10433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기억법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셀 때는 계곡 여섯을 다 더하고, 움직일 때는 가벼운 축이 주도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A3. 충돌 항과 평균 자유시간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보충 · 교재 식 (3-30) ~ (3-33) · 119~121쪽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88846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760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충돌 확률은 언제나 같다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방금 충돌했든 한참 전이든 dt 안에 충돌할 확률은 dt/t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41194"/>
            <a:ext cx="8229600" cy="143710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94360" y="225092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241778"/>
            <a:ext cx="7296912" cy="1309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살아남는 수가 지수로 줄어든다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지수분포라 시간상수도 평균도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식 (3-32)</a:t>
            </a:r>
          </a:p>
        </p:txBody>
      </p:sp>
      <p:pic>
        <p:nvPicPr>
          <p:cNvPr id="11" name="EQS010" descr="18f740ec173ba1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3071952"/>
            <a:ext cx="1725930" cy="39090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06090" y="3066237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(3-31)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42309"/>
            <a:ext cx="8229600" cy="164741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3752037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3742893"/>
            <a:ext cx="7296912" cy="1519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운동량이 깎이는 빠르기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dt 동안 dt/t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의 몫이 방향을 잃어 x 방향 운동량이 사라짐</a:t>
            </a:r>
          </a:p>
        </p:txBody>
      </p:sp>
      <p:pic>
        <p:nvPicPr>
          <p:cNvPr id="16" name="EQS015" descr="5d302e25315bb2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512487"/>
            <a:ext cx="2077974" cy="7223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358134" y="4672507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(3-33)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353735"/>
            <a:ext cx="8229600" cy="88846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94360" y="5463463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0432" y="5454319"/>
            <a:ext cx="7296912" cy="760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엄밀히는 운동량 완화시간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작은 각 산란은 운동량을 조금만 없앰 · Si 0.2 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A4. 홀 전압에서 p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0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와 μ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p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식 (3-47) ~ (3-52) · 128~129쪽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950035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8220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옆 방향 힘이 0 — F</a:t>
            </a:r>
            <a:r>
              <a:rPr sz="22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= 0, 식 (3-47)</a:t>
            </a:r>
          </a:p>
        </p:txBody>
      </p:sp>
      <p:pic>
        <p:nvPicPr>
          <p:cNvPr id="8" name="EQS007" descr="730df14a0198f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1729256"/>
            <a:ext cx="1216152" cy="3589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96312" y="1707539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66553"/>
            <a:ext cx="8229600" cy="144953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2276281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267137"/>
            <a:ext cx="7296912" cy="1321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를 전류로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정공의 표동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J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/(q p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를 넣음</a:t>
            </a:r>
          </a:p>
        </p:txBody>
      </p:sp>
      <p:pic>
        <p:nvPicPr>
          <p:cNvPr id="13" name="EQS012" descr="179be03b50dcc1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018443"/>
            <a:ext cx="1987394" cy="56106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67554" y="3097809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(3-49)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43884"/>
            <a:ext cx="8229600" cy="1472105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75361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744468"/>
            <a:ext cx="7296912" cy="13440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잴 수 있는 양으로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J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I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/(wt),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/w 를 넣음</a:t>
            </a:r>
          </a:p>
        </p:txBody>
      </p:sp>
      <p:pic>
        <p:nvPicPr>
          <p:cNvPr id="18" name="EQS017" descr="0021598539180d7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4495775"/>
            <a:ext cx="1781278" cy="58363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061438" y="4586426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143787"/>
            <a:ext cx="8229600" cy="112899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5253515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5244371"/>
            <a:ext cx="7296912" cy="1000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이동도 — σ = 1/ρ = q μ</a:t>
            </a:r>
            <a:r>
              <a:rPr sz="22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p</a:t>
            </a:r>
            <a:r>
              <a:rPr sz="22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에서</a:t>
            </a:r>
          </a:p>
        </p:txBody>
      </p:sp>
      <p:pic>
        <p:nvPicPr>
          <p:cNvPr id="23" name="EQS022" descr="059cbe207159ef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0432" y="5670304"/>
            <a:ext cx="1891976" cy="565903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172136" y="5752088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(3-52)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A5. 평형에서 E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F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가 일정한 까닭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식 (3-53) ~ (3-58) · 131~132쪽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36031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2322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 → 2 로 가는 비율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 에서 찬 자리 × 2 에서 빈 자리 · 식 (3-53)</a:t>
            </a:r>
          </a:p>
        </p:txBody>
      </p:sp>
      <p:pic>
        <p:nvPicPr>
          <p:cNvPr id="8" name="EQS007" descr="5397610f07731f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106225"/>
            <a:ext cx="2372868" cy="34061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587252"/>
            <a:ext cx="8229600" cy="136031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696980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687836"/>
            <a:ext cx="7296912" cy="12322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2 → 1 로 가는 비율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방향만 바꾼 같은 꼴 · 식 (3-54)</a:t>
            </a:r>
          </a:p>
        </p:txBody>
      </p:sp>
      <p:pic>
        <p:nvPicPr>
          <p:cNvPr id="12" name="EQS011" descr="e4bd5aef703392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504758"/>
            <a:ext cx="2372868" cy="34061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3985784"/>
            <a:ext cx="8229600" cy="88846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409551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086368"/>
            <a:ext cx="7296912" cy="760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평형이면 같다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정리하면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- 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= 0 · 식 (3-55)(3-56)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912473"/>
            <a:ext cx="8229600" cy="136031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4360" y="5022201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5013057"/>
            <a:ext cx="7296912" cy="12322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결론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상태밀도와 무관하게 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식 (3-57)(3-58)</a:t>
            </a:r>
          </a:p>
        </p:txBody>
      </p:sp>
      <p:pic>
        <p:nvPicPr>
          <p:cNvPr id="19" name="EQS018" descr="0b97b248a33fca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5829979"/>
            <a:ext cx="3511296" cy="340614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A6. 세 물질의 이동도와 CMOS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300 K · 교재 부록 III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520385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14674"/>
            <a:ext cx="2011680" cy="3229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314674"/>
            <a:ext cx="1920240" cy="3229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1" i="1" baseline="-2500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314674"/>
            <a:ext cx="1828800" cy="3229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1" i="1" baseline="-2500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314674"/>
            <a:ext cx="1920240" cy="3229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1" i="1" baseline="-2500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/ μ</a:t>
            </a:r>
            <a:r>
              <a:rPr sz="2100" b="1" i="1" baseline="-2500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1226"/>
            <a:ext cx="8229600" cy="62805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15808"/>
            <a:ext cx="201168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1915808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1350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915808"/>
            <a:ext cx="182880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1915808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2.8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3859"/>
            <a:ext cx="201168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543859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3900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543859"/>
            <a:ext cx="182880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543859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2.1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037328"/>
            <a:ext cx="8229600" cy="62805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171910"/>
            <a:ext cx="201168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GaAs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3171910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8500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171910"/>
            <a:ext cx="182880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171910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844822"/>
            <a:ext cx="8229600" cy="9206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단위 cm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 · 순수한 시료 — 도핑하면 줄어듦(그림 3-23)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GaAs 는 전자가 매우 빠르고 정공은 Si 보다도 느림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837217"/>
            <a:ext cx="8229600" cy="1472143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CMOS(상보형 MOS) 에서는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PMOS(p 채널)의 정공이 NMOS(n 채널)의 전자보다 약 3 배 느려 PMOS 폭을 2~3 배로 넓힌다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A7. 스스로 확인하기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답을 가리고 풀어 볼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6124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2974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전계를 걸어도 캐리어가 한없이 빨라지지 않는 까닭은?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1506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95747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64243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이동도의 단위가 cm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 인 까닭을 정의로 설명하라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76003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530244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98740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온도를 올리면 이동도는 어떻게 되는가? 조건은?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10501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564742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433237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속도 포화가 소자 설계에 뜻하는 바는?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499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59923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46773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Q5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평형에서 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일정해야 하는 까닭은?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A8. 확인 문제 해답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근거까지 확인할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6124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2974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A1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충돌이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마다 운동량을 없애 가속과 맞비기므로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1506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95747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64243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A2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 = v/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(cm/s)/(V/cm) = cm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76003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530244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98740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A3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고온(격자산란)에서는 줄고, 저온(불순물산란)에서는 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10501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564742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433237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A4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전압을 더 올려도 속도가 늘지 않아 전류가 포화함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499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59923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46773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A5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높은 쪽 → 낮은 쪽으로 흐름 — 평형이면 같아야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A9. 스스로 확인하기 (2/2) — 수치로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계산기를 들고 풀어 볼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6124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2974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예제 3-8 조건에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16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p 형 Si 면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와 부호는?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1506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95747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64243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예제 3-7(a) 막대에 1000 V 면 전류는? 옴의 법칙 값은?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76003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530244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98740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GaAs(μ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8500)로 예제 3-7(b) 100 V/cm 통과 시간은?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10501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564742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433237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전자의 평균 자유행로 (열운동 속도 × 0.2 ps)는?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499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59923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46773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Q5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그림 3-22 에서 도핑을 높이면 이동도 최대점은?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A10. 확인 문제 해답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근거까지 확인할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61249"/>
            <a:ext cx="475488" cy="455880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2974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A1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I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B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/(q t p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= +62.5 mV — 양(+), p 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1506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95747"/>
            <a:ext cx="475488" cy="455880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64243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A2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— 옴이면 0.112 A, 그림 3-24 로 약 0.09~0.13 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76003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530244"/>
            <a:ext cx="475488" cy="455880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98740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A3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 = 8.5×10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 → 1 μm 에 0.12 ns (Si 의 약 1/6)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10501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564742"/>
            <a:ext cx="475488" cy="455880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433237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A4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2.3×10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× 2×10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-13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≒ 4.6×10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-6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 — 약 50 nm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499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599239"/>
            <a:ext cx="475488" cy="455880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46773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A5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최대점이 높은 온도 쪽으로 옮기고 높이는 낮아짐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A11.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한글 · 영어 · 기호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530352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13533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한글 용어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35331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353312"/>
            <a:ext cx="1737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8229600" cy="60350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938528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표동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938528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drift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938528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1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542032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이동도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542032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mobility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542032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· μ</a:t>
            </a:r>
            <a:r>
              <a:rPr sz="21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35808"/>
            <a:ext cx="8229600" cy="60350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3145536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전도도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145536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conductivity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145536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3749040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평균 자유시간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3749040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mean free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749040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0" lang="ko-KR" altLang="en-US">
                <a:solidFill>
                  <a:srgbClr val="C00000"/>
                </a:solidFill>
                <a:latin typeface="Cambria"/>
                <a:ea typeface="Cambria"/>
                <a:cs typeface="Cambria"/>
              </a:rPr>
              <a:t>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242816"/>
            <a:ext cx="8229600" cy="60350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4352544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격자산란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4352544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lattice (phonon) scattering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352544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1" baseline="30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-3/2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" y="4956048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불순물산란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4956048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impurity scattering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4956048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1" baseline="30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3/2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449824"/>
            <a:ext cx="8229600" cy="60350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5559552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홀 효과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5559552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Hall effect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559552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R</a:t>
            </a:r>
            <a:r>
              <a:rPr sz="21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· V</a:t>
            </a:r>
            <a:r>
              <a:rPr sz="21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AB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A12. 자기학습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혼자서도 확인해 볼 수 있는 방법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6"/>
            <a:ext cx="8229600" cy="117043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교재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3장 3.4 ~ 3.5 (119~132쪽) — 예제 3-6, 3-7 을 다시 풀 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468880"/>
            <a:ext cx="8229600" cy="1170432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되짚어 볼 곳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3.2.2절 유효질량(2 강 46~69번) / 부록 III 의 이동도 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712464"/>
            <a:ext cx="8229600" cy="1170432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직접 해 볼 것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Ge(μ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3900)로 예제 3-7(b)를 다시 풀어 볼 것 (0.26 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956048"/>
            <a:ext cx="8229600" cy="117043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다음 장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제4장 — 평형을 벗어난 과잉 캐리어와 그 수명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A13. 이 자료에 나온 영문 약어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원어를 알아 두면 뜻이 보인다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8229600" cy="548640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44752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약어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44475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우리말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144475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8229600" cy="9509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75688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MOSFET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057400"/>
            <a:ext cx="30175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금속-산화막-반도체 전계효과 트랜지스터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2057400"/>
            <a:ext cx="34290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Metal-Oxide-Semiconductor Field-Effect Transistor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026664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CMOS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3008376"/>
            <a:ext cx="30175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상보형 MOS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3008376"/>
            <a:ext cx="342900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Complementary MOS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29584"/>
            <a:ext cx="8229600" cy="61264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639312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NMOS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3621024"/>
            <a:ext cx="30175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n 채널 MOSFET (전자)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3621024"/>
            <a:ext cx="342900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n-channel MOSFET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251959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PMOS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233671"/>
            <a:ext cx="30175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p 채널 MOSFET (정공)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4233671"/>
            <a:ext cx="342900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p-channel MOSFET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754879"/>
            <a:ext cx="8229600" cy="9509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864607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HEMT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4846319"/>
            <a:ext cx="30175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고전자이동도 트랜지스터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4846319"/>
            <a:ext cx="34290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High Electron Mobility Transistor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A13. 이 자료에 나온 영문 약어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원어를 알아 두면 뜻이 보인다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8229600" cy="548640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44752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약어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44475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우리말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144475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8229600" cy="61264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75688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EHP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057400"/>
            <a:ext cx="30175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전자-정공쌍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2057400"/>
            <a:ext cx="342900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Electron-Hole Pair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688336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670048"/>
            <a:ext cx="30175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국제단위계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670048"/>
            <a:ext cx="34290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International System of Units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29584"/>
            <a:ext cx="8229600" cy="9509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639312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3621024"/>
            <a:ext cx="30175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전자볼트 1.602×10</a:t>
            </a:r>
            <a:r>
              <a:rPr sz="21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-19</a:t>
            </a: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J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3621024"/>
            <a:ext cx="34290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Electron Volt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590288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HCI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572000"/>
            <a:ext cx="30175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열전자 열화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4572000"/>
            <a:ext cx="34290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Hot Carrier Injection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A14. 원소 · 화합물 이름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우리말 화합물은 '뒤 원소-화 + 앞 원소' · 발음은 미국식 어림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6"/>
            <a:ext cx="8229600" cy="512064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16736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316736"/>
            <a:ext cx="2331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우리말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1316736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316736"/>
            <a:ext cx="2606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영어 발음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3936"/>
            <a:ext cx="8229600" cy="4937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84708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847088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갈륨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84708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gallium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847088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갤리엄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34086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34086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비소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34086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arsenic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34086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아서닉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761488"/>
            <a:ext cx="8229600" cy="4937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834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28346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저마늄 (게르마늄)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28346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germanium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283464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저메이니엄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32841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3328416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인듐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332841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indium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3328416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인디엄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749039"/>
            <a:ext cx="8229600" cy="4937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822191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Sb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3822191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안티모니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03320" y="3822191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antimony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3822191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앤티모니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431596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GaAs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315968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갈륨비소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03320" y="431596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gallium arsenide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4315968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갤리엄 아서나이드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736592"/>
            <a:ext cx="8229600" cy="4937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80974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InSb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480974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안티모니화 인듐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03320" y="480974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indium antimonide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480974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인디엄 앤티머나이드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530352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InAs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" y="53035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비소화 인듐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03320" y="53035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indium arsenide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53035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인디엄 아서나이드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A15. 식 (3-45) — 마티센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Matthiessen's rule · 교재 125쪽은 μ</a:t>
            </a:r>
            <a:r>
              <a:rPr sz="21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, μ</a:t>
            </a:r>
            <a:r>
              <a:rPr sz="21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로 적음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16410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6040"/>
            <a:ext cx="384048" cy="375622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7097"/>
            <a:ext cx="7296912" cy="1038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산란 빈도가 더해진다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두 기구가 독립이면 단위시간 충돌 확률이 더해짐</a:t>
            </a:r>
          </a:p>
        </p:txBody>
      </p:sp>
      <p:pic>
        <p:nvPicPr>
          <p:cNvPr id="8" name="EQS007" descr="aff73da0fda947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1172" y="1962669"/>
            <a:ext cx="1849042" cy="33314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380011"/>
            <a:ext cx="8229600" cy="116410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487332"/>
            <a:ext cx="384048" cy="375622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478388"/>
            <a:ext cx="7296912" cy="1038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결과 — 식 (3-45)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 = qt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/m* (3-40a) 는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에 비례 — 양변에 m*/q 를 곱함</a:t>
            </a:r>
          </a:p>
        </p:txBody>
      </p:sp>
      <p:pic>
        <p:nvPicPr>
          <p:cNvPr id="12" name="EQS011" descr="d643d1770852894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555" y="3153960"/>
            <a:ext cx="2061447" cy="333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7852" y="3123776"/>
            <a:ext cx="1952244" cy="3935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(3-45)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71303"/>
            <a:ext cx="8229600" cy="78848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4360" y="3678623"/>
            <a:ext cx="384048" cy="375622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669680"/>
            <a:ext cx="7296912" cy="663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읽는 법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더 작은 이동도(더 잦은 산란)가 전체를 정함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86974"/>
            <a:ext cx="8229600" cy="78848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4360" y="4494294"/>
            <a:ext cx="384048" cy="375622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4485351"/>
            <a:ext cx="7296912" cy="663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숫자로 — 10</a:t>
            </a:r>
            <a:r>
              <a:rPr sz="22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17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cm</a:t>
            </a:r>
            <a:r>
              <a:rPr sz="22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Si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1/700 = 1/1350 + 1/μ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→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≒ 1450, 두 산란이 맞먹음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202643"/>
            <a:ext cx="8229600" cy="110671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5309964"/>
            <a:ext cx="384048" cy="375622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5301020"/>
            <a:ext cx="7296912" cy="9815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온도 의존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-3/2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(근사) ·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3/2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도핑이 많을수록 작음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저작권과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8A8A8A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9611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 자료를 쓰기 전에 읽어 주세요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551139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교재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Streetman &amp; Banerjee, 「고체전자공학」 7판 (성진미디어)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원저 — Solid State Electronic Devices, 7th 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000902"/>
            <a:ext cx="8229600" cy="1551139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직접 만든 것과 가리킨 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그림은 모두 새로 작도했고 풀이 서술도 새로 썼습니다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예제 · 절 · 쪽수는 교재의 해당 부분을 가리키는 표시입니다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721644"/>
            <a:ext cx="8229600" cy="1551139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이용 범위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교재를 갖춘 수강생을 위한 수업용 보조자료입니다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수업 목적을 벗어난 복제 · 배포 · 공개를 금합니다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열전자 — 전자가 뜨거워진다는 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열전자(hot electron) · 교재 127~128쪽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200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① 약한 전계</a:t>
            </a:r>
          </a:p>
        </p:txBody>
      </p:sp>
      <p:sp>
        <p:nvSpPr>
          <p:cNvPr id="11" name="Panel 11"/>
          <p:cNvSpPr/>
          <p:nvPr/>
        </p:nvSpPr>
        <p:spPr>
          <a:xfrm>
            <a:off x="3200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2" name="TextBox 12"/>
          <p:cNvSpPr txBox="1"/>
          <p:nvPr/>
        </p:nvSpPr>
        <p:spPr>
          <a:xfrm>
            <a:off x="420000" y="1835000"/>
            <a:ext cx="251300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받는 즉시 넘긴다</a:t>
            </a:r>
          </a:p>
        </p:txBody>
      </p:sp>
      <p:sp>
        <p:nvSpPr>
          <p:cNvPr id="13" name="Lattice 13"/>
          <p:cNvSpPr/>
          <p:nvPr/>
        </p:nvSpPr>
        <p:spPr>
          <a:xfrm>
            <a:off x="460000" y="3205000"/>
            <a:ext cx="2433000" cy="170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격자 (300 K)</a:t>
            </a:r>
          </a:p>
        </p:txBody>
      </p:sp>
      <p:sp>
        <p:nvSpPr>
          <p:cNvPr id="14" name="EnergyBar 14"/>
          <p:cNvSpPr/>
          <p:nvPr/>
        </p:nvSpPr>
        <p:spPr>
          <a:xfrm>
            <a:off x="1516500" y="2975000"/>
            <a:ext cx="320000" cy="230000"/>
          </a:xfrm>
          <a:prstGeom prst="rect">
            <a:avLst/>
          </a:prstGeom>
          <a:solidFill>
            <a:srgbClr val="9FB8DC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15" name="Connector 15"/>
          <p:cNvCxnSpPr/>
          <p:nvPr/>
        </p:nvCxnSpPr>
        <p:spPr>
          <a:xfrm>
            <a:off x="500000" y="2955000"/>
            <a:ext cx="966500" cy="0"/>
          </a:xfrm>
          <a:prstGeom prst="straightConnector1">
            <a:avLst/>
          </a:prstGeom>
          <a:ln w="19050" cap="rnd">
            <a:solidFill>
              <a:srgbClr val="203864"/>
            </a:solidFill>
            <a:tailEnd type="triangle" w="med" len="med"/>
          </a:ln>
        </p:spPr>
      </p:cxnSp>
      <p:sp>
        <p:nvSpPr>
          <p:cNvPr id="16" name="TextBox 16"/>
          <p:cNvSpPr txBox="1"/>
          <p:nvPr/>
        </p:nvSpPr>
        <p:spPr>
          <a:xfrm>
            <a:off x="500000" y="2705000"/>
            <a:ext cx="96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q</a:t>
            </a:r>
            <a:r>
              <a:rPr sz="1200" b="0" i="0" lang="ko-KR" altLang="en-US">
                <a:solidFill>
                  <a:srgbClr val="203864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1200" b="0" i="1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v</a:t>
            </a:r>
          </a:p>
        </p:txBody>
      </p:sp>
      <p:cxnSp>
        <p:nvCxnSpPr>
          <p:cNvPr id="17" name="Connector 17"/>
          <p:cNvCxnSpPr/>
          <p:nvPr/>
        </p:nvCxnSpPr>
        <p:spPr>
          <a:xfrm>
            <a:off x="2076500" y="2585000"/>
            <a:ext cx="0" cy="580000"/>
          </a:xfrm>
          <a:prstGeom prst="straightConnector1">
            <a:avLst/>
          </a:prstGeom>
          <a:ln w="28575" cap="rnd">
            <a:solidFill>
              <a:srgbClr val="548235"/>
            </a:solidFill>
            <a:tailEnd type="triangle" w="med" len="med"/>
          </a:ln>
        </p:spPr>
      </p:cxnSp>
      <p:sp>
        <p:nvSpPr>
          <p:cNvPr id="18" name="TextBox 18"/>
          <p:cNvSpPr txBox="1"/>
          <p:nvPr/>
        </p:nvSpPr>
        <p:spPr>
          <a:xfrm>
            <a:off x="2146500" y="2755000"/>
            <a:ext cx="77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음향 포논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2135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② 강전계 — 열전자</a:t>
            </a:r>
          </a:p>
        </p:txBody>
      </p:sp>
      <p:sp>
        <p:nvSpPr>
          <p:cNvPr id="20" name="Panel 20"/>
          <p:cNvSpPr/>
          <p:nvPr/>
        </p:nvSpPr>
        <p:spPr>
          <a:xfrm>
            <a:off x="32135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1" name="TextBox 21"/>
          <p:cNvSpPr txBox="1"/>
          <p:nvPr/>
        </p:nvSpPr>
        <p:spPr>
          <a:xfrm>
            <a:off x="3313500" y="1835000"/>
            <a:ext cx="251300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넘기지 못해 쌓인다</a:t>
            </a:r>
          </a:p>
        </p:txBody>
      </p:sp>
      <p:sp>
        <p:nvSpPr>
          <p:cNvPr id="22" name="Lattice 22"/>
          <p:cNvSpPr/>
          <p:nvPr/>
        </p:nvSpPr>
        <p:spPr>
          <a:xfrm>
            <a:off x="3353500" y="3205000"/>
            <a:ext cx="2433000" cy="170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격자 (300 K)</a:t>
            </a:r>
          </a:p>
        </p:txBody>
      </p:sp>
      <p:sp>
        <p:nvSpPr>
          <p:cNvPr id="23" name="EnergyBar 23"/>
          <p:cNvSpPr/>
          <p:nvPr/>
        </p:nvSpPr>
        <p:spPr>
          <a:xfrm>
            <a:off x="4410000" y="2605000"/>
            <a:ext cx="320000" cy="60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24" name="Connector 24"/>
          <p:cNvCxnSpPr/>
          <p:nvPr/>
        </p:nvCxnSpPr>
        <p:spPr>
          <a:xfrm>
            <a:off x="3393500" y="2955000"/>
            <a:ext cx="966500" cy="0"/>
          </a:xfrm>
          <a:prstGeom prst="straightConnector1">
            <a:avLst/>
          </a:prstGeom>
          <a:ln w="38100" cap="rnd">
            <a:solidFill>
              <a:srgbClr val="203864"/>
            </a:solidFill>
            <a:tailEnd type="triangle" w="med" len="med"/>
          </a:ln>
        </p:spPr>
      </p:cxnSp>
      <p:sp>
        <p:nvSpPr>
          <p:cNvPr id="25" name="TextBox 25"/>
          <p:cNvSpPr txBox="1"/>
          <p:nvPr/>
        </p:nvSpPr>
        <p:spPr>
          <a:xfrm>
            <a:off x="3393500" y="2705000"/>
            <a:ext cx="96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q</a:t>
            </a:r>
            <a:r>
              <a:rPr sz="1200" b="0" i="0" lang="ko-KR" altLang="en-US">
                <a:solidFill>
                  <a:srgbClr val="203864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1200" b="0" i="1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v</a:t>
            </a:r>
          </a:p>
        </p:txBody>
      </p:sp>
      <p:cxnSp>
        <p:nvCxnSpPr>
          <p:cNvPr id="26" name="Connector 26"/>
          <p:cNvCxnSpPr/>
          <p:nvPr/>
        </p:nvCxnSpPr>
        <p:spPr>
          <a:xfrm>
            <a:off x="4970000" y="2585000"/>
            <a:ext cx="0" cy="580000"/>
          </a:xfrm>
          <a:prstGeom prst="straightConnector1">
            <a:avLst/>
          </a:prstGeom>
          <a:ln w="19050" cap="rnd">
            <a:solidFill>
              <a:srgbClr val="548235"/>
            </a:solidFill>
            <a:tailEnd type="triangle" w="med" len="med"/>
          </a:ln>
        </p:spPr>
      </p:cxnSp>
      <p:sp>
        <p:nvSpPr>
          <p:cNvPr id="27" name="TextBox 27"/>
          <p:cNvSpPr txBox="1"/>
          <p:nvPr/>
        </p:nvSpPr>
        <p:spPr>
          <a:xfrm>
            <a:off x="5040000" y="2755000"/>
            <a:ext cx="77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음향 포논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1070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③ 광학 포논이 뚜껑</a:t>
            </a:r>
          </a:p>
        </p:txBody>
      </p:sp>
      <p:sp>
        <p:nvSpPr>
          <p:cNvPr id="29" name="Panel 29"/>
          <p:cNvSpPr/>
          <p:nvPr/>
        </p:nvSpPr>
        <p:spPr>
          <a:xfrm>
            <a:off x="61070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0" name="TextBox 30"/>
          <p:cNvSpPr txBox="1"/>
          <p:nvPr/>
        </p:nvSpPr>
        <p:spPr>
          <a:xfrm>
            <a:off x="6207000" y="1835000"/>
            <a:ext cx="251300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모이면 곧장 내보낸다</a:t>
            </a:r>
          </a:p>
        </p:txBody>
      </p:sp>
      <p:sp>
        <p:nvSpPr>
          <p:cNvPr id="31" name="Lattice 31"/>
          <p:cNvSpPr/>
          <p:nvPr/>
        </p:nvSpPr>
        <p:spPr>
          <a:xfrm>
            <a:off x="6247000" y="3205000"/>
            <a:ext cx="2433000" cy="170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격자 (300 K)</a:t>
            </a:r>
          </a:p>
        </p:txBody>
      </p:sp>
      <p:sp>
        <p:nvSpPr>
          <p:cNvPr id="32" name="EnergyBar 32"/>
          <p:cNvSpPr/>
          <p:nvPr/>
        </p:nvSpPr>
        <p:spPr>
          <a:xfrm>
            <a:off x="7303500" y="2415000"/>
            <a:ext cx="320000" cy="79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33" name="Connector 33"/>
          <p:cNvCxnSpPr/>
          <p:nvPr/>
        </p:nvCxnSpPr>
        <p:spPr>
          <a:xfrm>
            <a:off x="6287000" y="2955000"/>
            <a:ext cx="966500" cy="0"/>
          </a:xfrm>
          <a:prstGeom prst="straightConnector1">
            <a:avLst/>
          </a:prstGeom>
          <a:ln w="38100" cap="rnd">
            <a:solidFill>
              <a:srgbClr val="203864"/>
            </a:solidFill>
            <a:tailEnd type="triangle" w="med" len="med"/>
          </a:ln>
        </p:spPr>
      </p:cxnSp>
      <p:sp>
        <p:nvSpPr>
          <p:cNvPr id="34" name="TextBox 34"/>
          <p:cNvSpPr txBox="1"/>
          <p:nvPr/>
        </p:nvSpPr>
        <p:spPr>
          <a:xfrm>
            <a:off x="6287000" y="2705000"/>
            <a:ext cx="96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q</a:t>
            </a:r>
            <a:r>
              <a:rPr sz="1200" b="0" i="0" lang="ko-KR" altLang="en-US">
                <a:solidFill>
                  <a:srgbClr val="203864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1200" b="0" i="1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v</a:t>
            </a:r>
          </a:p>
        </p:txBody>
      </p:sp>
      <p:cxnSp>
        <p:nvCxnSpPr>
          <p:cNvPr id="35" name="Connector 35"/>
          <p:cNvCxnSpPr/>
          <p:nvPr/>
        </p:nvCxnSpPr>
        <p:spPr>
          <a:xfrm>
            <a:off x="7863500" y="2585000"/>
            <a:ext cx="0" cy="580000"/>
          </a:xfrm>
          <a:prstGeom prst="straightConnector1">
            <a:avLst/>
          </a:prstGeom>
          <a:ln w="38100" cap="rnd">
            <a:solidFill>
              <a:srgbClr val="548235"/>
            </a:solidFill>
            <a:tailEnd type="triangle" w="med" len="med"/>
          </a:ln>
        </p:spPr>
      </p:cxnSp>
      <p:sp>
        <p:nvSpPr>
          <p:cNvPr id="36" name="TextBox 36"/>
          <p:cNvSpPr txBox="1"/>
          <p:nvPr/>
        </p:nvSpPr>
        <p:spPr>
          <a:xfrm>
            <a:off x="7933500" y="2755000"/>
            <a:ext cx="77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광학 포논</a:t>
            </a:r>
          </a:p>
        </p:txBody>
      </p:sp>
      <p:cxnSp>
        <p:nvCxnSpPr>
          <p:cNvPr id="37" name="Connector 37"/>
          <p:cNvCxnSpPr/>
          <p:nvPr/>
        </p:nvCxnSpPr>
        <p:spPr>
          <a:xfrm>
            <a:off x="7113500" y="2355000"/>
            <a:ext cx="700000" cy="0"/>
          </a:xfrm>
          <a:prstGeom prst="straightConnector1">
            <a:avLst/>
          </a:prstGeom>
          <a:ln w="19050" cap="rnd">
            <a:solidFill>
              <a:srgbClr val="C00000"/>
            </a:solidFill>
            <a:prstDash val="dash"/>
          </a:ln>
        </p:spPr>
      </p:cxnSp>
      <p:sp>
        <p:nvSpPr>
          <p:cNvPr id="38" name="TextBox 38"/>
          <p:cNvSpPr txBox="1"/>
          <p:nvPr/>
        </p:nvSpPr>
        <p:spPr>
          <a:xfrm>
            <a:off x="6727000" y="2105000"/>
            <a:ext cx="148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ħω ≈ 63 meV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200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13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T</a:t>
            </a:r>
            <a:r>
              <a:rPr sz="13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300 K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μ 가 상수 — 옴의 법칙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32135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13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≫ T</a:t>
            </a:r>
            <a:r>
              <a:rPr sz="13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(수천 K)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전자만 뜨거워짐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1070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더 못 뜨거워짐 → v</a:t>
            </a:r>
            <a:r>
              <a:rPr sz="13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≈ 10</a:t>
            </a:r>
            <a:r>
              <a:rPr sz="1300" b="0" i="0" baseline="30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cm/s 에서 포화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457200" y="4160000"/>
            <a:ext cx="82296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얻는 몫과 포논으로 잃는 몫이 비기는 자리가 정상상태 — 전계가 셀수록 그 자리가 높아진다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853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열전자 — 격자(300 K)와 열평형을 벗어난 전자</a:t>
            </a:r>
          </a:p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약한 전계에선 받는 즉시 음향 포논으로 넘겨 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T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</a:p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강전계에선 넘기지 못해 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≫ T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광학 포논이 뚜껑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열전자가 소자에 남기는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속도 포화 너머 — 충돌 이온화 · 산화막 주입 · GaAs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200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① 속도 포화</a:t>
            </a:r>
          </a:p>
        </p:txBody>
      </p:sp>
      <p:sp>
        <p:nvSpPr>
          <p:cNvPr id="11" name="Panel 11"/>
          <p:cNvSpPr/>
          <p:nvPr/>
        </p:nvSpPr>
        <p:spPr>
          <a:xfrm>
            <a:off x="3200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2" name="TextBox 12"/>
          <p:cNvSpPr txBox="1"/>
          <p:nvPr/>
        </p:nvSpPr>
        <p:spPr>
          <a:xfrm>
            <a:off x="32135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② 충돌 이온화</a:t>
            </a:r>
          </a:p>
        </p:txBody>
      </p:sp>
      <p:sp>
        <p:nvSpPr>
          <p:cNvPr id="13" name="Panel 13"/>
          <p:cNvSpPr/>
          <p:nvPr/>
        </p:nvSpPr>
        <p:spPr>
          <a:xfrm>
            <a:off x="32135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4" name="TextBox 14"/>
          <p:cNvSpPr txBox="1"/>
          <p:nvPr/>
        </p:nvSpPr>
        <p:spPr>
          <a:xfrm>
            <a:off x="61070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③ 산화막으로 주입</a:t>
            </a:r>
          </a:p>
        </p:txBody>
      </p:sp>
      <p:sp>
        <p:nvSpPr>
          <p:cNvPr id="15" name="Panel 15"/>
          <p:cNvSpPr/>
          <p:nvPr/>
        </p:nvSpPr>
        <p:spPr>
          <a:xfrm>
            <a:off x="61070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16" name="Connector 16"/>
          <p:cNvCxnSpPr/>
          <p:nvPr/>
        </p:nvCxnSpPr>
        <p:spPr>
          <a:xfrm>
            <a:off x="640000" y="2105000"/>
            <a:ext cx="0" cy="1100000"/>
          </a:xfrm>
          <a:prstGeom prst="straightConnector1">
            <a:avLst/>
          </a:prstGeom>
          <a:ln w="12700" cap="rnd">
            <a:solidFill>
              <a:srgbClr val="6E6E6E"/>
            </a:solidFill>
          </a:ln>
        </p:spPr>
      </p:cxnSp>
      <p:cxnSp>
        <p:nvCxnSpPr>
          <p:cNvPr id="17" name="Connector 17"/>
          <p:cNvCxnSpPr/>
          <p:nvPr/>
        </p:nvCxnSpPr>
        <p:spPr>
          <a:xfrm>
            <a:off x="640000" y="3205000"/>
            <a:ext cx="2030000" cy="0"/>
          </a:xfrm>
          <a:prstGeom prst="straightConnector1">
            <a:avLst/>
          </a:prstGeom>
          <a:ln w="12700" cap="rnd">
            <a:solidFill>
              <a:srgbClr val="6E6E6E"/>
            </a:solidFill>
          </a:ln>
        </p:spPr>
      </p:cxnSp>
      <p:cxnSp>
        <p:nvCxnSpPr>
          <p:cNvPr id="18" name="Connector 18"/>
          <p:cNvCxnSpPr/>
          <p:nvPr/>
        </p:nvCxnSpPr>
        <p:spPr>
          <a:xfrm flipV="1">
            <a:off x="660000" y="2585000"/>
            <a:ext cx="910000" cy="560000"/>
          </a:xfrm>
          <a:prstGeom prst="straightConnector1">
            <a:avLst/>
          </a:prstGeom>
          <a:ln w="28575" cap="rnd">
            <a:solidFill>
              <a:srgbClr val="203864"/>
            </a:solidFill>
          </a:ln>
        </p:spPr>
      </p:cxnSp>
      <p:cxnSp>
        <p:nvCxnSpPr>
          <p:cNvPr id="19" name="Connector 19"/>
          <p:cNvCxnSpPr/>
          <p:nvPr/>
        </p:nvCxnSpPr>
        <p:spPr>
          <a:xfrm>
            <a:off x="1570000" y="2585000"/>
            <a:ext cx="1030000" cy="0"/>
          </a:xfrm>
          <a:prstGeom prst="straightConnector1">
            <a:avLst/>
          </a:prstGeom>
          <a:ln w="28575" cap="rnd">
            <a:solidFill>
              <a:srgbClr val="203864"/>
            </a:solidFill>
          </a:ln>
        </p:spPr>
      </p:cxnSp>
      <p:sp>
        <p:nvSpPr>
          <p:cNvPr id="20" name="TextBox 20"/>
          <p:cNvSpPr txBox="1"/>
          <p:nvPr/>
        </p:nvSpPr>
        <p:spPr>
          <a:xfrm>
            <a:off x="500000" y="1850000"/>
            <a:ext cx="5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1100" b="0" i="1" baseline="-2500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d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700000" y="3130000"/>
            <a:ext cx="25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Cambria"/>
                <a:ea typeface="Cambria"/>
                <a:cs typeface="Cambria"/>
              </a:rPr>
              <a:t>𝓔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070000" y="2300000"/>
            <a:ext cx="65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1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12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3333500" y="2125000"/>
            <a:ext cx="56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열전자</a:t>
            </a:r>
          </a:p>
        </p:txBody>
      </p:sp>
      <p:sp>
        <p:nvSpPr>
          <p:cNvPr id="24" name="HotElectron 24"/>
          <p:cNvSpPr/>
          <p:nvPr/>
        </p:nvSpPr>
        <p:spPr>
          <a:xfrm>
            <a:off x="3463500" y="2405000"/>
            <a:ext cx="200000" cy="2000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25" name="Connector 25"/>
          <p:cNvCxnSpPr/>
          <p:nvPr/>
        </p:nvCxnSpPr>
        <p:spPr>
          <a:xfrm>
            <a:off x="3713500" y="2505000"/>
            <a:ext cx="390000" cy="0"/>
          </a:xfrm>
          <a:prstGeom prst="straightConnector1">
            <a:avLst/>
          </a:prstGeom>
          <a:ln w="28575" cap="rnd">
            <a:solidFill>
              <a:srgbClr val="C00000"/>
            </a:solidFill>
            <a:tailEnd type="triangle" w="med" len="med"/>
          </a:ln>
        </p:spPr>
      </p:cxnSp>
      <p:sp>
        <p:nvSpPr>
          <p:cNvPr id="26" name="Bond 26"/>
          <p:cNvSpPr/>
          <p:nvPr/>
        </p:nvSpPr>
        <p:spPr>
          <a:xfrm>
            <a:off x="4143500" y="2325000"/>
            <a:ext cx="560000" cy="3600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결합</a:t>
            </a:r>
          </a:p>
        </p:txBody>
      </p:sp>
      <p:cxnSp>
        <p:nvCxnSpPr>
          <p:cNvPr id="27" name="Connector 27"/>
          <p:cNvCxnSpPr/>
          <p:nvPr/>
        </p:nvCxnSpPr>
        <p:spPr>
          <a:xfrm flipV="1">
            <a:off x="4743500" y="2225000"/>
            <a:ext cx="410000" cy="235000"/>
          </a:xfrm>
          <a:prstGeom prst="straightConnector1">
            <a:avLst/>
          </a:prstGeom>
          <a:ln w="19050" cap="rnd">
            <a:solidFill>
              <a:srgbClr val="203864"/>
            </a:solidFill>
            <a:tailEnd type="triangle" w="med" len="med"/>
          </a:ln>
        </p:spPr>
      </p:cxnSp>
      <p:cxnSp>
        <p:nvCxnSpPr>
          <p:cNvPr id="28" name="Connector 28"/>
          <p:cNvCxnSpPr/>
          <p:nvPr/>
        </p:nvCxnSpPr>
        <p:spPr>
          <a:xfrm>
            <a:off x="4743500" y="2550000"/>
            <a:ext cx="410000" cy="235000"/>
          </a:xfrm>
          <a:prstGeom prst="straightConnector1">
            <a:avLst/>
          </a:prstGeom>
          <a:ln w="19050" cap="rnd">
            <a:solidFill>
              <a:srgbClr val="C00000"/>
            </a:solidFill>
            <a:tailEnd type="triangle" w="med" len="med"/>
          </a:ln>
        </p:spPr>
      </p:cxnSp>
      <p:sp>
        <p:nvSpPr>
          <p:cNvPr id="29" name="TextBox 29"/>
          <p:cNvSpPr txBox="1"/>
          <p:nvPr/>
        </p:nvSpPr>
        <p:spPr>
          <a:xfrm>
            <a:off x="5203500" y="2095000"/>
            <a:ext cx="6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전자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203500" y="2700000"/>
            <a:ext cx="6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정공</a:t>
            </a:r>
          </a:p>
        </p:txBody>
      </p:sp>
      <p:cxnSp>
        <p:nvCxnSpPr>
          <p:cNvPr id="31" name="Connector 31"/>
          <p:cNvCxnSpPr/>
          <p:nvPr/>
        </p:nvCxnSpPr>
        <p:spPr>
          <a:xfrm>
            <a:off x="6307000" y="2900000"/>
            <a:ext cx="700000" cy="0"/>
          </a:xfrm>
          <a:prstGeom prst="straightConnector1">
            <a:avLst/>
          </a:prstGeom>
          <a:ln w="25400" cap="rnd">
            <a:solidFill>
              <a:srgbClr val="203864"/>
            </a:solidFill>
          </a:ln>
        </p:spPr>
      </p:cxnSp>
      <p:cxnSp>
        <p:nvCxnSpPr>
          <p:cNvPr id="32" name="Connector 32"/>
          <p:cNvCxnSpPr/>
          <p:nvPr/>
        </p:nvCxnSpPr>
        <p:spPr>
          <a:xfrm flipV="1">
            <a:off x="7007000" y="2300000"/>
            <a:ext cx="0" cy="600000"/>
          </a:xfrm>
          <a:prstGeom prst="straightConnector1">
            <a:avLst/>
          </a:prstGeom>
          <a:ln w="25400" cap="rnd">
            <a:solidFill>
              <a:srgbClr val="203864"/>
            </a:solidFill>
          </a:ln>
        </p:spPr>
      </p:cxnSp>
      <p:cxnSp>
        <p:nvCxnSpPr>
          <p:cNvPr id="33" name="Connector 33"/>
          <p:cNvCxnSpPr/>
          <p:nvPr/>
        </p:nvCxnSpPr>
        <p:spPr>
          <a:xfrm>
            <a:off x="7007000" y="2300000"/>
            <a:ext cx="800000" cy="0"/>
          </a:xfrm>
          <a:prstGeom prst="straightConnector1">
            <a:avLst/>
          </a:prstGeom>
          <a:ln w="25400" cap="rnd">
            <a:solidFill>
              <a:srgbClr val="203864"/>
            </a:solidFill>
          </a:ln>
        </p:spPr>
      </p:cxnSp>
      <p:cxnSp>
        <p:nvCxnSpPr>
          <p:cNvPr id="34" name="Connector 34"/>
          <p:cNvCxnSpPr/>
          <p:nvPr/>
        </p:nvCxnSpPr>
        <p:spPr>
          <a:xfrm>
            <a:off x="7807000" y="2300000"/>
            <a:ext cx="0" cy="600000"/>
          </a:xfrm>
          <a:prstGeom prst="straightConnector1">
            <a:avLst/>
          </a:prstGeom>
          <a:ln w="25400" cap="rnd">
            <a:solidFill>
              <a:srgbClr val="203864"/>
            </a:solidFill>
          </a:ln>
        </p:spPr>
      </p:cxnSp>
      <p:cxnSp>
        <p:nvCxnSpPr>
          <p:cNvPr id="35" name="Connector 35"/>
          <p:cNvCxnSpPr/>
          <p:nvPr/>
        </p:nvCxnSpPr>
        <p:spPr>
          <a:xfrm>
            <a:off x="7807000" y="2900000"/>
            <a:ext cx="750000" cy="0"/>
          </a:xfrm>
          <a:prstGeom prst="straightConnector1">
            <a:avLst/>
          </a:prstGeom>
          <a:ln w="25400" cap="rnd">
            <a:solidFill>
              <a:srgbClr val="203864"/>
            </a:solidFill>
          </a:ln>
        </p:spPr>
      </p:cxnSp>
      <p:sp>
        <p:nvSpPr>
          <p:cNvPr id="36" name="TextBox 36"/>
          <p:cNvSpPr txBox="1"/>
          <p:nvPr/>
        </p:nvSpPr>
        <p:spPr>
          <a:xfrm>
            <a:off x="7057000" y="2430000"/>
            <a:ext cx="7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3.1 eV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057000" y="265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산화막</a:t>
            </a:r>
          </a:p>
        </p:txBody>
      </p:sp>
      <p:sp>
        <p:nvSpPr>
          <p:cNvPr id="38" name="HotElectron 38"/>
          <p:cNvSpPr/>
          <p:nvPr/>
        </p:nvSpPr>
        <p:spPr>
          <a:xfrm>
            <a:off x="6487000" y="2740000"/>
            <a:ext cx="170000" cy="1700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39" name="Connector 39"/>
          <p:cNvCxnSpPr/>
          <p:nvPr/>
        </p:nvCxnSpPr>
        <p:spPr>
          <a:xfrm flipV="1">
            <a:off x="6587000" y="2120000"/>
            <a:ext cx="370000" cy="670000"/>
          </a:xfrm>
          <a:prstGeom prst="straightConnector1">
            <a:avLst/>
          </a:prstGeom>
          <a:ln w="25400" cap="rnd">
            <a:solidFill>
              <a:srgbClr val="C00000"/>
            </a:solidFill>
          </a:ln>
        </p:spPr>
      </p:cxnSp>
      <p:cxnSp>
        <p:nvCxnSpPr>
          <p:cNvPr id="40" name="Connector 40"/>
          <p:cNvCxnSpPr/>
          <p:nvPr/>
        </p:nvCxnSpPr>
        <p:spPr>
          <a:xfrm>
            <a:off x="6957000" y="2120000"/>
            <a:ext cx="1150000" cy="0"/>
          </a:xfrm>
          <a:prstGeom prst="straightConnector1">
            <a:avLst/>
          </a:prstGeom>
          <a:ln w="25400" cap="rnd">
            <a:solidFill>
              <a:srgbClr val="C00000"/>
            </a:solidFill>
            <a:tailEnd type="triangle" w="med" len="med"/>
          </a:ln>
        </p:spPr>
      </p:cxnSp>
      <p:sp>
        <p:nvSpPr>
          <p:cNvPr id="41" name="TextBox 41"/>
          <p:cNvSpPr txBox="1"/>
          <p:nvPr/>
        </p:nvSpPr>
        <p:spPr>
          <a:xfrm>
            <a:off x="7007000" y="1840000"/>
            <a:ext cx="10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열전자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257000" y="294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Si (채널)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957000" y="294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게이트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3200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포논으로 흘려 더 안 빨라짐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13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s</a:t>
            </a: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≈ 10</a:t>
            </a:r>
            <a:r>
              <a:rPr sz="1300" b="0" i="0" baseline="30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cm/s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2135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깨진 결합이 EHP 한 쌍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애벌랜치 — 5.4.2 절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61070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갇힌 전하가 소자를 늙힘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열전자 열화 — HCI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457200" y="4160000"/>
            <a:ext cx="82296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GaAs 는 전자가 무거운 계곡으로 옮겨 가 속도가 되레 줄어든다 — 음성저항(10 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853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에너지를 포논으로 흘려 더 빨라지지 않음 — 속도 포화</a:t>
            </a:r>
          </a:p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더 센 전계에선 결합을 깨 EHP 를 만듦 — 충돌 이온화</a:t>
            </a:r>
          </a:p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장벽을 넘어 산화막에 갇히면 소자가 늙음 — HCI 열화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ユーザー定義 1">
      <a:majorFont>
        <a:latin typeface="Verdana"/>
        <a:ea typeface="メイリオ"/>
        <a:cs typeface=""/>
      </a:majorFont>
      <a:minorFont>
        <a:latin typeface="Verdana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2400">
            <a:latin typeface="ＭＳ Ｐゴシック" panose="020B0600070205080204" pitchFamily="50" charset="-128"/>
            <a:ea typeface="ＭＳ Ｐゴシック" panose="020B0600070205080204" pitchFamily="50" charset="-128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35021</TotalTime>
  <Words>674</Words>
  <Application>Microsoft Office PowerPoint</Application>
  <PresentationFormat>화면 슬라이드 쇼(4:3)</PresentationFormat>
  <Paragraphs>255</Paragraphs>
  <Slides>8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9" baseType="lpstr">
      <vt:lpstr>HY견고딕</vt:lpstr>
      <vt:lpstr>ＭＳ Ｐゴシック</vt:lpstr>
      <vt:lpstr>Yu Gothic</vt:lpstr>
      <vt:lpstr>Yu Mincho</vt:lpstr>
      <vt:lpstr>돋움</vt:lpstr>
      <vt:lpstr>맑은 고딕 Semilight</vt:lpstr>
      <vt:lpstr>Arial</vt:lpstr>
      <vt:lpstr>Calibri</vt:lpstr>
      <vt:lpstr>Verdana</vt:lpstr>
      <vt:lpstr>Wingdings</vt:lpstr>
      <vt:lpstr>Office テーマ</vt:lpstr>
      <vt:lpstr>PowerPoint 프레젠테이션</vt:lpstr>
      <vt:lpstr>담당 교수</vt:lpstr>
      <vt:lpstr>강의 정보</vt:lpstr>
      <vt:lpstr>평가 및 과제 정보</vt:lpstr>
      <vt:lpstr>주차 별 강의 계획</vt:lpstr>
      <vt:lpstr>주차 별 강의 계획</vt:lpstr>
      <vt:lpstr>기타 정보</vt:lpstr>
      <vt:lpstr>PowerPoint 프레젠테이션</vt:lpstr>
    </vt:vector>
  </TitlesOfParts>
  <Company>東京工業大学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Lee</dc:creator>
  <cp:lastModifiedBy>Sang_yeop Lee</cp:lastModifiedBy>
  <cp:revision>2481</cp:revision>
  <cp:lastPrinted>2026-01-05T02:52:01Z</cp:lastPrinted>
  <dcterms:created xsi:type="dcterms:W3CDTF">2017-12-10T06:56:12Z</dcterms:created>
  <dcterms:modified xsi:type="dcterms:W3CDTF">2026-03-03T07:07:09Z</dcterms:modified>
</cp:coreProperties>
</file>