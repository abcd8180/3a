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단위와 길이·농도" id="{b3f91d82-d7f3-8dae-61dc-48ec9c0f8a37}">
          <p14:sldIdLst>
            <p14:sldId id="256"/>
            <p14:sldId id="257"/>
            <p14:sldId id="258"/>
            <p14:sldId id="259"/>
          </p14:sldIdLst>
        </p14:section>
        <p14:section name="2. 에너지: J과 eV" id="{ad8c80cc-512e-1114-2fb8-ddff9075c862}">
          <p14:sldIdLst>
            <p14:sldId id="260"/>
            <p14:sldId id="261"/>
            <p14:sldId id="262"/>
          </p14:sldIdLst>
        </p14:section>
        <p14:section name="3. kT와 kT/q" id="{6f2844b2-b9f5-c63d-0e17-5f5890a20adc}">
          <p14:sldIdLst>
            <p14:sldId id="263"/>
            <p14:sldId id="264"/>
            <p14:sldId id="265"/>
            <p14:sldId id="266"/>
            <p14:sldId id="267"/>
            <p14:sldId id="268"/>
            <p14:sldId id="269"/>
          </p14:sldIdLst>
        </p14:section>
        <p14:section name="4. 정리와 연습" id="{71b5b16b-a3b3-cd70-97bb-0259b940ae1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시간은 시험 문제 풀이가 아니라, 반도체 공부 전체에서 계속 쓰게 될 단위 환산을 처음부터 정리하는 시간입니다. 고등학교 물리만 알아도 따라올 수 있도록 예제마다 단계별로 풉니다. 아래 세 개의 숫자가 오늘의 핵심입니다. 끝날 때쯤에는 세 숫자가 각각 무엇을 뜻하고 왜 0.0259라는 숫자가 두 번 나오는지 설명할 수 있어야 합니다. 사용한 상수: q = 1.602×10⁻¹⁹ C, k = 1.381×10⁻²³ J/K = 8.617×10⁻⁵ eV/K, h = 6.626×10⁻³⁴ J·s (CODATA 2018 값을 유효숫자 4자리로 반올림).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카드는 모두 같은 길이입니다. 숫자는 1, 100, 10억으로 전혀 다르지만 양은 똑같습니다. 그래서 숫자만 보면 안 되고 숫자와 단위를 한 묶음으로 봐야 합니다. 단위 환산은 양을 바꾸는 것이 아니라 이름표만 바꾸는 것입니다. 가장 안전한 방법은 값이 1인 분수(100 cm / 1 m)를 곱하고, 분자와 분모의 같은 단위를 약분하는 것입니다. 오늘 모든 예제를 이 방식으로 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반도체에서는 아주 작은 길이와 아주 작은 에너지를 다룹니다. 그래서 접두어가 끊임없이 나옵니다. 주의할 점: m은 미터일 수도, 밀리일 수도 있습니다. mm에서 앞의 m은 밀리, 뒤의 m은 미터입니다. 옹스트롬은 SI 접두어가 아니지만 결정 구조에서 자주 쓰이므로 함께 기억합시다. 계산할 때는 접두어를 10의 거듭제곱으로 풀어 써야 실수가 줄어듭니다. 예를 들어 650 nm는 650×10⁻⁹ m = 6.5×10⁻⁷ m입니다.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반도체 교재에서는 SI 단위인 m 대신 cm를 기준으로 농도를 씁니다. 전자 농도, 정공 농도, 도핑 농도 모두 cm⁻³입니다. 문제는 부피가 길이의 세제곱이라는 점입니다. 길이가 100배면 부피는 100의 세제곱, 즉 백만 배입니다. 그래서 cm⁻³를 m⁻³로 바꿀 때는 10⁶을 곱합니다. 마이너스 지수라서 헷갈리면 ‘1 cm³ 상자에 1개’를 ‘1 m³ 상자에는 몇 개?’로 바꿔 생각해 보세요. 큰 상자에는 백만 개가 들어갑니다. 오른쪽 예시는 비율 계산에서는 단위가 같으면 환산 없이 바로 나눌 수 있다는 것도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고등학교 물리에서 전기력이 한 일 W = qV를 배웠습니다. 전하 q를 쿨롱, 전압 V를 볼트로 넣으면 결과는 줄(J)입니다. 이제 전하 자리에 기본 전하 1.602×10⁻¹⁹ C, 전위차 자리에 1 V를 넣으면 1.602×10⁻¹⁹ J이라는 아주 작은 값이 나옵니다. 매번 이 작은 숫자를 쓰기 귀찮으니 이 양에 1 eV라는 이름을 붙인 것입니다. 엄밀히 전자의 전하는 −q이고, q는 그 크기(기본 전하)입니다. 그래서 전자는 전위가 높은 쪽으로 움직일 때 에너지를 얻습니다. 중요한 점: eV는 전압 단위가 아니라 에너지 단위입니다. 이름에 볼트가 들어 있어서 자주 헷갈립니다.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J은 손으로 느낄 수 있는 크기입니다. 사과 100 g을 1 m 들어 올리면 mgh = 0.1 × 9.8 × 1 ≈ 0.98 J, 약 1 J입니다. 반면 전자 세계의 에너지는 10⁻¹⁹ J 수준이라 J로 쓰면 숫자가 너무 작습니다. 표를 보면 eV 열은 1 근처의 다루기 쉬운 숫자인데 J 열은 전부 10⁻¹⁹, 10⁻²¹ 같은 지수가 붙습니다. 그래서 반도체에서는 eV를 주로 씁니다. 다만 공식에 h처럼 SI 단위 상수를 넣을 때는 J로 계산해야 하므로 두 방향 변환을 모두 자유롭게 할 수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빛은 광자라는 알갱이로 오고, 광자 1개의 에너지는 E = hν = hc/λ입니다(2장). 핵심은 h가 J·s 단위이므로 λ도 반드시 m로 바꿔 넣어야 한다는 것입니다. nm 그대로 650을 넣으면 답이 10⁹배 틀립니다. 계산 결과는 J로 나오고, 이를 1.602×10⁻¹⁹로 나누면 eV가 됩니다. 1240이라는 숫자는 hc를 eV·nm 단위로 바꾼 값입니다: hc = 1.986×10⁻²⁵ J·m ÷ 1.602×10⁻¹⁹ J/eV = 1.24×10⁻⁶ eV·m = 1240 eV·nm. 지름길을 쓰려면 이 숫자가 어디서 왔는지 알고 써야 합니다. 마지막 줄은 실리콘 카메라 센서가 가시광선은 잘 보지만 약 1.1 μm보다 긴 적외선은 거의 못 보는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온도는 원자들이 얼마나 활발히 흔들리는지를 나타냅니다. 볼츠만 상수 k를 곱하면 온도(K)가 에너지(J 또는 eV)로 바뀝니다. kT는 ‘이 온도에서 열이 줄 수 있는 에너지의 대표 크기’, 즉 열에너지의 눈금자라고 생각하면 됩니다. k는 두 가지 이름표로 쓸 수 있습니다. 1.381×10⁻²³ J/K를 1.602×10⁻¹⁹로 나누면 8.617×10⁻⁵ eV/K가 됩니다. 실온의 kT ≈ 0.0259 eV는 반도체에서 가장 많이 쓰는 숫자 중 하나이니 외워 둡시다. 아래 막대는 kT와 실리콘 밴드갭의 크기를 같은 눈금으로 그린 것입니다(길이 비 1 : 43). 밴드갭이 kT의 약 43배이므로 순수한 실리콘에는 자유 전자가 아주 적습니다. 온도는 반드시 켈빈(K)으로 넣어야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exp나 ln 같은 함수 안에는 단위가 있는 양이 들어갈 수 없습니다. e의 ‘3미터’ 제곱은 의미가 없기 때문입니다. 그래서 exp(−E/kT)에서는 E와 kT가 같은 단위여야 하고, 나누면 단위가 사라져야 합니다. 왼쪽처럼 둘 다 eV로 맞추면 1.74라는 순수한 숫자가 나옵니다. 오른쪽은 E는 eV로, k는 J/K로 넣은 경우입니다. 단위가 섞이는 순간 지수가 10¹⁹배 커져 답이 완전히 틀어집니다. 계산기는 경고해 주지 않습니다. 계산 전에 ‘분자와 분모 단위가 같은가’를 반드시 확인합시다. 마지막 줄의 비교는 도핑이 왜 효과적인지 보여 줍니다. 여기서 0.18은 크기를 비교하기 위한 볼츠만 인자 값이며, 이온화된 도너의 비율을 정확히 계산한 것은 아닙니다(실온에서 인 도너는 사실상 모두 이온화됨, 3.3절).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3장에서 배운 평형 전자 농도 식입니다. 단위 환산 관점에서 이 식은 두 부분으로 나뉩니다. 지수 부분은 에너지 ÷ 에너지라서 단위가 없는 숫자이고, 앞의 Nc가 농도의 단위를 들고 있습니다. 그래서 답의 단위는 Nc를 어떤 단위로 넣었는지가 결정합니다. ①에서 Ec − EF를 eV로 줬으니 kT도 eV(0.0259 eV)로 맞춥니다. kT를 J로 쓰고 싶다면 Ec − EF도 J로 바꿔야 합니다. 결과 1.24×10¹⁶ cm⁻³는 도핑 농도 약 10¹⁶ cm⁻³인 n형 Si의 전형적인 값입니다. 거꾸로 n₀ = 10¹⁶ cm⁻³이면 Ec − EF = kT·ln(Nc/n₀) = 0.0259 × ln(2800) ≈ 0.21 eV입니다. ln 안도 cm⁻³ ÷ cm⁻³로 단위가 사라지는 것을 확인하세요. Nc 값은 교재(300 K Si) 값을 사용했습니다.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가장 중요한 한 장입니다. 실온에서 kT는 0.0259 eV이고 kT/q는 0.0259 V입니다. 숫자가 똑같아서 많은 학생이 두 개를 같은 것으로 착각합니다. 그러나 하나는 에너지, 하나는 전압입니다. 3 m와 3 s가 같은 숫자 3을 가졌다고 같은 양이 아닌 것과 같습니다. 다음 장에서 왜 숫자가 같은지, 어디에 각각 쓰이는지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kT는 에너지이고, 이를 기본 전하 q로 나눈 kT/q는 ‘전하 1 C당 에너지’, 즉 전압입니다. 물에 비유하면 kT는 물방울 하나가 가진 위치에너지, kT/q는 그 물방울이 있는 높이에 해당합니다. 높이는 물방울 크기와 상관없는 ‘장소의 성질’이듯, 전압도 전하량과 상관없는 성질입니다. 숫자가 같은 이유는 eV의 정의 자체가 ‘기본 전하 × 1 V’이기 때문입니다. 그래서 eV 단위의 숫자를 q로 나누면 같은 숫자의 V가 됩니다. J로 계산하면 4.14×10⁻²¹과 0.0259처럼 숫자가 달라 보이는 것에 주의하세요. 규칙: 에너지와 비교할 때는 kT, 전압과 비교할 때는 kT/q를 씁니다. kT/q는 4장(확산과 아인슈타인 관계)과 5장(pn 접합)에서 매우 자주 등장하니 지금 확실히 구분해 둡시다.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kT/q를 3장 범위 안에서 쓰는 예제입니다. 전자가 전위차 V를 지나면 에너지 qV를 얻습니다. 얻는 에너지가 kT가 되려면 전위차는 kT/q, 즉 0.0259 V여야 합니다. 여기서 kT(에너지)와 kT/q(전압)의 차이가 그대로 드러납니다. 균일한 전계에서는 전위차 = 전계 × 거리이므로 거리 = 전위차 ÷ 전계입니다. 단위를 보면 V ÷ (V/cm) = cm로 깔끔하게 정리됩니다. kT(eV)를 V/cm로 나누면 eV·cm/V라는 어색한 단위가 남는데, 이것이 잘못 넣었다는 신호입니다. 대역도로 보면 전계가 있을 때 Ec가 기울어지고(그림 3-9), 기울기가 qℰ입니다. 10³ V/cm에서는 259 nm 이동할 때 Ec가 0.0259 eV 낮아집니다. 실제 결정에서는 이보다 짧은 거리마다 산란이 일어나 에너지를 잃기 때문에 ‘산란 무시’라는 조건을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kT는 온도에 정비례합니다. 표의 모든 값은 k × T 한 번으로 구할 수 있으니 학생들에게 한 줄씩 직접 계산하게 해 보세요. 예: 77 K에서 8.617×10⁻⁵ × 77 = 0.00664 eV. 27 °C를 켈빈으로 바꾸지 않고 27을 그대로 넣으면 kT가 열 배 이상 작게 나오는 큰 실수가 됩니다. 마지막으로 kT를 eV로 구했다면 같은 숫자를 V로 읽은 것이 kT/q입니다. mV로 바꿀 때는 1000을 곱합니다. 액체 질소 온도에서는 kT가 작아져서 열에 의한 효과가 줄어듭니다. 그래서 감도가 높은 적외선 센서 등은 냉각해서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다룬 함정을 여섯 가지로 정리했습니다. 파란색 1~3번은 숫자를 바꾸는 환산, 주황색 4~6번은 식에 무엇을 넣을지 고르는 문제입니다. 2번은 단위가 분모에 있을 때 방향이 뒤집히는 경우입니다. 1 cm = 10⁻² m이지만 1/cm = 10²/m이므로 V/cm 값에는 100을 곱해야 V/m가 됩니다. 계산을 마친 뒤에는 항상 답의 단위가 원하는 단위와 같은지, 크기가 상식적인지(예: 광자 에너지가 수 eV 정도인지) 확인하는 습관을 들이면 대부분의 실수를 잡을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문제는 오늘 예제 하나씩과 짝을 이룹니다. 문제 1은 예제 1, 문제 2는 온도 표, 문제 3은 예제 3, 문제 4는 eV–J 환산과 kT 비교입니다. 5분 정도 시간을 주고, 반드시 단위를 끝까지 들고 다니며 풀도록 지도하세요. 정답은 다음 장에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정답을 확인할 때 숫자뿐 아니라 단위까지 맞았는지 함께 확인하게 하세요. 문제 2에서 kT를 eV로 구한 뒤 같은 숫자를 V로 읽는 과정이 kT와 kT/q의 관계를 정확히 보여 줍니다. 문제 3은 exp 안을 eV끼리 나누고, 마지막에 cm⁻³를 m⁻³로 바꾸는(×10⁶) 두 가지 환산을 모두 연습합니다: 1.04×10¹⁹ × 6.43×10⁻⁵ = 6.7×10¹⁴ cm⁻³. 문제 4는 단위를 맞춘 비교가 물리적 의미를 준다는 점을 보여 줍니다. 저마늄은 밴드갭이 kT의 약 25.5배로 실리콘보다 작기 때문에, 실온에서 진성 캐리어가 훨씬 많고 온도에 더 민감합니다. 오늘의 한 줄 요약: 단위는 숫자의 이름표이고, 끝까지 들고 다니면 답이 맞는지 스스로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813816" y="6272784"/>
            <a:ext cx="5486400" cy="274320"/>
          </a:xfrm>
          <a:prstGeom prst="rect">
            <a:avLst/>
          </a:prstGeom>
          <a:noFill/>
          <a:ln/>
        </p:spPr>
        <p:txBody>
          <a:bodyPr wrap="square" lIns="0" tIns="0" rIns="0" bIns="0" rtlCol="0" anchor="ctr"/>
          <a:lstStyle/>
          <a:p>
            <a:pPr indent="0" marL="0">
              <a:buNone/>
            </a:pPr>
            <a:r>
              <a:rPr lang="en-US" sz="1200" dirty="0">
                <a:solidFill>
                  <a:srgbClr val="6B7280"/>
                </a:solidFill>
              </a:rPr>
              <a:t>물리전자공학 · 단위 환산</a:t>
            </a:r>
            <a:endParaRPr lang="en-US" sz="12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13816" y="6272784"/>
            <a:ext cx="5486400" cy="274320"/>
          </a:xfrm>
          <a:prstGeom prst="rect">
            <a:avLst/>
          </a:prstGeom>
          <a:noFill/>
          <a:ln/>
        </p:spPr>
        <p:txBody>
          <a:bodyPr wrap="square" lIns="0" tIns="0" rIns="0" bIns="0" rtlCol="0" anchor="ctr"/>
          <a:lstStyle/>
          <a:p>
            <a:pPr indent="0" marL="0">
              <a:buNone/>
            </a:pPr>
            <a:r>
              <a:rPr lang="en-US" sz="1200" dirty="0">
                <a:solidFill>
                  <a:srgbClr val="9AA5B8"/>
                </a:solidFill>
              </a:rPr>
              <a:t>물리전자공학 · 단위 환산</a:t>
            </a:r>
            <a:endParaRPr lang="en-US" sz="12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9AA5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13816" y="1417320"/>
            <a:ext cx="10570464" cy="320040"/>
          </a:xfrm>
          <a:prstGeom prst="rect">
            <a:avLst/>
          </a:prstGeom>
          <a:noFill/>
          <a:ln/>
        </p:spPr>
        <p:txBody>
          <a:bodyPr wrap="square" lIns="0" tIns="0" rIns="0" bIns="0" rtlCol="0" anchor="t"/>
          <a:lstStyle/>
          <a:p>
            <a:pPr indent="0" marL="0">
              <a:lnSpc>
                <a:spcPct val="115000"/>
              </a:lnSpc>
              <a:buNone/>
            </a:pPr>
            <a:r>
              <a:rPr lang="en-US" sz="1500" b="1" spc="100" kern="0" dirty="0">
                <a:solidFill>
                  <a:schemeClr val="accent3"/>
                </a:solidFill>
              </a:rPr>
              <a:t>물리전자공학 · 보충 강의</a:t>
            </a:r>
            <a:endParaRPr lang="en-US" sz="1500" dirty="0"/>
          </a:p>
        </p:txBody>
      </p:sp>
      <p:sp>
        <p:nvSpPr>
          <p:cNvPr id="4" name="Text 1"/>
          <p:cNvSpPr txBox="1"/>
          <p:nvPr/>
        </p:nvSpPr>
        <p:spPr>
          <a:xfrm>
            <a:off x="813816" y="1874520"/>
            <a:ext cx="10570464" cy="1737360"/>
          </a:xfrm>
          <a:prstGeom prst="rect">
            <a:avLst/>
          </a:prstGeom>
          <a:noFill/>
          <a:ln/>
        </p:spPr>
        <p:txBody>
          <a:bodyPr wrap="square" lIns="0" tIns="0" rIns="0" bIns="0" rtlCol="0" anchor="t"/>
          <a:lstStyle/>
          <a:p>
            <a:pPr indent="0" marL="0">
              <a:lnSpc>
                <a:spcPct val="105000"/>
              </a:lnSpc>
              <a:buNone/>
            </a:pPr>
            <a:r>
              <a:rPr lang="en-US" sz="4600" b="1" dirty="0">
                <a:solidFill>
                  <a:schemeClr val="bg1"/>
                </a:solidFill>
              </a:rPr>
              <a:t>단위 환산,</a:t>
            </a:r>
            <a:endParaRPr lang="en-US" sz="4600" dirty="0"/>
          </a:p>
          <a:p>
            <a:pPr indent="0" marL="0">
              <a:lnSpc>
                <a:spcPct val="105000"/>
              </a:lnSpc>
              <a:buNone/>
            </a:pPr>
            <a:r>
              <a:rPr lang="en-US" sz="4600" b="1" dirty="0">
                <a:solidFill>
                  <a:schemeClr val="bg1"/>
                </a:solidFill>
              </a:rPr>
              <a:t>반도체를 읽는 언어</a:t>
            </a:r>
            <a:endParaRPr lang="en-US" sz="4600" dirty="0"/>
          </a:p>
        </p:txBody>
      </p:sp>
      <p:sp>
        <p:nvSpPr>
          <p:cNvPr id="5" name="Text 2"/>
          <p:cNvSpPr txBox="1"/>
          <p:nvPr/>
        </p:nvSpPr>
        <p:spPr>
          <a:xfrm>
            <a:off x="813816" y="3749040"/>
            <a:ext cx="10570464" cy="411480"/>
          </a:xfrm>
          <a:prstGeom prst="rect">
            <a:avLst/>
          </a:prstGeom>
          <a:noFill/>
          <a:ln/>
        </p:spPr>
        <p:txBody>
          <a:bodyPr wrap="square" lIns="0" tIns="0" rIns="0" bIns="0" rtlCol="0" anchor="t"/>
          <a:lstStyle/>
          <a:p>
            <a:pPr indent="0" marL="0">
              <a:lnSpc>
                <a:spcPct val="115000"/>
              </a:lnSpc>
              <a:buNone/>
            </a:pPr>
            <a:r>
              <a:rPr lang="en-US" sz="1800" dirty="0">
                <a:solidFill>
                  <a:srgbClr val="C9D3E3"/>
                </a:solidFill>
              </a:rPr>
              <a:t>J과 eV, kT와 kT/q — 같은 숫자, 다른 의미</a:t>
            </a:r>
            <a:endParaRPr lang="en-US" sz="1800" dirty="0"/>
          </a:p>
        </p:txBody>
      </p:sp>
      <p:sp>
        <p:nvSpPr>
          <p:cNvPr id="6" name="Shape 3"/>
          <p:cNvSpPr/>
          <p:nvPr/>
        </p:nvSpPr>
        <p:spPr>
          <a:xfrm>
            <a:off x="813816" y="4434840"/>
            <a:ext cx="3017520" cy="548640"/>
          </a:xfrm>
          <a:prstGeom prst="roundRect">
            <a:avLst>
              <a:gd name="adj" fmla="val 50000"/>
            </a:avLst>
          </a:prstGeom>
          <a:solidFill>
            <a:srgbClr val="22325A"/>
          </a:solidFill>
          <a:ln/>
        </p:spPr>
      </p:sp>
      <p:sp>
        <p:nvSpPr>
          <p:cNvPr id="7" name="Text 4"/>
          <p:cNvSpPr txBox="1"/>
          <p:nvPr/>
        </p:nvSpPr>
        <p:spPr>
          <a:xfrm>
            <a:off x="813816" y="4434840"/>
            <a:ext cx="3017520" cy="548640"/>
          </a:xfrm>
          <a:prstGeom prst="rect">
            <a:avLst/>
          </a:prstGeom>
          <a:noFill/>
          <a:ln/>
        </p:spPr>
        <p:txBody>
          <a:bodyPr wrap="square" lIns="0" tIns="0" rIns="0" bIns="0" rtlCol="0" anchor="ctr"/>
          <a:lstStyle/>
          <a:p>
            <a:pPr algn="ctr" indent="0" marL="0">
              <a:lnSpc>
                <a:spcPct val="115000"/>
              </a:lnSpc>
              <a:buNone/>
            </a:pPr>
            <a:r>
              <a:rPr lang="en-US" sz="1500" dirty="0">
                <a:solidFill>
                  <a:schemeClr val="bg1"/>
                </a:solidFill>
              </a:rPr>
              <a:t>1 eV = 1.602×10</a:t>
            </a:r>
            <a:pPr algn="ctr" indent="0" marL="0">
              <a:lnSpc>
                <a:spcPct val="115000"/>
              </a:lnSpc>
              <a:buNone/>
            </a:pPr>
            <a:r>
              <a:rPr lang="en-US" sz="1500" baseline="30000" dirty="0">
                <a:solidFill>
                  <a:schemeClr val="bg1"/>
                </a:solidFill>
              </a:rPr>
              <a:t>−19</a:t>
            </a:r>
            <a:pPr algn="ctr" indent="0" marL="0">
              <a:lnSpc>
                <a:spcPct val="115000"/>
              </a:lnSpc>
              <a:buNone/>
            </a:pPr>
            <a:r>
              <a:rPr lang="en-US" sz="1500" dirty="0">
                <a:solidFill>
                  <a:schemeClr val="bg1"/>
                </a:solidFill>
              </a:rPr>
              <a:t> J</a:t>
            </a:r>
            <a:endParaRPr lang="en-US" sz="1500" dirty="0"/>
          </a:p>
        </p:txBody>
      </p:sp>
      <p:sp>
        <p:nvSpPr>
          <p:cNvPr id="8" name="Shape 5"/>
          <p:cNvSpPr/>
          <p:nvPr/>
        </p:nvSpPr>
        <p:spPr>
          <a:xfrm>
            <a:off x="4014216" y="4434840"/>
            <a:ext cx="3246120" cy="548640"/>
          </a:xfrm>
          <a:prstGeom prst="roundRect">
            <a:avLst>
              <a:gd name="adj" fmla="val 50000"/>
            </a:avLst>
          </a:prstGeom>
          <a:solidFill>
            <a:srgbClr val="22325A"/>
          </a:solidFill>
          <a:ln/>
        </p:spPr>
      </p:sp>
      <p:sp>
        <p:nvSpPr>
          <p:cNvPr id="9" name="Text 6"/>
          <p:cNvSpPr txBox="1"/>
          <p:nvPr/>
        </p:nvSpPr>
        <p:spPr>
          <a:xfrm>
            <a:off x="4014216" y="4434840"/>
            <a:ext cx="3246120" cy="548640"/>
          </a:xfrm>
          <a:prstGeom prst="rect">
            <a:avLst/>
          </a:prstGeom>
          <a:noFill/>
          <a:ln/>
        </p:spPr>
        <p:txBody>
          <a:bodyPr wrap="square" lIns="0" tIns="0" rIns="0" bIns="0" rtlCol="0" anchor="ctr"/>
          <a:lstStyle/>
          <a:p>
            <a:pPr algn="ctr" indent="0" marL="0">
              <a:lnSpc>
                <a:spcPct val="115000"/>
              </a:lnSpc>
              <a:buNone/>
            </a:pPr>
            <a:r>
              <a:rPr lang="en-US" sz="1500" dirty="0">
                <a:solidFill>
                  <a:schemeClr val="bg1"/>
                </a:solidFill>
              </a:rPr>
              <a:t>kT ≈ 0.0259 eV (300 K)</a:t>
            </a:r>
            <a:endParaRPr lang="en-US" sz="1500" dirty="0"/>
          </a:p>
        </p:txBody>
      </p:sp>
      <p:sp>
        <p:nvSpPr>
          <p:cNvPr id="10" name="Shape 7"/>
          <p:cNvSpPr/>
          <p:nvPr/>
        </p:nvSpPr>
        <p:spPr>
          <a:xfrm>
            <a:off x="7443216" y="4434840"/>
            <a:ext cx="3291840" cy="548640"/>
          </a:xfrm>
          <a:prstGeom prst="roundRect">
            <a:avLst>
              <a:gd name="adj" fmla="val 50000"/>
            </a:avLst>
          </a:prstGeom>
          <a:solidFill>
            <a:srgbClr val="22325A"/>
          </a:solidFill>
          <a:ln/>
        </p:spPr>
      </p:sp>
      <p:sp>
        <p:nvSpPr>
          <p:cNvPr id="11" name="Text 8"/>
          <p:cNvSpPr txBox="1"/>
          <p:nvPr/>
        </p:nvSpPr>
        <p:spPr>
          <a:xfrm>
            <a:off x="7443216" y="4434840"/>
            <a:ext cx="3291840" cy="548640"/>
          </a:xfrm>
          <a:prstGeom prst="rect">
            <a:avLst/>
          </a:prstGeom>
          <a:noFill/>
          <a:ln/>
        </p:spPr>
        <p:txBody>
          <a:bodyPr wrap="square" lIns="0" tIns="0" rIns="0" bIns="0" rtlCol="0" anchor="ctr"/>
          <a:lstStyle/>
          <a:p>
            <a:pPr algn="ctr" indent="0" marL="0">
              <a:lnSpc>
                <a:spcPct val="115000"/>
              </a:lnSpc>
              <a:buNone/>
            </a:pPr>
            <a:r>
              <a:rPr lang="en-US" sz="1500" dirty="0">
                <a:solidFill>
                  <a:schemeClr val="bg1"/>
                </a:solidFill>
              </a:rPr>
              <a:t>kT/q ≈ 25.9 mV (300 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들어가며</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숫자에는 반드시 이름표(단위)가 붙는다</a:t>
            </a:r>
            <a:endParaRPr lang="en-US" sz="3000" dirty="0"/>
          </a:p>
        </p:txBody>
      </p:sp>
      <p:sp>
        <p:nvSpPr>
          <p:cNvPr id="5" name="unit-card-1"/>
          <p:cNvSpPr/>
          <p:nvPr/>
        </p:nvSpPr>
        <p:spPr>
          <a:xfrm>
            <a:off x="813816" y="1828800"/>
            <a:ext cx="3108960" cy="1600200"/>
          </a:xfrm>
          <a:prstGeom prst="roundRect">
            <a:avLst>
              <a:gd name="adj" fmla="val 6857"/>
            </a:avLst>
          </a:prstGeom>
          <a:solidFill>
            <a:schemeClr val="bg1"/>
          </a:solidFill>
          <a:ln w="12700">
            <a:solidFill>
              <a:srgbClr val="DCE2EC"/>
            </a:solidFill>
            <a:prstDash val="solid"/>
          </a:ln>
        </p:spPr>
      </p:sp>
      <p:sp>
        <p:nvSpPr>
          <p:cNvPr id="6" name="Text 3"/>
          <p:cNvSpPr txBox="1"/>
          <p:nvPr/>
        </p:nvSpPr>
        <p:spPr>
          <a:xfrm>
            <a:off x="813816" y="2011680"/>
            <a:ext cx="3108960" cy="822960"/>
          </a:xfrm>
          <a:prstGeom prst="rect">
            <a:avLst/>
          </a:prstGeom>
          <a:noFill/>
          <a:ln/>
        </p:spPr>
        <p:txBody>
          <a:bodyPr wrap="square" lIns="0" tIns="0" rIns="0" bIns="0" rtlCol="0" anchor="ctr"/>
          <a:lstStyle/>
          <a:p>
            <a:pPr algn="ctr" indent="0" marL="0">
              <a:lnSpc>
                <a:spcPct val="115000"/>
              </a:lnSpc>
              <a:buNone/>
            </a:pPr>
            <a:r>
              <a:rPr lang="en-US" sz="4400" b="1" dirty="0">
                <a:solidFill>
                  <a:schemeClr val="accent1"/>
                </a:solidFill>
              </a:rPr>
              <a:t>1 </a:t>
            </a:r>
            <a:pPr algn="ctr" indent="0" marL="0">
              <a:lnSpc>
                <a:spcPct val="115000"/>
              </a:lnSpc>
              <a:buNone/>
            </a:pPr>
            <a:r>
              <a:rPr lang="en-US" sz="4400" b="1" dirty="0">
                <a:solidFill>
                  <a:schemeClr val="tx1"/>
                </a:solidFill>
              </a:rPr>
              <a:t>m</a:t>
            </a:r>
            <a:endParaRPr lang="en-US" sz="4400" dirty="0"/>
          </a:p>
        </p:txBody>
      </p:sp>
      <p:sp>
        <p:nvSpPr>
          <p:cNvPr id="7" name="Text 4"/>
          <p:cNvSpPr txBox="1"/>
          <p:nvPr/>
        </p:nvSpPr>
        <p:spPr>
          <a:xfrm>
            <a:off x="813816" y="2852928"/>
            <a:ext cx="3108960" cy="365760"/>
          </a:xfrm>
          <a:prstGeom prst="rect">
            <a:avLst/>
          </a:prstGeom>
          <a:noFill/>
          <a:ln/>
        </p:spPr>
        <p:txBody>
          <a:bodyPr wrap="square" lIns="0" tIns="0" rIns="0" bIns="0" rtlCol="0" anchor="t"/>
          <a:lstStyle/>
          <a:p>
            <a:pPr algn="ctr" indent="0" marL="0">
              <a:lnSpc>
                <a:spcPct val="115000"/>
              </a:lnSpc>
              <a:buNone/>
            </a:pPr>
            <a:r>
              <a:rPr lang="en-US" sz="1500" dirty="0">
                <a:solidFill>
                  <a:schemeClr val="accent5"/>
                </a:solidFill>
              </a:rPr>
              <a:t>미터</a:t>
            </a:r>
            <a:endParaRPr lang="en-US" sz="1500" dirty="0"/>
          </a:p>
        </p:txBody>
      </p:sp>
      <p:sp>
        <p:nvSpPr>
          <p:cNvPr id="8" name="Text 5"/>
          <p:cNvSpPr txBox="1"/>
          <p:nvPr/>
        </p:nvSpPr>
        <p:spPr>
          <a:xfrm>
            <a:off x="3922776" y="2240280"/>
            <a:ext cx="621792" cy="731520"/>
          </a:xfrm>
          <a:prstGeom prst="rect">
            <a:avLst/>
          </a:prstGeom>
          <a:noFill/>
          <a:ln/>
        </p:spPr>
        <p:txBody>
          <a:bodyPr wrap="square" lIns="0" tIns="0" rIns="0" bIns="0" rtlCol="0" anchor="ctr"/>
          <a:lstStyle/>
          <a:p>
            <a:pPr algn="ctr" indent="0" marL="0">
              <a:lnSpc>
                <a:spcPct val="115000"/>
              </a:lnSpc>
              <a:buNone/>
            </a:pPr>
            <a:r>
              <a:rPr lang="en-US" sz="3200" b="1" dirty="0">
                <a:solidFill>
                  <a:srgbClr val="9AA5B8"/>
                </a:solidFill>
              </a:rPr>
              <a:t>=</a:t>
            </a:r>
            <a:endParaRPr lang="en-US" sz="3200" dirty="0"/>
          </a:p>
        </p:txBody>
      </p:sp>
      <p:sp>
        <p:nvSpPr>
          <p:cNvPr id="9" name="unit-card-2"/>
          <p:cNvSpPr/>
          <p:nvPr/>
        </p:nvSpPr>
        <p:spPr>
          <a:xfrm>
            <a:off x="4544568" y="1828800"/>
            <a:ext cx="3108960" cy="1600200"/>
          </a:xfrm>
          <a:prstGeom prst="roundRect">
            <a:avLst>
              <a:gd name="adj" fmla="val 6857"/>
            </a:avLst>
          </a:prstGeom>
          <a:solidFill>
            <a:schemeClr val="bg1"/>
          </a:solidFill>
          <a:ln w="12700">
            <a:solidFill>
              <a:srgbClr val="DCE2EC"/>
            </a:solidFill>
            <a:prstDash val="solid"/>
          </a:ln>
        </p:spPr>
      </p:sp>
      <p:sp>
        <p:nvSpPr>
          <p:cNvPr id="10" name="Text 7"/>
          <p:cNvSpPr txBox="1"/>
          <p:nvPr/>
        </p:nvSpPr>
        <p:spPr>
          <a:xfrm>
            <a:off x="4544568" y="2011680"/>
            <a:ext cx="3108960" cy="822960"/>
          </a:xfrm>
          <a:prstGeom prst="rect">
            <a:avLst/>
          </a:prstGeom>
          <a:noFill/>
          <a:ln/>
        </p:spPr>
        <p:txBody>
          <a:bodyPr wrap="square" lIns="0" tIns="0" rIns="0" bIns="0" rtlCol="0" anchor="ctr"/>
          <a:lstStyle/>
          <a:p>
            <a:pPr algn="ctr" indent="0" marL="0">
              <a:lnSpc>
                <a:spcPct val="115000"/>
              </a:lnSpc>
              <a:buNone/>
            </a:pPr>
            <a:r>
              <a:rPr lang="en-US" sz="4400" b="1" dirty="0">
                <a:solidFill>
                  <a:schemeClr val="accent1"/>
                </a:solidFill>
              </a:rPr>
              <a:t>100 </a:t>
            </a:r>
            <a:pPr algn="ctr" indent="0" marL="0">
              <a:lnSpc>
                <a:spcPct val="115000"/>
              </a:lnSpc>
              <a:buNone/>
            </a:pPr>
            <a:r>
              <a:rPr lang="en-US" sz="4400" b="1" dirty="0">
                <a:solidFill>
                  <a:schemeClr val="tx1"/>
                </a:solidFill>
              </a:rPr>
              <a:t>cm</a:t>
            </a:r>
            <a:endParaRPr lang="en-US" sz="4400" dirty="0"/>
          </a:p>
        </p:txBody>
      </p:sp>
      <p:sp>
        <p:nvSpPr>
          <p:cNvPr id="11" name="Text 8"/>
          <p:cNvSpPr txBox="1"/>
          <p:nvPr/>
        </p:nvSpPr>
        <p:spPr>
          <a:xfrm>
            <a:off x="4544568" y="2852928"/>
            <a:ext cx="3108960" cy="365760"/>
          </a:xfrm>
          <a:prstGeom prst="rect">
            <a:avLst/>
          </a:prstGeom>
          <a:noFill/>
          <a:ln/>
        </p:spPr>
        <p:txBody>
          <a:bodyPr wrap="square" lIns="0" tIns="0" rIns="0" bIns="0" rtlCol="0" anchor="t"/>
          <a:lstStyle/>
          <a:p>
            <a:pPr algn="ctr" indent="0" marL="0">
              <a:lnSpc>
                <a:spcPct val="115000"/>
              </a:lnSpc>
              <a:buNone/>
            </a:pPr>
            <a:r>
              <a:rPr lang="en-US" sz="1500" dirty="0">
                <a:solidFill>
                  <a:schemeClr val="accent5"/>
                </a:solidFill>
              </a:rPr>
              <a:t>센티미터</a:t>
            </a:r>
            <a:endParaRPr lang="en-US" sz="1500" dirty="0"/>
          </a:p>
        </p:txBody>
      </p:sp>
      <p:sp>
        <p:nvSpPr>
          <p:cNvPr id="12" name="Text 9"/>
          <p:cNvSpPr txBox="1"/>
          <p:nvPr/>
        </p:nvSpPr>
        <p:spPr>
          <a:xfrm>
            <a:off x="7653528" y="2240280"/>
            <a:ext cx="621792" cy="731520"/>
          </a:xfrm>
          <a:prstGeom prst="rect">
            <a:avLst/>
          </a:prstGeom>
          <a:noFill/>
          <a:ln/>
        </p:spPr>
        <p:txBody>
          <a:bodyPr wrap="square" lIns="0" tIns="0" rIns="0" bIns="0" rtlCol="0" anchor="ctr"/>
          <a:lstStyle/>
          <a:p>
            <a:pPr algn="ctr" indent="0" marL="0">
              <a:lnSpc>
                <a:spcPct val="115000"/>
              </a:lnSpc>
              <a:buNone/>
            </a:pPr>
            <a:r>
              <a:rPr lang="en-US" sz="3200" b="1" dirty="0">
                <a:solidFill>
                  <a:srgbClr val="9AA5B8"/>
                </a:solidFill>
              </a:rPr>
              <a:t>=</a:t>
            </a:r>
            <a:endParaRPr lang="en-US" sz="3200" dirty="0"/>
          </a:p>
        </p:txBody>
      </p:sp>
      <p:sp>
        <p:nvSpPr>
          <p:cNvPr id="13" name="unit-card-3"/>
          <p:cNvSpPr/>
          <p:nvPr/>
        </p:nvSpPr>
        <p:spPr>
          <a:xfrm>
            <a:off x="8275320" y="1828800"/>
            <a:ext cx="3108960" cy="1600200"/>
          </a:xfrm>
          <a:prstGeom prst="roundRect">
            <a:avLst>
              <a:gd name="adj" fmla="val 6857"/>
            </a:avLst>
          </a:prstGeom>
          <a:solidFill>
            <a:schemeClr val="bg1"/>
          </a:solidFill>
          <a:ln w="12700">
            <a:solidFill>
              <a:srgbClr val="DCE2EC"/>
            </a:solidFill>
            <a:prstDash val="solid"/>
          </a:ln>
        </p:spPr>
      </p:sp>
      <p:sp>
        <p:nvSpPr>
          <p:cNvPr id="14" name="Text 11"/>
          <p:cNvSpPr txBox="1"/>
          <p:nvPr/>
        </p:nvSpPr>
        <p:spPr>
          <a:xfrm>
            <a:off x="8275320" y="2011680"/>
            <a:ext cx="3108960" cy="822960"/>
          </a:xfrm>
          <a:prstGeom prst="rect">
            <a:avLst/>
          </a:prstGeom>
          <a:noFill/>
          <a:ln/>
        </p:spPr>
        <p:txBody>
          <a:bodyPr wrap="square" lIns="0" tIns="0" rIns="0" bIns="0" rtlCol="0" anchor="ctr"/>
          <a:lstStyle/>
          <a:p>
            <a:pPr algn="ctr" indent="0" marL="0">
              <a:lnSpc>
                <a:spcPct val="115000"/>
              </a:lnSpc>
              <a:buNone/>
            </a:pPr>
            <a:r>
              <a:rPr lang="en-US" sz="4400" b="1" dirty="0">
                <a:solidFill>
                  <a:schemeClr val="accent1"/>
                </a:solidFill>
              </a:rPr>
              <a:t>10</a:t>
            </a:r>
            <a:pPr algn="ctr" indent="0" marL="0">
              <a:lnSpc>
                <a:spcPct val="115000"/>
              </a:lnSpc>
              <a:buNone/>
            </a:pPr>
            <a:r>
              <a:rPr lang="en-US" sz="4400" b="1" baseline="30000" dirty="0">
                <a:solidFill>
                  <a:schemeClr val="accent1"/>
                </a:solidFill>
              </a:rPr>
              <a:t>9</a:t>
            </a:r>
            <a:pPr algn="ctr" indent="0" marL="0">
              <a:lnSpc>
                <a:spcPct val="115000"/>
              </a:lnSpc>
              <a:buNone/>
            </a:pPr>
            <a:r>
              <a:rPr lang="en-US" sz="4400" b="1" dirty="0">
                <a:solidFill>
                  <a:schemeClr val="accent1"/>
                </a:solidFill>
              </a:rPr>
              <a:t> </a:t>
            </a:r>
            <a:pPr algn="ctr" indent="0" marL="0">
              <a:lnSpc>
                <a:spcPct val="115000"/>
              </a:lnSpc>
              <a:buNone/>
            </a:pPr>
            <a:r>
              <a:rPr lang="en-US" sz="4400" b="1" dirty="0">
                <a:solidFill>
                  <a:schemeClr val="tx1"/>
                </a:solidFill>
              </a:rPr>
              <a:t>nm</a:t>
            </a:r>
            <a:endParaRPr lang="en-US" sz="4400" dirty="0"/>
          </a:p>
        </p:txBody>
      </p:sp>
      <p:sp>
        <p:nvSpPr>
          <p:cNvPr id="15" name="Text 12"/>
          <p:cNvSpPr txBox="1"/>
          <p:nvPr/>
        </p:nvSpPr>
        <p:spPr>
          <a:xfrm>
            <a:off x="8275320" y="2852928"/>
            <a:ext cx="3108960" cy="365760"/>
          </a:xfrm>
          <a:prstGeom prst="rect">
            <a:avLst/>
          </a:prstGeom>
          <a:noFill/>
          <a:ln/>
        </p:spPr>
        <p:txBody>
          <a:bodyPr wrap="square" lIns="0" tIns="0" rIns="0" bIns="0" rtlCol="0" anchor="t"/>
          <a:lstStyle/>
          <a:p>
            <a:pPr algn="ctr" indent="0" marL="0">
              <a:lnSpc>
                <a:spcPct val="115000"/>
              </a:lnSpc>
              <a:buNone/>
            </a:pPr>
            <a:r>
              <a:rPr lang="en-US" sz="1500" dirty="0">
                <a:solidFill>
                  <a:schemeClr val="accent5"/>
                </a:solidFill>
              </a:rPr>
              <a:t>나노미터</a:t>
            </a:r>
            <a:endParaRPr lang="en-US" sz="1500" dirty="0"/>
          </a:p>
        </p:txBody>
      </p:sp>
      <p:sp>
        <p:nvSpPr>
          <p:cNvPr id="16" name="method-box"/>
          <p:cNvSpPr/>
          <p:nvPr/>
        </p:nvSpPr>
        <p:spPr>
          <a:xfrm>
            <a:off x="813816" y="3794760"/>
            <a:ext cx="10570464" cy="1828800"/>
          </a:xfrm>
          <a:prstGeom prst="roundRect">
            <a:avLst>
              <a:gd name="adj" fmla="val 6000"/>
            </a:avLst>
          </a:prstGeom>
          <a:solidFill>
            <a:schemeClr val="accent4"/>
          </a:solidFill>
          <a:ln/>
        </p:spPr>
      </p:sp>
      <p:pic>
        <p:nvPicPr>
          <p:cNvPr id="17" name="Image 0" descr="전구 아이콘">    </p:cNvPr>
          <p:cNvPicPr>
            <a:picLocks noChangeAspect="1"/>
          </p:cNvPicPr>
          <p:nvPr/>
        </p:nvPicPr>
        <p:blipFill>
          <a:blip r:embed="rId1"/>
          <a:stretch>
            <a:fillRect/>
          </a:stretch>
        </p:blipFill>
        <p:spPr>
          <a:xfrm>
            <a:off x="1179576" y="4343400"/>
            <a:ext cx="640080" cy="640080"/>
          </a:xfrm>
          <a:prstGeom prst="rect">
            <a:avLst/>
          </a:prstGeom>
        </p:spPr>
      </p:pic>
      <p:sp>
        <p:nvSpPr>
          <p:cNvPr id="18" name="Text 14"/>
          <p:cNvSpPr txBox="1"/>
          <p:nvPr/>
        </p:nvSpPr>
        <p:spPr>
          <a:xfrm>
            <a:off x="2093976" y="4023360"/>
            <a:ext cx="8961120" cy="411480"/>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환산의 비법: “1”을 곱한다</a:t>
            </a:r>
            <a:endParaRPr lang="en-US" sz="1900" dirty="0"/>
          </a:p>
        </p:txBody>
      </p:sp>
      <p:sp>
        <p:nvSpPr>
          <p:cNvPr id="19" name="Text 15"/>
          <p:cNvSpPr txBox="1"/>
          <p:nvPr/>
        </p:nvSpPr>
        <p:spPr>
          <a:xfrm>
            <a:off x="2093976" y="4526280"/>
            <a:ext cx="8961120" cy="914400"/>
          </a:xfrm>
          <a:prstGeom prst="rect">
            <a:avLst/>
          </a:prstGeom>
          <a:noFill/>
          <a:ln/>
        </p:spPr>
        <p:txBody>
          <a:bodyPr wrap="square" lIns="0" tIns="0" rIns="0" bIns="0" rtlCol="0" anchor="t"/>
          <a:lstStyle/>
          <a:p>
            <a:pPr indent="0" marL="0">
              <a:lnSpc>
                <a:spcPct val="130000"/>
              </a:lnSpc>
              <a:buNone/>
            </a:pPr>
            <a:r>
              <a:rPr lang="en-US" sz="1700" dirty="0">
                <a:solidFill>
                  <a:schemeClr val="tx1"/>
                </a:solidFill>
              </a:rPr>
              <a:t>(100 cm ÷ 1 m) = 1이므로 곱해도 양은 그대로, 이름표만 바뀐다</a:t>
            </a:r>
            <a:endParaRPr lang="en-US" sz="1700" dirty="0"/>
          </a:p>
          <a:p>
            <a:pPr indent="0" marL="0">
              <a:lnSpc>
                <a:spcPct val="130000"/>
              </a:lnSpc>
              <a:buNone/>
            </a:pPr>
            <a:r>
              <a:rPr lang="en-US" sz="1700" b="1" dirty="0">
                <a:solidFill>
                  <a:schemeClr val="tx1"/>
                </a:solidFill>
              </a:rPr>
              <a:t>0.5 m × (100 cm / 1 m) = 50 cm</a:t>
            </a:r>
            <a:pPr indent="0" marL="0">
              <a:lnSpc>
                <a:spcPct val="130000"/>
              </a:lnSpc>
              <a:buNone/>
            </a:pPr>
            <a:r>
              <a:rPr lang="en-US" sz="1700" dirty="0">
                <a:solidFill>
                  <a:schemeClr val="tx1"/>
                </a:solidFill>
              </a:rPr>
              <a:t> — m끼리 약분되고 cm만 남는다</a:t>
            </a:r>
            <a:endParaRPr lang="en-US" sz="17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길이와 크기</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반도체는 아주 작은 세계 — 접두어부터 익히자</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3816" y="1828800"/>
          <a:ext cx="10570464" cy="914400"/>
        </p:xfrm>
        <a:graphic>
          <a:graphicData uri="http://schemas.openxmlformats.org/drawingml/2006/table">
            <a:tbl>
              <a:tblPr/>
              <a:tblGrid>
                <a:gridCol w="1737360"/>
                <a:gridCol w="914400"/>
                <a:gridCol w="1600200"/>
                <a:gridCol w="6318504"/>
              </a:tblGrid>
              <a:tr h="0">
                <a:tc>
                  <a:txBody>
                    <a:bodyPr/>
                    <a:lstStyle/>
                    <a:p>
                      <a:pPr algn="l" indent="0" marL="0">
                        <a:buNone/>
                      </a:pPr>
                      <a:r>
                        <a:rPr lang="en-US" sz="1600" b="1" dirty="0">
                          <a:solidFill>
                            <a:srgbClr val="F3F5F9"/>
                          </a:solidFill>
                          <a:latin typeface="Malgun Gothic" pitchFamily="34" charset="0"/>
                          <a:ea typeface="Malgun Gothic" pitchFamily="34" charset="-122"/>
                          <a:cs typeface="Malgun Gothic" pitchFamily="34" charset="-120"/>
                        </a:rPr>
                        <a:t>접두어</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3F5F9"/>
                          </a:solidFill>
                          <a:latin typeface="Malgun Gothic" pitchFamily="34" charset="0"/>
                          <a:ea typeface="Malgun Gothic" pitchFamily="34" charset="-122"/>
                          <a:cs typeface="Malgun Gothic" pitchFamily="34" charset="-120"/>
                        </a:rPr>
                        <a:t>기호</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3F5F9"/>
                          </a:solidFill>
                          <a:latin typeface="Malgun Gothic" pitchFamily="34" charset="0"/>
                          <a:ea typeface="Malgun Gothic" pitchFamily="34" charset="-122"/>
                          <a:cs typeface="Malgun Gothic" pitchFamily="34" charset="-120"/>
                        </a:rPr>
                        <a:t>배수</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3F5F9"/>
                          </a:solidFill>
                          <a:latin typeface="Malgun Gothic" pitchFamily="34" charset="0"/>
                          <a:ea typeface="Malgun Gothic" pitchFamily="34" charset="-122"/>
                          <a:cs typeface="Malgun Gothic" pitchFamily="34" charset="-120"/>
                        </a:rPr>
                        <a:t>반도체 속 예</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r>
              <a:tr h="0">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센티</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c</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10</a:t>
                      </a:r>
                      <a:pPr algn="ctr" indent="0" marL="0">
                        <a:buNone/>
                      </a:pPr>
                      <a:r>
                        <a:rPr lang="en-US" sz="1600" baseline="30000" dirty="0">
                          <a:solidFill>
                            <a:srgbClr val="1B2A44"/>
                          </a:solidFill>
                          <a:latin typeface="Malgun Gothic" pitchFamily="34" charset="0"/>
                          <a:ea typeface="Malgun Gothic" pitchFamily="34" charset="-122"/>
                          <a:cs typeface="Malgun Gothic" pitchFamily="34" charset="-120"/>
                        </a:rPr>
                        <a:t>−2</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농도의 기준 부피 1 cm</a:t>
                      </a:r>
                      <a:pPr algn="l" indent="0" marL="0">
                        <a:buNone/>
                      </a:pPr>
                      <a:r>
                        <a:rPr lang="en-US" sz="1600" baseline="30000" dirty="0">
                          <a:solidFill>
                            <a:srgbClr val="1B2A44"/>
                          </a:solidFill>
                          <a:latin typeface="Malgun Gothic" pitchFamily="34" charset="0"/>
                          <a:ea typeface="Malgun Gothic" pitchFamily="34" charset="-122"/>
                          <a:cs typeface="Malgun Gothic" pitchFamily="34" charset="-120"/>
                        </a:rPr>
                        <a:t>3</a:t>
                      </a:r>
                      <a:pPr algn="l" indent="0" marL="0">
                        <a:buNone/>
                      </a:pPr>
                      <a:r>
                        <a:rPr lang="en-US" sz="1600" dirty="0">
                          <a:solidFill>
                            <a:srgbClr val="1B2A44"/>
                          </a:solidFill>
                          <a:latin typeface="Malgun Gothic" pitchFamily="34" charset="0"/>
                          <a:ea typeface="Malgun Gothic" pitchFamily="34" charset="-122"/>
                          <a:cs typeface="Malgun Gothic" pitchFamily="34" charset="-120"/>
                        </a:rPr>
                        <a:t> (단위 cm</a:t>
                      </a:r>
                      <a:pPr algn="l" indent="0" marL="0">
                        <a:buNone/>
                      </a:pPr>
                      <a:r>
                        <a:rPr lang="en-US" sz="1600" baseline="30000" dirty="0">
                          <a:solidFill>
                            <a:srgbClr val="1B2A44"/>
                          </a:solidFill>
                          <a:latin typeface="Malgun Gothic" pitchFamily="34" charset="0"/>
                          <a:ea typeface="Malgun Gothic" pitchFamily="34" charset="-122"/>
                          <a:cs typeface="Malgun Gothic" pitchFamily="34" charset="-120"/>
                        </a:rPr>
                        <a:t>−3</a:t>
                      </a:r>
                      <a:pPr algn="l" indent="0" marL="0">
                        <a:buNone/>
                      </a:pPr>
                      <a:r>
                        <a:rPr lang="en-US" sz="1600" dirty="0">
                          <a:solidFill>
                            <a:srgbClr val="1B2A44"/>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r h="0">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밀리</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m</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10</a:t>
                      </a:r>
                      <a:pPr algn="ctr" indent="0" marL="0">
                        <a:buNone/>
                      </a:pPr>
                      <a:r>
                        <a:rPr lang="en-US" sz="1600" baseline="30000" dirty="0">
                          <a:solidFill>
                            <a:srgbClr val="1B2A44"/>
                          </a:solidFill>
                          <a:latin typeface="Malgun Gothic" pitchFamily="34" charset="0"/>
                          <a:ea typeface="Malgun Gothic" pitchFamily="34" charset="-122"/>
                          <a:cs typeface="Malgun Gothic" pitchFamily="34" charset="-120"/>
                        </a:rPr>
                        <a:t>−3</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웨이퍼 지름 300 mm · 실온 열에너지 26 meV</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r>
              <a:tr h="0">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마이크로</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μ</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10</a:t>
                      </a:r>
                      <a:pPr algn="ctr" indent="0" marL="0">
                        <a:buNone/>
                      </a:pPr>
                      <a:r>
                        <a:rPr lang="en-US" sz="1600" baseline="30000" dirty="0">
                          <a:solidFill>
                            <a:srgbClr val="1B2A44"/>
                          </a:solidFill>
                          <a:latin typeface="Malgun Gothic" pitchFamily="34" charset="0"/>
                          <a:ea typeface="Malgun Gothic" pitchFamily="34" charset="-122"/>
                          <a:cs typeface="Malgun Gothic" pitchFamily="34" charset="-120"/>
                        </a:rPr>
                        <a:t>−6</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실리콘이 흡수하는 빛의 한계 파장 ≈ 1.1 μm</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r h="0">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나노</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n</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10</a:t>
                      </a:r>
                      <a:pPr algn="ctr" indent="0" marL="0">
                        <a:buNone/>
                      </a:pPr>
                      <a:r>
                        <a:rPr lang="en-US" sz="1600" baseline="30000" dirty="0">
                          <a:solidFill>
                            <a:srgbClr val="1B2A44"/>
                          </a:solidFill>
                          <a:latin typeface="Malgun Gothic" pitchFamily="34" charset="0"/>
                          <a:ea typeface="Malgun Gothic" pitchFamily="34" charset="-122"/>
                          <a:cs typeface="Malgun Gothic" pitchFamily="34" charset="-120"/>
                        </a:rPr>
                        <a:t>−9</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빨간 빛의 파장 650 nm</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r>
              <a:tr h="0">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옹스트롬*</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Å</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ctr" indent="0" marL="0">
                        <a:buNone/>
                      </a:pPr>
                      <a:r>
                        <a:rPr lang="en-US" sz="1600" dirty="0">
                          <a:solidFill>
                            <a:srgbClr val="1B2A44"/>
                          </a:solidFill>
                          <a:latin typeface="Malgun Gothic" pitchFamily="34" charset="0"/>
                          <a:ea typeface="Malgun Gothic" pitchFamily="34" charset="-122"/>
                          <a:cs typeface="Malgun Gothic" pitchFamily="34" charset="-120"/>
                        </a:rPr>
                        <a:t>10</a:t>
                      </a:r>
                      <a:pPr algn="ctr" indent="0" marL="0">
                        <a:buNone/>
                      </a:pPr>
                      <a:r>
                        <a:rPr lang="en-US" sz="1600" baseline="30000" dirty="0">
                          <a:solidFill>
                            <a:srgbClr val="1B2A44"/>
                          </a:solidFill>
                          <a:latin typeface="Malgun Gothic" pitchFamily="34" charset="0"/>
                          <a:ea typeface="Malgun Gothic" pitchFamily="34" charset="-122"/>
                          <a:cs typeface="Malgun Gothic" pitchFamily="34" charset="-120"/>
                        </a:rPr>
                        <a:t>−10</a:t>
                      </a:r>
                      <a:pPr algn="ctr" indent="0" marL="0">
                        <a:buNone/>
                      </a:pPr>
                      <a:r>
                        <a:rPr lang="en-US" sz="1600" dirty="0">
                          <a:solidFill>
                            <a:srgbClr val="1B2A44"/>
                          </a:solidFill>
                          <a:latin typeface="Malgun Gothic" pitchFamily="34" charset="0"/>
                          <a:ea typeface="Malgun Gothic" pitchFamily="34" charset="-122"/>
                          <a:cs typeface="Malgun Gothic" pitchFamily="34" charset="-120"/>
                        </a:rPr>
                        <a:t> m</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600" dirty="0">
                          <a:solidFill>
                            <a:srgbClr val="1B2A44"/>
                          </a:solidFill>
                          <a:latin typeface="Malgun Gothic" pitchFamily="34" charset="0"/>
                          <a:ea typeface="Malgun Gothic" pitchFamily="34" charset="-122"/>
                          <a:cs typeface="Malgun Gothic" pitchFamily="34" charset="-120"/>
                        </a:rPr>
                        <a:t>실리콘 격자상수 5.43 Å = 0.543 nm</a:t>
                      </a:r>
                      <a:endParaRPr lang="en-US" sz="16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bl>
          </a:graphicData>
        </a:graphic>
      </p:graphicFrame>
      <p:sp>
        <p:nvSpPr>
          <p:cNvPr id="6" name="Text 2"/>
          <p:cNvSpPr txBox="1"/>
          <p:nvPr/>
        </p:nvSpPr>
        <p:spPr>
          <a:xfrm>
            <a:off x="813816" y="5120640"/>
            <a:ext cx="10570464" cy="822960"/>
          </a:xfrm>
          <a:prstGeom prst="rect">
            <a:avLst/>
          </a:prstGeom>
          <a:noFill/>
          <a:ln/>
        </p:spPr>
        <p:txBody>
          <a:bodyPr wrap="square" lIns="0" tIns="0" rIns="0" bIns="0" rtlCol="0" anchor="t"/>
          <a:lstStyle/>
          <a:p>
            <a:pPr indent="0" marL="0">
              <a:lnSpc>
                <a:spcPct val="130000"/>
              </a:lnSpc>
              <a:buNone/>
            </a:pPr>
            <a:r>
              <a:rPr lang="en-US" sz="1400" dirty="0">
                <a:solidFill>
                  <a:schemeClr val="accent5"/>
                </a:solidFill>
              </a:rPr>
              <a:t>팁: 접두어는 “10의 몇 제곱”을 짧게 쓴 별명이다. 계산할 때는 별명을 풀어 10의 거듭제곱으로 바꾼다.</a:t>
            </a:r>
            <a:endParaRPr lang="en-US" sz="1400" dirty="0"/>
          </a:p>
          <a:p>
            <a:pPr indent="0" marL="0">
              <a:lnSpc>
                <a:spcPct val="130000"/>
              </a:lnSpc>
              <a:buNone/>
            </a:pPr>
            <a:r>
              <a:rPr lang="en-US" sz="1400" dirty="0">
                <a:solidFill>
                  <a:schemeClr val="accent5"/>
                </a:solidFill>
              </a:rPr>
              <a:t>* Å은 SI 접두어가 아니라 길이 단위 하나(1 Å = 10</a:t>
            </a:r>
            <a:pPr indent="0" marL="0">
              <a:lnSpc>
                <a:spcPct val="130000"/>
              </a:lnSpc>
              <a:buNone/>
            </a:pPr>
            <a:r>
              <a:rPr lang="en-US" sz="1400" baseline="30000" dirty="0">
                <a:solidFill>
                  <a:schemeClr val="accent5"/>
                </a:solidFill>
              </a:rPr>
              <a:t>−10</a:t>
            </a:r>
            <a:pPr indent="0" marL="0">
              <a:lnSpc>
                <a:spcPct val="130000"/>
              </a:lnSpc>
              <a:buNone/>
            </a:pPr>
            <a:r>
              <a:rPr lang="en-US" sz="1400" dirty="0">
                <a:solidFill>
                  <a:schemeClr val="accent5"/>
                </a:solidFill>
              </a:rPr>
              <a:t> m)이다.</a:t>
            </a:r>
            <a:endParaRPr lang="en-US" sz="14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농도 (단위 부피당 개수)</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cm</a:t>
            </a:r>
            <a:pPr indent="0" marL="0">
              <a:lnSpc>
                <a:spcPct val="115000"/>
              </a:lnSpc>
              <a:buNone/>
            </a:pPr>
            <a:r>
              <a:rPr lang="en-US" sz="3000" b="1" baseline="30000" dirty="0">
                <a:solidFill>
                  <a:schemeClr val="tx2"/>
                </a:solidFill>
              </a:rPr>
              <a:t>−3</a:t>
            </a:r>
            <a:pPr indent="0" marL="0">
              <a:lnSpc>
                <a:spcPct val="115000"/>
              </a:lnSpc>
              <a:buNone/>
            </a:pPr>
            <a:r>
              <a:rPr lang="en-US" sz="3000" b="1" dirty="0">
                <a:solidFill>
                  <a:schemeClr val="tx2"/>
                </a:solidFill>
              </a:rPr>
              <a:t>와 m</a:t>
            </a:r>
            <a:pPr indent="0" marL="0">
              <a:lnSpc>
                <a:spcPct val="115000"/>
              </a:lnSpc>
              <a:buNone/>
            </a:pPr>
            <a:r>
              <a:rPr lang="en-US" sz="3000" b="1" baseline="30000" dirty="0">
                <a:solidFill>
                  <a:schemeClr val="tx2"/>
                </a:solidFill>
              </a:rPr>
              <a:t>−3</a:t>
            </a:r>
            <a:pPr indent="0" marL="0">
              <a:lnSpc>
                <a:spcPct val="115000"/>
              </a:lnSpc>
              <a:buNone/>
            </a:pPr>
            <a:r>
              <a:rPr lang="en-US" sz="3000" b="1" dirty="0">
                <a:solidFill>
                  <a:schemeClr val="tx2"/>
                </a:solidFill>
              </a:rPr>
              <a:t>는 10</a:t>
            </a:r>
            <a:pPr indent="0" marL="0">
              <a:lnSpc>
                <a:spcPct val="115000"/>
              </a:lnSpc>
              <a:buNone/>
            </a:pPr>
            <a:r>
              <a:rPr lang="en-US" sz="3000" b="1" baseline="30000" dirty="0">
                <a:solidFill>
                  <a:schemeClr val="tx2"/>
                </a:solidFill>
              </a:rPr>
              <a:t>6</a:t>
            </a:r>
            <a:pPr indent="0" marL="0">
              <a:lnSpc>
                <a:spcPct val="115000"/>
              </a:lnSpc>
              <a:buNone/>
            </a:pPr>
            <a:r>
              <a:rPr lang="en-US" sz="3000" b="1" dirty="0">
                <a:solidFill>
                  <a:schemeClr val="tx2"/>
                </a:solidFill>
              </a:rPr>
              <a:t>배 차이</a:t>
            </a:r>
            <a:endParaRPr lang="en-US" sz="3000" dirty="0"/>
          </a:p>
        </p:txBody>
      </p:sp>
      <p:sp>
        <p:nvSpPr>
          <p:cNvPr id="5" name="Text 2"/>
          <p:cNvSpPr txBox="1"/>
          <p:nvPr/>
        </p:nvSpPr>
        <p:spPr>
          <a:xfrm>
            <a:off x="813816" y="1828800"/>
            <a:ext cx="6035040" cy="4114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1 m = 100 cm이니까, 부피는 </a:t>
            </a:r>
            <a:pPr indent="0" marL="0">
              <a:lnSpc>
                <a:spcPct val="115000"/>
              </a:lnSpc>
              <a:buNone/>
            </a:pPr>
            <a:r>
              <a:rPr lang="en-US" sz="1600" b="1" dirty="0">
                <a:solidFill>
                  <a:schemeClr val="tx1"/>
                </a:solidFill>
              </a:rPr>
              <a:t>세제곱</a:t>
            </a:r>
            <a:pPr indent="0" marL="0">
              <a:lnSpc>
                <a:spcPct val="115000"/>
              </a:lnSpc>
              <a:buNone/>
            </a:pPr>
            <a:r>
              <a:rPr lang="en-US" sz="1600" dirty="0">
                <a:solidFill>
                  <a:schemeClr val="tx1"/>
                </a:solidFill>
              </a:rPr>
              <a:t>:</a:t>
            </a:r>
            <a:endParaRPr lang="en-US" sz="1600" dirty="0"/>
          </a:p>
        </p:txBody>
      </p:sp>
      <p:sp>
        <p:nvSpPr>
          <p:cNvPr id="6" name="eq-volume"/>
          <p:cNvSpPr/>
          <p:nvPr/>
        </p:nvSpPr>
        <p:spPr>
          <a:xfrm>
            <a:off x="813816" y="2286000"/>
            <a:ext cx="6035040" cy="685800"/>
          </a:xfrm>
          <a:prstGeom prst="roundRect">
            <a:avLst>
              <a:gd name="adj" fmla="val 16000"/>
            </a:avLst>
          </a:prstGeom>
          <a:solidFill>
            <a:schemeClr val="bg1"/>
          </a:solidFill>
          <a:ln w="12700">
            <a:solidFill>
              <a:srgbClr val="DCE2EC"/>
            </a:solidFill>
            <a:prstDash val="solid"/>
          </a:ln>
        </p:spPr>
      </p:sp>
      <p:sp>
        <p:nvSpPr>
          <p:cNvPr id="7" name="Text 4"/>
          <p:cNvSpPr txBox="1"/>
          <p:nvPr/>
        </p:nvSpPr>
        <p:spPr>
          <a:xfrm>
            <a:off x="1042416" y="2286000"/>
            <a:ext cx="5577840" cy="685800"/>
          </a:xfrm>
          <a:prstGeom prst="rect">
            <a:avLst/>
          </a:prstGeom>
          <a:noFill/>
          <a:ln/>
        </p:spPr>
        <p:txBody>
          <a:bodyPr wrap="square" lIns="0" tIns="0" rIns="0" bIns="0" rtlCol="0" anchor="ctr"/>
          <a:lstStyle/>
          <a:p>
            <a:pPr indent="0" marL="0">
              <a:lnSpc>
                <a:spcPct val="115000"/>
              </a:lnSpc>
              <a:buNone/>
            </a:pPr>
            <a:r>
              <a:rPr lang="en-US" sz="1900" b="1" dirty="0">
                <a:solidFill>
                  <a:schemeClr val="accent1"/>
                </a:solidFill>
              </a:rPr>
              <a:t>1 m</a:t>
            </a:r>
            <a:pPr indent="0" marL="0">
              <a:lnSpc>
                <a:spcPct val="115000"/>
              </a:lnSpc>
              <a:buNone/>
            </a:pPr>
            <a:r>
              <a:rPr lang="en-US" sz="1900" b="1" baseline="30000" dirty="0">
                <a:solidFill>
                  <a:schemeClr val="accent1"/>
                </a:solidFill>
              </a:rPr>
              <a:t>3</a:t>
            </a:r>
            <a:pPr indent="0" marL="0">
              <a:lnSpc>
                <a:spcPct val="115000"/>
              </a:lnSpc>
              <a:buNone/>
            </a:pPr>
            <a:r>
              <a:rPr lang="en-US" sz="1900" b="1" dirty="0">
                <a:solidFill>
                  <a:schemeClr val="accent1"/>
                </a:solidFill>
              </a:rPr>
              <a:t> = (100 cm)</a:t>
            </a:r>
            <a:pPr indent="0" marL="0">
              <a:lnSpc>
                <a:spcPct val="115000"/>
              </a:lnSpc>
              <a:buNone/>
            </a:pPr>
            <a:r>
              <a:rPr lang="en-US" sz="1900" b="1" baseline="30000" dirty="0">
                <a:solidFill>
                  <a:schemeClr val="accent1"/>
                </a:solidFill>
              </a:rPr>
              <a:t>3</a:t>
            </a:r>
            <a:pPr indent="0" marL="0">
              <a:lnSpc>
                <a:spcPct val="115000"/>
              </a:lnSpc>
              <a:buNone/>
            </a:pPr>
            <a:r>
              <a:rPr lang="en-US" sz="1900" b="1" dirty="0">
                <a:solidFill>
                  <a:schemeClr val="accent1"/>
                </a:solidFill>
              </a:rPr>
              <a:t> = 10</a:t>
            </a:r>
            <a:pPr indent="0" marL="0">
              <a:lnSpc>
                <a:spcPct val="115000"/>
              </a:lnSpc>
              <a:buNone/>
            </a:pPr>
            <a:r>
              <a:rPr lang="en-US" sz="1900" b="1" baseline="30000" dirty="0">
                <a:solidFill>
                  <a:schemeClr val="accent1"/>
                </a:solidFill>
              </a:rPr>
              <a:t>6</a:t>
            </a:r>
            <a:pPr indent="0" marL="0">
              <a:lnSpc>
                <a:spcPct val="115000"/>
              </a:lnSpc>
              <a:buNone/>
            </a:pPr>
            <a:r>
              <a:rPr lang="en-US" sz="1900" b="1" dirty="0">
                <a:solidFill>
                  <a:schemeClr val="accent1"/>
                </a:solidFill>
              </a:rPr>
              <a:t> cm</a:t>
            </a:r>
            <a:pPr indent="0" marL="0">
              <a:lnSpc>
                <a:spcPct val="115000"/>
              </a:lnSpc>
              <a:buNone/>
            </a:pPr>
            <a:r>
              <a:rPr lang="en-US" sz="1900" b="1" baseline="30000" dirty="0">
                <a:solidFill>
                  <a:schemeClr val="accent1"/>
                </a:solidFill>
              </a:rPr>
              <a:t>3</a:t>
            </a:r>
            <a:endParaRPr lang="en-US" sz="1900" dirty="0"/>
          </a:p>
        </p:txBody>
      </p:sp>
      <p:sp>
        <p:nvSpPr>
          <p:cNvPr id="8" name="Text 5"/>
          <p:cNvSpPr txBox="1"/>
          <p:nvPr/>
        </p:nvSpPr>
        <p:spPr>
          <a:xfrm>
            <a:off x="813816" y="3154680"/>
            <a:ext cx="6035040" cy="4114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따라서 “1 cm</a:t>
            </a:r>
            <a:pPr indent="0" marL="0">
              <a:lnSpc>
                <a:spcPct val="115000"/>
              </a:lnSpc>
              <a:buNone/>
            </a:pPr>
            <a:r>
              <a:rPr lang="en-US" sz="1600" baseline="30000" dirty="0">
                <a:solidFill>
                  <a:schemeClr val="tx1"/>
                </a:solidFill>
              </a:rPr>
              <a:t>3</a:t>
            </a:r>
            <a:pPr indent="0" marL="0">
              <a:lnSpc>
                <a:spcPct val="115000"/>
              </a:lnSpc>
              <a:buNone/>
            </a:pPr>
            <a:r>
              <a:rPr lang="en-US" sz="1600" dirty="0">
                <a:solidFill>
                  <a:schemeClr val="tx1"/>
                </a:solidFill>
              </a:rPr>
              <a:t> 안에 1개” = “1 m</a:t>
            </a:r>
            <a:pPr indent="0" marL="0">
              <a:lnSpc>
                <a:spcPct val="115000"/>
              </a:lnSpc>
              <a:buNone/>
            </a:pPr>
            <a:r>
              <a:rPr lang="en-US" sz="1600" baseline="30000" dirty="0">
                <a:solidFill>
                  <a:schemeClr val="tx1"/>
                </a:solidFill>
              </a:rPr>
              <a:t>3</a:t>
            </a:r>
            <a:pPr indent="0" marL="0">
              <a:lnSpc>
                <a:spcPct val="115000"/>
              </a:lnSpc>
              <a:buNone/>
            </a:pPr>
            <a:r>
              <a:rPr lang="en-US" sz="1600" dirty="0">
                <a:solidFill>
                  <a:schemeClr val="tx1"/>
                </a:solidFill>
              </a:rPr>
              <a:t> 안에 10</a:t>
            </a:r>
            <a:pPr indent="0" marL="0">
              <a:lnSpc>
                <a:spcPct val="115000"/>
              </a:lnSpc>
              <a:buNone/>
            </a:pPr>
            <a:r>
              <a:rPr lang="en-US" sz="1600" baseline="30000" dirty="0">
                <a:solidFill>
                  <a:schemeClr val="tx1"/>
                </a:solidFill>
              </a:rPr>
              <a:t>6</a:t>
            </a:r>
            <a:pPr indent="0" marL="0">
              <a:lnSpc>
                <a:spcPct val="115000"/>
              </a:lnSpc>
              <a:buNone/>
            </a:pPr>
            <a:r>
              <a:rPr lang="en-US" sz="1600" dirty="0">
                <a:solidFill>
                  <a:schemeClr val="tx1"/>
                </a:solidFill>
              </a:rPr>
              <a:t>개”</a:t>
            </a:r>
            <a:endParaRPr lang="en-US" sz="1600" dirty="0"/>
          </a:p>
        </p:txBody>
      </p:sp>
      <p:sp>
        <p:nvSpPr>
          <p:cNvPr id="9" name="eq-conc"/>
          <p:cNvSpPr/>
          <p:nvPr/>
        </p:nvSpPr>
        <p:spPr>
          <a:xfrm>
            <a:off x="813816" y="3611880"/>
            <a:ext cx="6035040" cy="685800"/>
          </a:xfrm>
          <a:prstGeom prst="roundRect">
            <a:avLst>
              <a:gd name="adj" fmla="val 16000"/>
            </a:avLst>
          </a:prstGeom>
          <a:solidFill>
            <a:schemeClr val="bg1"/>
          </a:solidFill>
          <a:ln w="12700">
            <a:solidFill>
              <a:srgbClr val="DCE2EC"/>
            </a:solidFill>
            <a:prstDash val="solid"/>
          </a:ln>
        </p:spPr>
      </p:sp>
      <p:sp>
        <p:nvSpPr>
          <p:cNvPr id="10" name="Text 7"/>
          <p:cNvSpPr txBox="1"/>
          <p:nvPr/>
        </p:nvSpPr>
        <p:spPr>
          <a:xfrm>
            <a:off x="1042416" y="3611880"/>
            <a:ext cx="5577840" cy="685800"/>
          </a:xfrm>
          <a:prstGeom prst="rect">
            <a:avLst/>
          </a:prstGeom>
          <a:noFill/>
          <a:ln/>
        </p:spPr>
        <p:txBody>
          <a:bodyPr wrap="square" lIns="0" tIns="0" rIns="0" bIns="0" rtlCol="0" anchor="ctr"/>
          <a:lstStyle/>
          <a:p>
            <a:pPr indent="0" marL="0">
              <a:lnSpc>
                <a:spcPct val="115000"/>
              </a:lnSpc>
              <a:buNone/>
            </a:pPr>
            <a:r>
              <a:rPr lang="en-US" sz="1900" b="1" dirty="0">
                <a:solidFill>
                  <a:schemeClr val="accent1"/>
                </a:solidFill>
              </a:rPr>
              <a:t>1 cm</a:t>
            </a:r>
            <a:pPr indent="0" marL="0">
              <a:lnSpc>
                <a:spcPct val="115000"/>
              </a:lnSpc>
              <a:buNone/>
            </a:pPr>
            <a:r>
              <a:rPr lang="en-US" sz="1900" b="1" baseline="30000" dirty="0">
                <a:solidFill>
                  <a:schemeClr val="accent1"/>
                </a:solidFill>
              </a:rPr>
              <a:t>−3</a:t>
            </a:r>
            <a:pPr indent="0" marL="0">
              <a:lnSpc>
                <a:spcPct val="115000"/>
              </a:lnSpc>
              <a:buNone/>
            </a:pPr>
            <a:r>
              <a:rPr lang="en-US" sz="1900" b="1" dirty="0">
                <a:solidFill>
                  <a:schemeClr val="accent1"/>
                </a:solidFill>
              </a:rPr>
              <a:t> = 10</a:t>
            </a:r>
            <a:pPr indent="0" marL="0">
              <a:lnSpc>
                <a:spcPct val="115000"/>
              </a:lnSpc>
              <a:buNone/>
            </a:pPr>
            <a:r>
              <a:rPr lang="en-US" sz="1900" b="1" baseline="30000" dirty="0">
                <a:solidFill>
                  <a:schemeClr val="accent1"/>
                </a:solidFill>
              </a:rPr>
              <a:t>6</a:t>
            </a:r>
            <a:pPr indent="0" marL="0">
              <a:lnSpc>
                <a:spcPct val="115000"/>
              </a:lnSpc>
              <a:buNone/>
            </a:pPr>
            <a:r>
              <a:rPr lang="en-US" sz="1900" b="1" dirty="0">
                <a:solidFill>
                  <a:schemeClr val="accent1"/>
                </a:solidFill>
              </a:rPr>
              <a:t> m</a:t>
            </a:r>
            <a:pPr indent="0" marL="0">
              <a:lnSpc>
                <a:spcPct val="115000"/>
              </a:lnSpc>
              <a:buNone/>
            </a:pPr>
            <a:r>
              <a:rPr lang="en-US" sz="1900" b="1" baseline="30000" dirty="0">
                <a:solidFill>
                  <a:schemeClr val="accent1"/>
                </a:solidFill>
              </a:rPr>
              <a:t>−3</a:t>
            </a:r>
            <a:endParaRPr lang="en-US" sz="1900" dirty="0"/>
          </a:p>
        </p:txBody>
      </p:sp>
      <p:sp>
        <p:nvSpPr>
          <p:cNvPr id="11" name="warn-pill"/>
          <p:cNvSpPr/>
          <p:nvPr/>
        </p:nvSpPr>
        <p:spPr>
          <a:xfrm>
            <a:off x="813816" y="4526280"/>
            <a:ext cx="6035040" cy="548640"/>
          </a:xfrm>
          <a:prstGeom prst="roundRect">
            <a:avLst>
              <a:gd name="adj" fmla="val 20000"/>
            </a:avLst>
          </a:prstGeom>
          <a:solidFill>
            <a:schemeClr val="accent6"/>
          </a:solidFill>
          <a:ln/>
        </p:spPr>
      </p:sp>
      <p:sp>
        <p:nvSpPr>
          <p:cNvPr id="12" name="Text 9"/>
          <p:cNvSpPr txBox="1"/>
          <p:nvPr/>
        </p:nvSpPr>
        <p:spPr>
          <a:xfrm>
            <a:off x="1042416" y="4526280"/>
            <a:ext cx="5577840" cy="548640"/>
          </a:xfrm>
          <a:prstGeom prst="rect">
            <a:avLst/>
          </a:prstGeom>
          <a:noFill/>
          <a:ln/>
        </p:spPr>
        <p:txBody>
          <a:bodyPr wrap="square" lIns="0" tIns="0" rIns="0" bIns="0" rtlCol="0" anchor="ctr"/>
          <a:lstStyle/>
          <a:p>
            <a:pPr indent="0" marL="0">
              <a:lnSpc>
                <a:spcPct val="115000"/>
              </a:lnSpc>
              <a:buNone/>
            </a:pPr>
            <a:r>
              <a:rPr lang="en-US" sz="1400" b="1" dirty="0">
                <a:solidFill>
                  <a:srgbClr val="9A3412"/>
                </a:solidFill>
              </a:rPr>
              <a:t>흔한 실수: 길이처럼 10</a:t>
            </a:r>
            <a:pPr indent="0" marL="0">
              <a:lnSpc>
                <a:spcPct val="115000"/>
              </a:lnSpc>
              <a:buNone/>
            </a:pPr>
            <a:r>
              <a:rPr lang="en-US" sz="1400" b="1" baseline="30000" dirty="0">
                <a:solidFill>
                  <a:srgbClr val="9A3412"/>
                </a:solidFill>
              </a:rPr>
              <a:t>2</a:t>
            </a:r>
            <a:pPr indent="0" marL="0">
              <a:lnSpc>
                <a:spcPct val="115000"/>
              </a:lnSpc>
              <a:buNone/>
            </a:pPr>
            <a:r>
              <a:rPr lang="en-US" sz="1400" b="1" dirty="0">
                <a:solidFill>
                  <a:srgbClr val="9A3412"/>
                </a:solidFill>
              </a:rPr>
              <a:t>만 곱하기</a:t>
            </a:r>
            <a:endParaRPr lang="en-US" sz="1400" dirty="0"/>
          </a:p>
        </p:txBody>
      </p:sp>
      <p:sp>
        <p:nvSpPr>
          <p:cNvPr id="13" name="doping-card"/>
          <p:cNvSpPr/>
          <p:nvPr/>
        </p:nvSpPr>
        <p:spPr>
          <a:xfrm>
            <a:off x="7168896" y="1828800"/>
            <a:ext cx="4215384" cy="3977640"/>
          </a:xfrm>
          <a:prstGeom prst="roundRect">
            <a:avLst>
              <a:gd name="adj" fmla="val 2759"/>
            </a:avLst>
          </a:prstGeom>
          <a:solidFill>
            <a:schemeClr val="tx2"/>
          </a:solidFill>
          <a:ln/>
        </p:spPr>
      </p:sp>
      <p:sp>
        <p:nvSpPr>
          <p:cNvPr id="14" name="Text 11"/>
          <p:cNvSpPr txBox="1"/>
          <p:nvPr/>
        </p:nvSpPr>
        <p:spPr>
          <a:xfrm>
            <a:off x="7488936" y="2057400"/>
            <a:ext cx="3575304" cy="365760"/>
          </a:xfrm>
          <a:prstGeom prst="rect">
            <a:avLst/>
          </a:prstGeom>
          <a:noFill/>
          <a:ln/>
        </p:spPr>
        <p:txBody>
          <a:bodyPr wrap="square" lIns="0" tIns="0" rIns="0" bIns="0" rtlCol="0" anchor="t"/>
          <a:lstStyle/>
          <a:p>
            <a:pPr indent="0" marL="0">
              <a:lnSpc>
                <a:spcPct val="115000"/>
              </a:lnSpc>
              <a:buNone/>
            </a:pPr>
            <a:r>
              <a:rPr lang="en-US" sz="1600" b="1" dirty="0">
                <a:solidFill>
                  <a:schemeClr val="accent3"/>
                </a:solidFill>
              </a:rPr>
              <a:t>예: 실리콘에 불순물 넣기(도핑)</a:t>
            </a:r>
            <a:endParaRPr lang="en-US" sz="1600" dirty="0"/>
          </a:p>
        </p:txBody>
      </p:sp>
      <p:sp>
        <p:nvSpPr>
          <p:cNvPr id="15" name="Text 12"/>
          <p:cNvSpPr txBox="1"/>
          <p:nvPr/>
        </p:nvSpPr>
        <p:spPr>
          <a:xfrm>
            <a:off x="7488936" y="2560320"/>
            <a:ext cx="3575304" cy="3063240"/>
          </a:xfrm>
          <a:prstGeom prst="rect">
            <a:avLst/>
          </a:prstGeom>
          <a:noFill/>
          <a:ln/>
        </p:spPr>
        <p:txBody>
          <a:bodyPr wrap="square" lIns="0" tIns="0" rIns="0" bIns="0" rtlCol="0" anchor="t"/>
          <a:lstStyle/>
          <a:p>
            <a:pPr indent="0" marL="0">
              <a:lnSpc>
                <a:spcPct val="135000"/>
              </a:lnSpc>
              <a:spcAft>
                <a:spcPts val="200"/>
              </a:spcAft>
              <a:buNone/>
            </a:pPr>
            <a:r>
              <a:rPr lang="en-US" sz="1500" dirty="0">
                <a:solidFill>
                  <a:srgbClr val="E3E8F1"/>
                </a:solidFill>
              </a:rPr>
              <a:t>실리콘 원자 밀도</a:t>
            </a:r>
            <a:endParaRPr lang="en-US" sz="1500" dirty="0"/>
          </a:p>
          <a:p>
            <a:pPr indent="0" marL="0">
              <a:lnSpc>
                <a:spcPct val="135000"/>
              </a:lnSpc>
              <a:spcAft>
                <a:spcPts val="200"/>
              </a:spcAft>
              <a:buNone/>
            </a:pPr>
            <a:r>
              <a:rPr lang="en-US" sz="1500" b="1" dirty="0">
                <a:solidFill>
                  <a:srgbClr val="E3E8F1"/>
                </a:solidFill>
              </a:rPr>
              <a:t>5×10</a:t>
            </a:r>
            <a:pPr indent="0" marL="0">
              <a:lnSpc>
                <a:spcPct val="135000"/>
              </a:lnSpc>
              <a:spcAft>
                <a:spcPts val="200"/>
              </a:spcAft>
              <a:buNone/>
            </a:pPr>
            <a:r>
              <a:rPr lang="en-US" sz="1500" b="1" baseline="30000" dirty="0">
                <a:solidFill>
                  <a:srgbClr val="E3E8F1"/>
                </a:solidFill>
              </a:rPr>
              <a:t>22</a:t>
            </a:r>
            <a:pPr indent="0" marL="0">
              <a:lnSpc>
                <a:spcPct val="135000"/>
              </a:lnSpc>
              <a:spcAft>
                <a:spcPts val="200"/>
              </a:spcAft>
              <a:buNone/>
            </a:pPr>
            <a:r>
              <a:rPr lang="en-US" sz="1500" b="1" dirty="0">
                <a:solidFill>
                  <a:srgbClr val="E3E8F1"/>
                </a:solidFill>
              </a:rPr>
              <a:t> cm</a:t>
            </a:r>
            <a:pPr indent="0" marL="0">
              <a:lnSpc>
                <a:spcPct val="135000"/>
              </a:lnSpc>
              <a:spcAft>
                <a:spcPts val="200"/>
              </a:spcAft>
              <a:buNone/>
            </a:pPr>
            <a:r>
              <a:rPr lang="en-US" sz="1500" b="1" baseline="30000" dirty="0">
                <a:solidFill>
                  <a:srgbClr val="E3E8F1"/>
                </a:solidFill>
              </a:rPr>
              <a:t>−3</a:t>
            </a:r>
            <a:pPr indent="0" marL="0">
              <a:lnSpc>
                <a:spcPct val="135000"/>
              </a:lnSpc>
              <a:spcAft>
                <a:spcPts val="200"/>
              </a:spcAft>
              <a:buNone/>
            </a:pPr>
            <a:r>
              <a:rPr lang="en-US" sz="1500" b="1" dirty="0">
                <a:solidFill>
                  <a:srgbClr val="E3E8F1"/>
                </a:solidFill>
              </a:rPr>
              <a:t> = 5×10</a:t>
            </a:r>
            <a:pPr indent="0" marL="0">
              <a:lnSpc>
                <a:spcPct val="135000"/>
              </a:lnSpc>
              <a:spcAft>
                <a:spcPts val="200"/>
              </a:spcAft>
              <a:buNone/>
            </a:pPr>
            <a:r>
              <a:rPr lang="en-US" sz="1500" b="1" baseline="30000" dirty="0">
                <a:solidFill>
                  <a:srgbClr val="E3E8F1"/>
                </a:solidFill>
              </a:rPr>
              <a:t>28</a:t>
            </a:r>
            <a:pPr indent="0" marL="0">
              <a:lnSpc>
                <a:spcPct val="135000"/>
              </a:lnSpc>
              <a:spcAft>
                <a:spcPts val="200"/>
              </a:spcAft>
              <a:buNone/>
            </a:pPr>
            <a:r>
              <a:rPr lang="en-US" sz="1500" b="1" dirty="0">
                <a:solidFill>
                  <a:srgbClr val="E3E8F1"/>
                </a:solidFill>
              </a:rPr>
              <a:t> m</a:t>
            </a:r>
            <a:pPr indent="0" marL="0">
              <a:lnSpc>
                <a:spcPct val="135000"/>
              </a:lnSpc>
              <a:spcAft>
                <a:spcPts val="200"/>
              </a:spcAft>
              <a:buNone/>
            </a:pPr>
            <a:r>
              <a:rPr lang="en-US" sz="1500" b="1" baseline="30000" dirty="0">
                <a:solidFill>
                  <a:srgbClr val="E3E8F1"/>
                </a:solidFill>
              </a:rPr>
              <a:t>−3</a:t>
            </a:r>
            <a:endParaRPr lang="en-US" sz="1500" dirty="0"/>
          </a:p>
          <a:p>
            <a:pPr indent="0" marL="0">
              <a:lnSpc>
                <a:spcPct val="135000"/>
              </a:lnSpc>
              <a:spcAft>
                <a:spcPts val="200"/>
              </a:spcAft>
              <a:buNone/>
            </a:pPr>
            <a:r>
              <a:rPr lang="en-US" sz="1500" dirty="0">
                <a:solidFill>
                  <a:srgbClr val="E3E8F1"/>
                </a:solidFill>
              </a:rPr>
              <a:t>도핑 농도</a:t>
            </a:r>
            <a:endParaRPr lang="en-US" sz="1500" dirty="0"/>
          </a:p>
          <a:p>
            <a:pPr indent="0" marL="0">
              <a:lnSpc>
                <a:spcPct val="135000"/>
              </a:lnSpc>
              <a:spcAft>
                <a:spcPts val="200"/>
              </a:spcAft>
              <a:buNone/>
            </a:pPr>
            <a:r>
              <a:rPr lang="en-US" sz="1500" b="1" dirty="0">
                <a:solidFill>
                  <a:srgbClr val="E3E8F1"/>
                </a:solidFill>
              </a:rPr>
              <a:t>10</a:t>
            </a:r>
            <a:pPr indent="0" marL="0">
              <a:lnSpc>
                <a:spcPct val="135000"/>
              </a:lnSpc>
              <a:spcAft>
                <a:spcPts val="200"/>
              </a:spcAft>
              <a:buNone/>
            </a:pPr>
            <a:r>
              <a:rPr lang="en-US" sz="1500" b="1" baseline="30000" dirty="0">
                <a:solidFill>
                  <a:srgbClr val="E3E8F1"/>
                </a:solidFill>
              </a:rPr>
              <a:t>16</a:t>
            </a:r>
            <a:pPr indent="0" marL="0">
              <a:lnSpc>
                <a:spcPct val="135000"/>
              </a:lnSpc>
              <a:spcAft>
                <a:spcPts val="200"/>
              </a:spcAft>
              <a:buNone/>
            </a:pPr>
            <a:r>
              <a:rPr lang="en-US" sz="1500" b="1" dirty="0">
                <a:solidFill>
                  <a:srgbClr val="E3E8F1"/>
                </a:solidFill>
              </a:rPr>
              <a:t> cm</a:t>
            </a:r>
            <a:pPr indent="0" marL="0">
              <a:lnSpc>
                <a:spcPct val="135000"/>
              </a:lnSpc>
              <a:spcAft>
                <a:spcPts val="200"/>
              </a:spcAft>
              <a:buNone/>
            </a:pPr>
            <a:r>
              <a:rPr lang="en-US" sz="1500" b="1" baseline="30000" dirty="0">
                <a:solidFill>
                  <a:srgbClr val="E3E8F1"/>
                </a:solidFill>
              </a:rPr>
              <a:t>−3</a:t>
            </a:r>
            <a:pPr indent="0" marL="0">
              <a:lnSpc>
                <a:spcPct val="135000"/>
              </a:lnSpc>
              <a:spcAft>
                <a:spcPts val="200"/>
              </a:spcAft>
              <a:buNone/>
            </a:pPr>
            <a:r>
              <a:rPr lang="en-US" sz="1500" b="1" dirty="0">
                <a:solidFill>
                  <a:srgbClr val="E3E8F1"/>
                </a:solidFill>
              </a:rPr>
              <a:t> = 10</a:t>
            </a:r>
            <a:pPr indent="0" marL="0">
              <a:lnSpc>
                <a:spcPct val="135000"/>
              </a:lnSpc>
              <a:spcAft>
                <a:spcPts val="200"/>
              </a:spcAft>
              <a:buNone/>
            </a:pPr>
            <a:r>
              <a:rPr lang="en-US" sz="1500" b="1" baseline="30000" dirty="0">
                <a:solidFill>
                  <a:srgbClr val="E3E8F1"/>
                </a:solidFill>
              </a:rPr>
              <a:t>22</a:t>
            </a:r>
            <a:pPr indent="0" marL="0">
              <a:lnSpc>
                <a:spcPct val="135000"/>
              </a:lnSpc>
              <a:spcAft>
                <a:spcPts val="200"/>
              </a:spcAft>
              <a:buNone/>
            </a:pPr>
            <a:r>
              <a:rPr lang="en-US" sz="1500" b="1" dirty="0">
                <a:solidFill>
                  <a:srgbClr val="E3E8F1"/>
                </a:solidFill>
              </a:rPr>
              <a:t> m</a:t>
            </a:r>
            <a:pPr indent="0" marL="0">
              <a:lnSpc>
                <a:spcPct val="135000"/>
              </a:lnSpc>
              <a:spcAft>
                <a:spcPts val="200"/>
              </a:spcAft>
              <a:buNone/>
            </a:pPr>
            <a:r>
              <a:rPr lang="en-US" sz="1500" b="1" baseline="30000" dirty="0">
                <a:solidFill>
                  <a:srgbClr val="E3E8F1"/>
                </a:solidFill>
              </a:rPr>
              <a:t>−3</a:t>
            </a:r>
            <a:endParaRPr lang="en-US" sz="1500" dirty="0"/>
          </a:p>
          <a:p>
            <a:pPr indent="0" marL="0">
              <a:lnSpc>
                <a:spcPct val="135000"/>
              </a:lnSpc>
              <a:spcAft>
                <a:spcPts val="200"/>
              </a:spcAft>
              <a:buNone/>
            </a:pPr>
            <a:r>
              <a:rPr lang="en-US" sz="1500" dirty="0">
                <a:solidFill>
                  <a:srgbClr val="E3E8F1"/>
                </a:solidFill>
              </a:rPr>
              <a:t>비율 = 5×10</a:t>
            </a:r>
            <a:pPr indent="0" marL="0">
              <a:lnSpc>
                <a:spcPct val="135000"/>
              </a:lnSpc>
              <a:spcAft>
                <a:spcPts val="200"/>
              </a:spcAft>
              <a:buNone/>
            </a:pPr>
            <a:r>
              <a:rPr lang="en-US" sz="1500" baseline="30000" dirty="0">
                <a:solidFill>
                  <a:srgbClr val="E3E8F1"/>
                </a:solidFill>
              </a:rPr>
              <a:t>22</a:t>
            </a:r>
            <a:pPr indent="0" marL="0">
              <a:lnSpc>
                <a:spcPct val="135000"/>
              </a:lnSpc>
              <a:spcAft>
                <a:spcPts val="200"/>
              </a:spcAft>
              <a:buNone/>
            </a:pPr>
            <a:r>
              <a:rPr lang="en-US" sz="1500" dirty="0">
                <a:solidFill>
                  <a:srgbClr val="E3E8F1"/>
                </a:solidFill>
              </a:rPr>
              <a:t> ÷ 10</a:t>
            </a:r>
            <a:pPr indent="0" marL="0">
              <a:lnSpc>
                <a:spcPct val="135000"/>
              </a:lnSpc>
              <a:spcAft>
                <a:spcPts val="200"/>
              </a:spcAft>
              <a:buNone/>
            </a:pPr>
            <a:r>
              <a:rPr lang="en-US" sz="1500" baseline="30000" dirty="0">
                <a:solidFill>
                  <a:srgbClr val="E3E8F1"/>
                </a:solidFill>
              </a:rPr>
              <a:t>16</a:t>
            </a:r>
            <a:pPr indent="0" marL="0">
              <a:lnSpc>
                <a:spcPct val="135000"/>
              </a:lnSpc>
              <a:spcAft>
                <a:spcPts val="200"/>
              </a:spcAft>
              <a:buNone/>
            </a:pPr>
            <a:r>
              <a:rPr lang="en-US" sz="1500" dirty="0">
                <a:solidFill>
                  <a:srgbClr val="E3E8F1"/>
                </a:solidFill>
              </a:rPr>
              <a:t> = 5×10</a:t>
            </a:r>
            <a:pPr indent="0" marL="0">
              <a:lnSpc>
                <a:spcPct val="135000"/>
              </a:lnSpc>
              <a:spcAft>
                <a:spcPts val="200"/>
              </a:spcAft>
              <a:buNone/>
            </a:pPr>
            <a:r>
              <a:rPr lang="en-US" sz="1500" baseline="30000" dirty="0">
                <a:solidFill>
                  <a:srgbClr val="E3E8F1"/>
                </a:solidFill>
              </a:rPr>
              <a:t>6</a:t>
            </a:r>
            <a:endParaRPr lang="en-US" sz="1500" dirty="0"/>
          </a:p>
          <a:p>
            <a:pPr indent="0" marL="0">
              <a:lnSpc>
                <a:spcPct val="135000"/>
              </a:lnSpc>
              <a:spcAft>
                <a:spcPts val="200"/>
              </a:spcAft>
              <a:buNone/>
            </a:pPr>
            <a:r>
              <a:rPr lang="en-US" sz="1500" dirty="0">
                <a:solidFill>
                  <a:srgbClr val="E3E8F1"/>
                </a:solidFill>
              </a:rPr>
              <a:t>→ 원자 </a:t>
            </a:r>
            <a:pPr indent="0" marL="0">
              <a:lnSpc>
                <a:spcPct val="135000"/>
              </a:lnSpc>
              <a:spcAft>
                <a:spcPts val="200"/>
              </a:spcAft>
              <a:buNone/>
            </a:pPr>
            <a:r>
              <a:rPr lang="en-US" sz="1500" b="1" dirty="0">
                <a:solidFill>
                  <a:schemeClr val="accent3"/>
                </a:solidFill>
              </a:rPr>
              <a:t>500만 개 중 1개</a:t>
            </a:r>
            <a:pPr indent="0" marL="0">
              <a:lnSpc>
                <a:spcPct val="135000"/>
              </a:lnSpc>
              <a:spcAft>
                <a:spcPts val="200"/>
              </a:spcAft>
              <a:buNone/>
            </a:pPr>
            <a:r>
              <a:rPr lang="en-US" sz="1500" dirty="0">
                <a:solidFill>
                  <a:srgbClr val="E3E8F1"/>
                </a:solidFill>
              </a:rPr>
              <a:t>만 바꿔도 전기 성질이 크게 달라진다</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에너지 단위 ①</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eV: 전자 하나를 위한 에너지 단위</a:t>
            </a:r>
            <a:endParaRPr lang="en-US" sz="3000" dirty="0"/>
          </a:p>
        </p:txBody>
      </p:sp>
      <p:sp>
        <p:nvSpPr>
          <p:cNvPr id="5" name="Text 2"/>
          <p:cNvSpPr txBox="1"/>
          <p:nvPr/>
        </p:nvSpPr>
        <p:spPr>
          <a:xfrm>
            <a:off x="813816" y="1783080"/>
            <a:ext cx="10570464" cy="45720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1 eV(전자볼트) = 전자 1개가 </a:t>
            </a:r>
            <a:pPr indent="0" marL="0">
              <a:lnSpc>
                <a:spcPct val="115000"/>
              </a:lnSpc>
              <a:buNone/>
            </a:pPr>
            <a:r>
              <a:rPr lang="en-US" sz="1700" b="1" dirty="0">
                <a:solidFill>
                  <a:schemeClr val="tx1"/>
                </a:solidFill>
              </a:rPr>
              <a:t>1 V의 전위차</a:t>
            </a:r>
            <a:pPr indent="0" marL="0">
              <a:lnSpc>
                <a:spcPct val="115000"/>
              </a:lnSpc>
              <a:buNone/>
            </a:pPr>
            <a:r>
              <a:rPr lang="en-US" sz="1700" dirty="0">
                <a:solidFill>
                  <a:schemeClr val="tx1"/>
                </a:solidFill>
              </a:rPr>
              <a:t>를 지나면서 얻는(또는 잃는) 에너지</a:t>
            </a:r>
            <a:endParaRPr lang="en-US" sz="1700" dirty="0"/>
          </a:p>
        </p:txBody>
      </p:sp>
      <p:sp>
        <p:nvSpPr>
          <p:cNvPr id="6" name="eq-card-1"/>
          <p:cNvSpPr/>
          <p:nvPr/>
        </p:nvSpPr>
        <p:spPr>
          <a:xfrm>
            <a:off x="813816" y="2514600"/>
            <a:ext cx="3063240" cy="1463040"/>
          </a:xfrm>
          <a:prstGeom prst="roundRect">
            <a:avLst>
              <a:gd name="adj" fmla="val 7500"/>
            </a:avLst>
          </a:prstGeom>
          <a:solidFill>
            <a:schemeClr val="bg1"/>
          </a:solidFill>
          <a:ln w="12700">
            <a:solidFill>
              <a:srgbClr val="DCE2EC"/>
            </a:solidFill>
            <a:prstDash val="solid"/>
          </a:ln>
        </p:spPr>
      </p:sp>
      <p:sp>
        <p:nvSpPr>
          <p:cNvPr id="7" name="Text 4"/>
          <p:cNvSpPr txBox="1"/>
          <p:nvPr/>
        </p:nvSpPr>
        <p:spPr>
          <a:xfrm>
            <a:off x="1042416" y="2697480"/>
            <a:ext cx="2606040" cy="320040"/>
          </a:xfrm>
          <a:prstGeom prst="rect">
            <a:avLst/>
          </a:prstGeom>
          <a:noFill/>
          <a:ln/>
        </p:spPr>
        <p:txBody>
          <a:bodyPr wrap="square" lIns="0" tIns="0" rIns="0" bIns="0" rtlCol="0" anchor="t"/>
          <a:lstStyle/>
          <a:p>
            <a:pPr indent="0" marL="0">
              <a:lnSpc>
                <a:spcPct val="115000"/>
              </a:lnSpc>
              <a:buNone/>
            </a:pPr>
            <a:r>
              <a:rPr lang="en-US" sz="1300" b="1" dirty="0">
                <a:solidFill>
                  <a:schemeClr val="accent5"/>
                </a:solidFill>
              </a:rPr>
              <a:t>기본 전하 q (전자 전하의 크기)</a:t>
            </a:r>
            <a:endParaRPr lang="en-US" sz="1300" dirty="0"/>
          </a:p>
        </p:txBody>
      </p:sp>
      <p:sp>
        <p:nvSpPr>
          <p:cNvPr id="8" name="Text 5"/>
          <p:cNvSpPr txBox="1"/>
          <p:nvPr/>
        </p:nvSpPr>
        <p:spPr>
          <a:xfrm>
            <a:off x="1042416" y="3063240"/>
            <a:ext cx="2606040" cy="502920"/>
          </a:xfrm>
          <a:prstGeom prst="rect">
            <a:avLst/>
          </a:prstGeom>
          <a:noFill/>
          <a:ln/>
        </p:spPr>
        <p:txBody>
          <a:bodyPr wrap="square" lIns="0" tIns="0" rIns="0" bIns="0" rtlCol="0" anchor="t"/>
          <a:lstStyle/>
          <a:p>
            <a:pPr indent="0" marL="0">
              <a:lnSpc>
                <a:spcPct val="115000"/>
              </a:lnSpc>
              <a:buNone/>
            </a:pPr>
            <a:r>
              <a:rPr lang="en-US" sz="2200" b="1" dirty="0">
                <a:solidFill>
                  <a:schemeClr val="accent1"/>
                </a:solidFill>
              </a:rPr>
              <a:t>1.602×10</a:t>
            </a:r>
            <a:pPr indent="0" marL="0">
              <a:lnSpc>
                <a:spcPct val="115000"/>
              </a:lnSpc>
              <a:buNone/>
            </a:pPr>
            <a:r>
              <a:rPr lang="en-US" sz="2200" b="1" baseline="30000" dirty="0">
                <a:solidFill>
                  <a:schemeClr val="accent1"/>
                </a:solidFill>
              </a:rPr>
              <a:t>−19</a:t>
            </a:r>
            <a:pPr indent="0" marL="0">
              <a:lnSpc>
                <a:spcPct val="115000"/>
              </a:lnSpc>
              <a:buNone/>
            </a:pPr>
            <a:r>
              <a:rPr lang="en-US" sz="2200" b="1" dirty="0">
                <a:solidFill>
                  <a:schemeClr val="accent1"/>
                </a:solidFill>
              </a:rPr>
              <a:t> C</a:t>
            </a:r>
            <a:endParaRPr lang="en-US" sz="2200" dirty="0"/>
          </a:p>
        </p:txBody>
      </p:sp>
      <p:sp>
        <p:nvSpPr>
          <p:cNvPr id="9" name="Text 6"/>
          <p:cNvSpPr txBox="1"/>
          <p:nvPr/>
        </p:nvSpPr>
        <p:spPr>
          <a:xfrm>
            <a:off x="3877056" y="2926080"/>
            <a:ext cx="690372" cy="640080"/>
          </a:xfrm>
          <a:prstGeom prst="rect">
            <a:avLst/>
          </a:prstGeom>
          <a:noFill/>
          <a:ln/>
        </p:spPr>
        <p:txBody>
          <a:bodyPr wrap="square" lIns="0" tIns="0" rIns="0" bIns="0" rtlCol="0" anchor="ctr"/>
          <a:lstStyle/>
          <a:p>
            <a:pPr algn="ctr" indent="0" marL="0">
              <a:lnSpc>
                <a:spcPct val="115000"/>
              </a:lnSpc>
              <a:buNone/>
            </a:pPr>
            <a:r>
              <a:rPr lang="en-US" sz="3000" b="1" dirty="0">
                <a:solidFill>
                  <a:srgbClr val="9AA5B8"/>
                </a:solidFill>
              </a:rPr>
              <a:t>×</a:t>
            </a:r>
            <a:endParaRPr lang="en-US" sz="3000" dirty="0"/>
          </a:p>
        </p:txBody>
      </p:sp>
      <p:sp>
        <p:nvSpPr>
          <p:cNvPr id="10" name="eq-card-2"/>
          <p:cNvSpPr/>
          <p:nvPr/>
        </p:nvSpPr>
        <p:spPr>
          <a:xfrm>
            <a:off x="4567428" y="2514600"/>
            <a:ext cx="3063240" cy="1463040"/>
          </a:xfrm>
          <a:prstGeom prst="roundRect">
            <a:avLst>
              <a:gd name="adj" fmla="val 7500"/>
            </a:avLst>
          </a:prstGeom>
          <a:solidFill>
            <a:schemeClr val="bg1"/>
          </a:solidFill>
          <a:ln w="12700">
            <a:solidFill>
              <a:srgbClr val="DCE2EC"/>
            </a:solidFill>
            <a:prstDash val="solid"/>
          </a:ln>
        </p:spPr>
      </p:sp>
      <p:sp>
        <p:nvSpPr>
          <p:cNvPr id="11" name="Text 8"/>
          <p:cNvSpPr txBox="1"/>
          <p:nvPr/>
        </p:nvSpPr>
        <p:spPr>
          <a:xfrm>
            <a:off x="4796028" y="2697480"/>
            <a:ext cx="2606040" cy="320040"/>
          </a:xfrm>
          <a:prstGeom prst="rect">
            <a:avLst/>
          </a:prstGeom>
          <a:noFill/>
          <a:ln/>
        </p:spPr>
        <p:txBody>
          <a:bodyPr wrap="square" lIns="0" tIns="0" rIns="0" bIns="0" rtlCol="0" anchor="t"/>
          <a:lstStyle/>
          <a:p>
            <a:pPr indent="0" marL="0">
              <a:lnSpc>
                <a:spcPct val="115000"/>
              </a:lnSpc>
              <a:buNone/>
            </a:pPr>
            <a:r>
              <a:rPr lang="en-US" sz="1300" b="1" dirty="0">
                <a:solidFill>
                  <a:schemeClr val="accent5"/>
                </a:solidFill>
              </a:rPr>
              <a:t>전위차 V</a:t>
            </a:r>
            <a:endParaRPr lang="en-US" sz="1300" dirty="0"/>
          </a:p>
        </p:txBody>
      </p:sp>
      <p:sp>
        <p:nvSpPr>
          <p:cNvPr id="12" name="Text 9"/>
          <p:cNvSpPr txBox="1"/>
          <p:nvPr/>
        </p:nvSpPr>
        <p:spPr>
          <a:xfrm>
            <a:off x="4796028" y="3063240"/>
            <a:ext cx="2606040" cy="502920"/>
          </a:xfrm>
          <a:prstGeom prst="rect">
            <a:avLst/>
          </a:prstGeom>
          <a:noFill/>
          <a:ln/>
        </p:spPr>
        <p:txBody>
          <a:bodyPr wrap="square" lIns="0" tIns="0" rIns="0" bIns="0" rtlCol="0" anchor="t"/>
          <a:lstStyle/>
          <a:p>
            <a:pPr indent="0" marL="0">
              <a:lnSpc>
                <a:spcPct val="115000"/>
              </a:lnSpc>
              <a:buNone/>
            </a:pPr>
            <a:r>
              <a:rPr lang="en-US" sz="2200" b="1" dirty="0">
                <a:solidFill>
                  <a:schemeClr val="accent1"/>
                </a:solidFill>
              </a:rPr>
              <a:t>1 V</a:t>
            </a:r>
            <a:endParaRPr lang="en-US" sz="2200" dirty="0"/>
          </a:p>
        </p:txBody>
      </p:sp>
      <p:sp>
        <p:nvSpPr>
          <p:cNvPr id="13" name="Text 10"/>
          <p:cNvSpPr txBox="1"/>
          <p:nvPr/>
        </p:nvSpPr>
        <p:spPr>
          <a:xfrm>
            <a:off x="7630668" y="2926080"/>
            <a:ext cx="690372" cy="640080"/>
          </a:xfrm>
          <a:prstGeom prst="rect">
            <a:avLst/>
          </a:prstGeom>
          <a:noFill/>
          <a:ln/>
        </p:spPr>
        <p:txBody>
          <a:bodyPr wrap="square" lIns="0" tIns="0" rIns="0" bIns="0" rtlCol="0" anchor="ctr"/>
          <a:lstStyle/>
          <a:p>
            <a:pPr algn="ctr" indent="0" marL="0">
              <a:lnSpc>
                <a:spcPct val="115000"/>
              </a:lnSpc>
              <a:buNone/>
            </a:pPr>
            <a:r>
              <a:rPr lang="en-US" sz="3000" b="1" dirty="0">
                <a:solidFill>
                  <a:srgbClr val="9AA5B8"/>
                </a:solidFill>
              </a:rPr>
              <a:t>=</a:t>
            </a:r>
            <a:endParaRPr lang="en-US" sz="3000" dirty="0"/>
          </a:p>
        </p:txBody>
      </p:sp>
      <p:sp>
        <p:nvSpPr>
          <p:cNvPr id="14" name="eq-card-3"/>
          <p:cNvSpPr/>
          <p:nvPr/>
        </p:nvSpPr>
        <p:spPr>
          <a:xfrm>
            <a:off x="8321040" y="2514600"/>
            <a:ext cx="3063240" cy="1463040"/>
          </a:xfrm>
          <a:prstGeom prst="roundRect">
            <a:avLst>
              <a:gd name="adj" fmla="val 7500"/>
            </a:avLst>
          </a:prstGeom>
          <a:solidFill>
            <a:schemeClr val="tx2"/>
          </a:solidFill>
          <a:ln/>
        </p:spPr>
      </p:sp>
      <p:sp>
        <p:nvSpPr>
          <p:cNvPr id="15" name="Text 12"/>
          <p:cNvSpPr txBox="1"/>
          <p:nvPr/>
        </p:nvSpPr>
        <p:spPr>
          <a:xfrm>
            <a:off x="8549640" y="2697480"/>
            <a:ext cx="2606040" cy="320040"/>
          </a:xfrm>
          <a:prstGeom prst="rect">
            <a:avLst/>
          </a:prstGeom>
          <a:noFill/>
          <a:ln/>
        </p:spPr>
        <p:txBody>
          <a:bodyPr wrap="square" lIns="0" tIns="0" rIns="0" bIns="0" rtlCol="0" anchor="t"/>
          <a:lstStyle/>
          <a:p>
            <a:pPr indent="0" marL="0">
              <a:lnSpc>
                <a:spcPct val="115000"/>
              </a:lnSpc>
              <a:buNone/>
            </a:pPr>
            <a:r>
              <a:rPr lang="en-US" sz="1300" b="1" dirty="0">
                <a:solidFill>
                  <a:schemeClr val="accent3"/>
                </a:solidFill>
              </a:rPr>
              <a:t>에너지 E = qV</a:t>
            </a:r>
            <a:endParaRPr lang="en-US" sz="1300" dirty="0"/>
          </a:p>
        </p:txBody>
      </p:sp>
      <p:sp>
        <p:nvSpPr>
          <p:cNvPr id="16" name="Text 13"/>
          <p:cNvSpPr txBox="1"/>
          <p:nvPr/>
        </p:nvSpPr>
        <p:spPr>
          <a:xfrm>
            <a:off x="8549640" y="3063240"/>
            <a:ext cx="2606040" cy="502920"/>
          </a:xfrm>
          <a:prstGeom prst="rect">
            <a:avLst/>
          </a:prstGeom>
          <a:noFill/>
          <a:ln/>
        </p:spPr>
        <p:txBody>
          <a:bodyPr wrap="square" lIns="0" tIns="0" rIns="0" bIns="0" rtlCol="0" anchor="t"/>
          <a:lstStyle/>
          <a:p>
            <a:pPr indent="0" marL="0">
              <a:lnSpc>
                <a:spcPct val="115000"/>
              </a:lnSpc>
              <a:buNone/>
            </a:pPr>
            <a:r>
              <a:rPr lang="en-US" sz="2200" b="1" dirty="0">
                <a:solidFill>
                  <a:schemeClr val="bg1"/>
                </a:solidFill>
              </a:rPr>
              <a:t>1 eV</a:t>
            </a:r>
            <a:endParaRPr lang="en-US" sz="2200" dirty="0"/>
          </a:p>
        </p:txBody>
      </p:sp>
      <p:sp>
        <p:nvSpPr>
          <p:cNvPr id="17" name="Text 14"/>
          <p:cNvSpPr txBox="1"/>
          <p:nvPr/>
        </p:nvSpPr>
        <p:spPr>
          <a:xfrm>
            <a:off x="8549640" y="3547872"/>
            <a:ext cx="2606040" cy="320040"/>
          </a:xfrm>
          <a:prstGeom prst="rect">
            <a:avLst/>
          </a:prstGeom>
          <a:noFill/>
          <a:ln/>
        </p:spPr>
        <p:txBody>
          <a:bodyPr wrap="square" lIns="0" tIns="0" rIns="0" bIns="0" rtlCol="0" anchor="t"/>
          <a:lstStyle/>
          <a:p>
            <a:pPr indent="0" marL="0">
              <a:lnSpc>
                <a:spcPct val="115000"/>
              </a:lnSpc>
              <a:buNone/>
            </a:pPr>
            <a:r>
              <a:rPr lang="en-US" sz="1400" dirty="0">
                <a:solidFill>
                  <a:srgbClr val="C9D3E3"/>
                </a:solidFill>
              </a:rPr>
              <a:t>= 1.602×10</a:t>
            </a:r>
            <a:pPr indent="0" marL="0">
              <a:lnSpc>
                <a:spcPct val="115000"/>
              </a:lnSpc>
              <a:buNone/>
            </a:pPr>
            <a:r>
              <a:rPr lang="en-US" sz="1400" baseline="30000" dirty="0">
                <a:solidFill>
                  <a:srgbClr val="C9D3E3"/>
                </a:solidFill>
              </a:rPr>
              <a:t>−19</a:t>
            </a:r>
            <a:pPr indent="0" marL="0">
              <a:lnSpc>
                <a:spcPct val="115000"/>
              </a:lnSpc>
              <a:buNone/>
            </a:pPr>
            <a:r>
              <a:rPr lang="en-US" sz="1400" dirty="0">
                <a:solidFill>
                  <a:srgbClr val="C9D3E3"/>
                </a:solidFill>
              </a:rPr>
              <a:t> J</a:t>
            </a:r>
            <a:endParaRPr lang="en-US" sz="1400" dirty="0"/>
          </a:p>
        </p:txBody>
      </p:sp>
      <p:sp>
        <p:nvSpPr>
          <p:cNvPr id="18" name="info-1"/>
          <p:cNvSpPr/>
          <p:nvPr/>
        </p:nvSpPr>
        <p:spPr>
          <a:xfrm>
            <a:off x="813816" y="4343400"/>
            <a:ext cx="5148072" cy="1280160"/>
          </a:xfrm>
          <a:prstGeom prst="roundRect">
            <a:avLst>
              <a:gd name="adj" fmla="val 8571"/>
            </a:avLst>
          </a:prstGeom>
          <a:solidFill>
            <a:schemeClr val="accent4"/>
          </a:solidFill>
          <a:ln/>
        </p:spPr>
      </p:sp>
      <p:pic>
        <p:nvPicPr>
          <p:cNvPr id="19" name="Image 0" descr="아이콘">    </p:cNvPr>
          <p:cNvPicPr>
            <a:picLocks noChangeAspect="1"/>
          </p:cNvPicPr>
          <p:nvPr/>
        </p:nvPicPr>
        <p:blipFill>
          <a:blip r:embed="rId1"/>
          <a:stretch>
            <a:fillRect/>
          </a:stretch>
        </p:blipFill>
        <p:spPr>
          <a:xfrm>
            <a:off x="1133856" y="4663440"/>
            <a:ext cx="548640" cy="548640"/>
          </a:xfrm>
          <a:prstGeom prst="rect">
            <a:avLst/>
          </a:prstGeom>
        </p:spPr>
      </p:pic>
      <p:sp>
        <p:nvSpPr>
          <p:cNvPr id="20" name="Text 16"/>
          <p:cNvSpPr txBox="1"/>
          <p:nvPr/>
        </p:nvSpPr>
        <p:spPr>
          <a:xfrm>
            <a:off x="1911096" y="4526280"/>
            <a:ext cx="3822192" cy="914400"/>
          </a:xfrm>
          <a:prstGeom prst="rect">
            <a:avLst/>
          </a:prstGeom>
          <a:noFill/>
          <a:ln/>
        </p:spPr>
        <p:txBody>
          <a:bodyPr wrap="square" lIns="0" tIns="0" rIns="0" bIns="0" rtlCol="0" anchor="ctr"/>
          <a:lstStyle/>
          <a:p>
            <a:pPr indent="0" marL="0">
              <a:lnSpc>
                <a:spcPct val="130000"/>
              </a:lnSpc>
              <a:buNone/>
            </a:pPr>
            <a:r>
              <a:rPr lang="en-US" sz="1500" b="1" dirty="0">
                <a:solidFill>
                  <a:schemeClr val="tx1"/>
                </a:solidFill>
              </a:rPr>
              <a:t>C × V = J</a:t>
            </a:r>
            <a:endParaRPr lang="en-US" sz="1500" dirty="0"/>
          </a:p>
          <a:p>
            <a:pPr indent="0" marL="0">
              <a:lnSpc>
                <a:spcPct val="130000"/>
              </a:lnSpc>
              <a:buNone/>
            </a:pPr>
            <a:r>
              <a:rPr lang="en-US" sz="1500" dirty="0">
                <a:solidFill>
                  <a:schemeClr val="tx1"/>
                </a:solidFill>
              </a:rPr>
              <a:t>전압(V)은 “전하 1 C당 에너지(J/C)”</a:t>
            </a:r>
            <a:endParaRPr lang="en-US" sz="1500" dirty="0"/>
          </a:p>
        </p:txBody>
      </p:sp>
      <p:sp>
        <p:nvSpPr>
          <p:cNvPr id="21" name="info-2"/>
          <p:cNvSpPr/>
          <p:nvPr/>
        </p:nvSpPr>
        <p:spPr>
          <a:xfrm>
            <a:off x="6236208" y="4343400"/>
            <a:ext cx="5148072" cy="1280160"/>
          </a:xfrm>
          <a:prstGeom prst="roundRect">
            <a:avLst>
              <a:gd name="adj" fmla="val 8571"/>
            </a:avLst>
          </a:prstGeom>
          <a:solidFill>
            <a:schemeClr val="accent4"/>
          </a:solidFill>
          <a:ln/>
        </p:spPr>
      </p:sp>
      <p:pic>
        <p:nvPicPr>
          <p:cNvPr id="22" name="Image 1" descr="아이콘">    </p:cNvPr>
          <p:cNvPicPr>
            <a:picLocks noChangeAspect="1"/>
          </p:cNvPicPr>
          <p:nvPr/>
        </p:nvPicPr>
        <p:blipFill>
          <a:blip r:embed="rId2"/>
          <a:stretch>
            <a:fillRect/>
          </a:stretch>
        </p:blipFill>
        <p:spPr>
          <a:xfrm>
            <a:off x="6556248" y="4663440"/>
            <a:ext cx="548640" cy="548640"/>
          </a:xfrm>
          <a:prstGeom prst="rect">
            <a:avLst/>
          </a:prstGeom>
        </p:spPr>
      </p:pic>
      <p:sp>
        <p:nvSpPr>
          <p:cNvPr id="23" name="Text 18"/>
          <p:cNvSpPr txBox="1"/>
          <p:nvPr/>
        </p:nvSpPr>
        <p:spPr>
          <a:xfrm>
            <a:off x="7333488" y="4526280"/>
            <a:ext cx="3822192" cy="914400"/>
          </a:xfrm>
          <a:prstGeom prst="rect">
            <a:avLst/>
          </a:prstGeom>
          <a:noFill/>
          <a:ln/>
        </p:spPr>
        <p:txBody>
          <a:bodyPr wrap="square" lIns="0" tIns="0" rIns="0" bIns="0" rtlCol="0" anchor="ctr"/>
          <a:lstStyle/>
          <a:p>
            <a:pPr indent="0" marL="0">
              <a:lnSpc>
                <a:spcPct val="130000"/>
              </a:lnSpc>
              <a:buNone/>
            </a:pPr>
            <a:r>
              <a:rPr lang="en-US" sz="1500" b="1" dirty="0">
                <a:solidFill>
                  <a:schemeClr val="tx1"/>
                </a:solidFill>
              </a:rPr>
              <a:t>eV = 전자 전용 눈금자</a:t>
            </a:r>
            <a:endParaRPr lang="en-US" sz="1500" dirty="0"/>
          </a:p>
          <a:p>
            <a:pPr indent="0" marL="0">
              <a:lnSpc>
                <a:spcPct val="130000"/>
              </a:lnSpc>
              <a:buNone/>
            </a:pPr>
            <a:r>
              <a:rPr lang="en-US" sz="1500" dirty="0">
                <a:solidFill>
                  <a:schemeClr val="tx1"/>
                </a:solidFill>
              </a:rPr>
              <a:t>J로 쓰면 늘 10</a:t>
            </a:r>
            <a:pPr indent="0" marL="0">
              <a:lnSpc>
                <a:spcPct val="130000"/>
              </a:lnSpc>
              <a:buNone/>
            </a:pPr>
            <a:r>
              <a:rPr lang="en-US" sz="1500" baseline="30000" dirty="0">
                <a:solidFill>
                  <a:schemeClr val="tx1"/>
                </a:solidFill>
              </a:rPr>
              <a:t>−19</a:t>
            </a:r>
            <a:pPr indent="0" marL="0">
              <a:lnSpc>
                <a:spcPct val="130000"/>
              </a:lnSpc>
              <a:buNone/>
            </a:pPr>
            <a:r>
              <a:rPr lang="en-US" sz="1500" dirty="0">
                <a:solidFill>
                  <a:schemeClr val="tx1"/>
                </a:solidFill>
              </a:rPr>
              <a:t>이 따라붙는다</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에너지 단위 ②</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J은 사람의 단위, eV는 전자의 단위</a:t>
            </a:r>
            <a:endParaRPr lang="en-US" sz="3000" dirty="0"/>
          </a:p>
        </p:txBody>
      </p:sp>
      <p:sp>
        <p:nvSpPr>
          <p:cNvPr id="5" name="card-J"/>
          <p:cNvSpPr/>
          <p:nvPr/>
        </p:nvSpPr>
        <p:spPr>
          <a:xfrm>
            <a:off x="813816" y="1783080"/>
            <a:ext cx="3364992" cy="1325880"/>
          </a:xfrm>
          <a:prstGeom prst="roundRect">
            <a:avLst>
              <a:gd name="adj" fmla="val 8276"/>
            </a:avLst>
          </a:prstGeom>
          <a:solidFill>
            <a:schemeClr val="bg1"/>
          </a:solidFill>
          <a:ln w="12700">
            <a:solidFill>
              <a:srgbClr val="DCE2EC"/>
            </a:solidFill>
            <a:prstDash val="solid"/>
          </a:ln>
        </p:spPr>
      </p:sp>
      <p:sp>
        <p:nvSpPr>
          <p:cNvPr id="6" name="Text 3"/>
          <p:cNvSpPr txBox="1"/>
          <p:nvPr/>
        </p:nvSpPr>
        <p:spPr>
          <a:xfrm>
            <a:off x="1042416" y="1901952"/>
            <a:ext cx="2907792" cy="411480"/>
          </a:xfrm>
          <a:prstGeom prst="rect">
            <a:avLst/>
          </a:prstGeom>
          <a:noFill/>
          <a:ln/>
        </p:spPr>
        <p:txBody>
          <a:bodyPr wrap="square" lIns="0" tIns="0" rIns="0" bIns="0" rtlCol="0" anchor="t"/>
          <a:lstStyle/>
          <a:p>
            <a:pPr indent="0" marL="0">
              <a:lnSpc>
                <a:spcPct val="115000"/>
              </a:lnSpc>
              <a:buNone/>
            </a:pPr>
            <a:r>
              <a:rPr lang="en-US" sz="2000" b="1" dirty="0">
                <a:solidFill>
                  <a:schemeClr val="accent1"/>
                </a:solidFill>
              </a:rPr>
              <a:t>1 J</a:t>
            </a:r>
            <a:endParaRPr lang="en-US" sz="2000" dirty="0"/>
          </a:p>
        </p:txBody>
      </p:sp>
      <p:sp>
        <p:nvSpPr>
          <p:cNvPr id="7" name="Text 4"/>
          <p:cNvSpPr txBox="1"/>
          <p:nvPr/>
        </p:nvSpPr>
        <p:spPr>
          <a:xfrm>
            <a:off x="1042416" y="2331720"/>
            <a:ext cx="2907792" cy="68580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사과 하나(약 100 g)를 1 m 들어 올리는 일 (≈ 0.98 J)</a:t>
            </a:r>
            <a:endParaRPr lang="en-US" sz="1400" dirty="0"/>
          </a:p>
        </p:txBody>
      </p:sp>
      <p:sp>
        <p:nvSpPr>
          <p:cNvPr id="8" name="card-ratio"/>
          <p:cNvSpPr/>
          <p:nvPr/>
        </p:nvSpPr>
        <p:spPr>
          <a:xfrm>
            <a:off x="4453128" y="1783080"/>
            <a:ext cx="3291840" cy="1325880"/>
          </a:xfrm>
          <a:prstGeom prst="roundRect">
            <a:avLst>
              <a:gd name="adj" fmla="val 8276"/>
            </a:avLst>
          </a:prstGeom>
          <a:solidFill>
            <a:schemeClr val="tx2"/>
          </a:solidFill>
          <a:ln/>
        </p:spPr>
      </p:sp>
      <p:sp>
        <p:nvSpPr>
          <p:cNvPr id="9" name="Text 6"/>
          <p:cNvSpPr txBox="1"/>
          <p:nvPr/>
        </p:nvSpPr>
        <p:spPr>
          <a:xfrm>
            <a:off x="4453128" y="1920240"/>
            <a:ext cx="3291840" cy="320040"/>
          </a:xfrm>
          <a:prstGeom prst="rect">
            <a:avLst/>
          </a:prstGeom>
          <a:noFill/>
          <a:ln/>
        </p:spPr>
        <p:txBody>
          <a:bodyPr wrap="square" lIns="0" tIns="0" rIns="0" bIns="0" rtlCol="0" anchor="t"/>
          <a:lstStyle/>
          <a:p>
            <a:pPr algn="ctr" indent="0" marL="0">
              <a:lnSpc>
                <a:spcPct val="115000"/>
              </a:lnSpc>
              <a:buNone/>
            </a:pPr>
            <a:r>
              <a:rPr lang="en-US" sz="1300" dirty="0">
                <a:solidFill>
                  <a:srgbClr val="C9D3E3"/>
                </a:solidFill>
              </a:rPr>
              <a:t>1 J은</a:t>
            </a:r>
            <a:endParaRPr lang="en-US" sz="1300" dirty="0"/>
          </a:p>
        </p:txBody>
      </p:sp>
      <p:sp>
        <p:nvSpPr>
          <p:cNvPr id="10" name="Text 7"/>
          <p:cNvSpPr txBox="1"/>
          <p:nvPr/>
        </p:nvSpPr>
        <p:spPr>
          <a:xfrm>
            <a:off x="4453128" y="2240280"/>
            <a:ext cx="3291840" cy="640080"/>
          </a:xfrm>
          <a:prstGeom prst="rect">
            <a:avLst/>
          </a:prstGeom>
          <a:noFill/>
          <a:ln/>
        </p:spPr>
        <p:txBody>
          <a:bodyPr wrap="square" lIns="0" tIns="0" rIns="0" bIns="0" rtlCol="0" anchor="ctr"/>
          <a:lstStyle/>
          <a:p>
            <a:pPr algn="ctr" indent="0" marL="0">
              <a:lnSpc>
                <a:spcPct val="115000"/>
              </a:lnSpc>
              <a:buNone/>
            </a:pPr>
            <a:r>
              <a:rPr lang="en-US" sz="2400" b="1" dirty="0">
                <a:solidFill>
                  <a:schemeClr val="accent3"/>
                </a:solidFill>
              </a:rPr>
              <a:t>6.24×10</a:t>
            </a:r>
            <a:pPr algn="ctr" indent="0" marL="0">
              <a:lnSpc>
                <a:spcPct val="115000"/>
              </a:lnSpc>
              <a:buNone/>
            </a:pPr>
            <a:r>
              <a:rPr lang="en-US" sz="2400" b="1" baseline="30000" dirty="0">
                <a:solidFill>
                  <a:schemeClr val="accent3"/>
                </a:solidFill>
              </a:rPr>
              <a:t>18</a:t>
            </a:r>
            <a:pPr algn="ctr" indent="0" marL="0">
              <a:lnSpc>
                <a:spcPct val="115000"/>
              </a:lnSpc>
              <a:buNone/>
            </a:pPr>
            <a:r>
              <a:rPr lang="en-US" sz="2400" b="1" dirty="0">
                <a:solidFill>
                  <a:schemeClr val="accent3"/>
                </a:solidFill>
              </a:rPr>
              <a:t> eV</a:t>
            </a:r>
            <a:endParaRPr lang="en-US" sz="2400" dirty="0"/>
          </a:p>
        </p:txBody>
      </p:sp>
      <p:sp>
        <p:nvSpPr>
          <p:cNvPr id="11" name="card-eV"/>
          <p:cNvSpPr/>
          <p:nvPr/>
        </p:nvSpPr>
        <p:spPr>
          <a:xfrm>
            <a:off x="8019288" y="1783080"/>
            <a:ext cx="3364992" cy="1325880"/>
          </a:xfrm>
          <a:prstGeom prst="roundRect">
            <a:avLst>
              <a:gd name="adj" fmla="val 8276"/>
            </a:avLst>
          </a:prstGeom>
          <a:solidFill>
            <a:schemeClr val="bg1"/>
          </a:solidFill>
          <a:ln w="12700">
            <a:solidFill>
              <a:srgbClr val="DCE2EC"/>
            </a:solidFill>
            <a:prstDash val="solid"/>
          </a:ln>
        </p:spPr>
      </p:sp>
      <p:sp>
        <p:nvSpPr>
          <p:cNvPr id="12" name="Text 9"/>
          <p:cNvSpPr txBox="1"/>
          <p:nvPr/>
        </p:nvSpPr>
        <p:spPr>
          <a:xfrm>
            <a:off x="8247888" y="1901952"/>
            <a:ext cx="2907792" cy="411480"/>
          </a:xfrm>
          <a:prstGeom prst="rect">
            <a:avLst/>
          </a:prstGeom>
          <a:noFill/>
          <a:ln/>
        </p:spPr>
        <p:txBody>
          <a:bodyPr wrap="square" lIns="0" tIns="0" rIns="0" bIns="0" rtlCol="0" anchor="t"/>
          <a:lstStyle/>
          <a:p>
            <a:pPr indent="0" marL="0">
              <a:lnSpc>
                <a:spcPct val="115000"/>
              </a:lnSpc>
              <a:buNone/>
            </a:pPr>
            <a:r>
              <a:rPr lang="en-US" sz="2000" b="1" dirty="0">
                <a:solidFill>
                  <a:schemeClr val="accent1"/>
                </a:solidFill>
              </a:rPr>
              <a:t>1 eV</a:t>
            </a:r>
            <a:endParaRPr lang="en-US" sz="2000" dirty="0"/>
          </a:p>
        </p:txBody>
      </p:sp>
      <p:sp>
        <p:nvSpPr>
          <p:cNvPr id="13" name="Text 10"/>
          <p:cNvSpPr txBox="1"/>
          <p:nvPr/>
        </p:nvSpPr>
        <p:spPr>
          <a:xfrm>
            <a:off x="8247888" y="2331720"/>
            <a:ext cx="2907792" cy="68580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전자 하나가 1 V의 전위차를 지나며 얻는 일</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3816" y="3383280"/>
          <a:ext cx="10570464" cy="914400"/>
        </p:xfrm>
        <a:graphic>
          <a:graphicData uri="http://schemas.openxmlformats.org/drawingml/2006/table">
            <a:tbl>
              <a:tblPr/>
              <a:tblGrid>
                <a:gridCol w="4224528"/>
                <a:gridCol w="3172968"/>
                <a:gridCol w="3172968"/>
              </a:tblGrid>
              <a:tr h="0">
                <a:tc>
                  <a:txBody>
                    <a:bodyPr/>
                    <a:lstStyle/>
                    <a:p>
                      <a:pPr algn="l" indent="0" marL="0">
                        <a:buNone/>
                      </a:pPr>
                      <a:r>
                        <a:rPr lang="en-US" sz="1500" b="1" dirty="0">
                          <a:solidFill>
                            <a:srgbClr val="F3F5F9"/>
                          </a:solidFill>
                          <a:latin typeface="Malgun Gothic" pitchFamily="34" charset="0"/>
                          <a:ea typeface="Malgun Gothic" pitchFamily="34" charset="-122"/>
                          <a:cs typeface="Malgun Gothic" pitchFamily="34" charset="-120"/>
                        </a:rPr>
                        <a:t>반도체 속 에너지</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r" indent="0" marL="0">
                        <a:buNone/>
                      </a:pPr>
                      <a:r>
                        <a:rPr lang="en-US" sz="1500" b="1" dirty="0">
                          <a:solidFill>
                            <a:srgbClr val="F3F5F9"/>
                          </a:solidFill>
                          <a:latin typeface="Malgun Gothic" pitchFamily="34" charset="0"/>
                          <a:ea typeface="Malgun Gothic" pitchFamily="34" charset="-122"/>
                          <a:cs typeface="Malgun Gothic" pitchFamily="34" charset="-120"/>
                        </a:rPr>
                        <a:t>eV로 쓰면</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r" indent="0" marL="0">
                        <a:buNone/>
                      </a:pPr>
                      <a:r>
                        <a:rPr lang="en-US" sz="1500" b="1" dirty="0">
                          <a:solidFill>
                            <a:srgbClr val="F3F5F9"/>
                          </a:solidFill>
                          <a:latin typeface="Malgun Gothic" pitchFamily="34" charset="0"/>
                          <a:ea typeface="Malgun Gothic" pitchFamily="34" charset="-122"/>
                          <a:cs typeface="Malgun Gothic" pitchFamily="34" charset="-120"/>
                        </a:rPr>
                        <a:t>J로 쓰면</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r>
              <a:tr h="0">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실리콘 밴드갭 Eg (300 K)</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500" dirty="0">
                          <a:solidFill>
                            <a:srgbClr val="1B2A44"/>
                          </a:solidFill>
                          <a:latin typeface="Malgun Gothic" pitchFamily="34" charset="0"/>
                          <a:ea typeface="Malgun Gothic" pitchFamily="34" charset="-122"/>
                          <a:cs typeface="Malgun Gothic" pitchFamily="34" charset="-120"/>
                        </a:rPr>
                        <a:t>1.12 eV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500" dirty="0">
                          <a:solidFill>
                            <a:srgbClr val="1B2A44"/>
                          </a:solidFill>
                          <a:latin typeface="Malgun Gothic" pitchFamily="34" charset="0"/>
                          <a:ea typeface="Malgun Gothic" pitchFamily="34" charset="-122"/>
                          <a:cs typeface="Malgun Gothic" pitchFamily="34" charset="-120"/>
                        </a:rPr>
                        <a:t>1.79×10</a:t>
                      </a:r>
                      <a:pPr algn="r" indent="0" marL="0">
                        <a:buNone/>
                      </a:pPr>
                      <a:r>
                        <a:rPr lang="en-US" sz="1500" baseline="30000" dirty="0">
                          <a:solidFill>
                            <a:srgbClr val="1B2A44"/>
                          </a:solidFill>
                          <a:latin typeface="Malgun Gothic" pitchFamily="34" charset="0"/>
                          <a:ea typeface="Malgun Gothic" pitchFamily="34" charset="-122"/>
                          <a:cs typeface="Malgun Gothic" pitchFamily="34" charset="-120"/>
                        </a:rPr>
                        <a:t>−19</a:t>
                      </a:r>
                      <a:pPr algn="r" indent="0" marL="0">
                        <a:buNone/>
                      </a:pPr>
                      <a:r>
                        <a:rPr lang="en-US" sz="1500" dirty="0">
                          <a:solidFill>
                            <a:srgbClr val="1B2A44"/>
                          </a:solidFill>
                          <a:latin typeface="Malgun Gothic" pitchFamily="34" charset="0"/>
                          <a:ea typeface="Malgun Gothic" pitchFamily="34" charset="-122"/>
                          <a:cs typeface="Malgun Gothic" pitchFamily="34" charset="-120"/>
                        </a:rPr>
                        <a:t> J</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r h="0">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빨간 빛(650 nm) 광자 1개</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r" indent="0" marL="0">
                        <a:buNone/>
                      </a:pPr>
                      <a:r>
                        <a:rPr lang="en-US" sz="1500" dirty="0">
                          <a:solidFill>
                            <a:srgbClr val="1B2A44"/>
                          </a:solidFill>
                          <a:latin typeface="Malgun Gothic" pitchFamily="34" charset="0"/>
                          <a:ea typeface="Malgun Gothic" pitchFamily="34" charset="-122"/>
                          <a:cs typeface="Malgun Gothic" pitchFamily="34" charset="-120"/>
                        </a:rPr>
                        <a:t>1.91 eV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r" indent="0" marL="0">
                        <a:buNone/>
                      </a:pPr>
                      <a:r>
                        <a:rPr lang="en-US" sz="1500" dirty="0">
                          <a:solidFill>
                            <a:srgbClr val="1B2A44"/>
                          </a:solidFill>
                          <a:latin typeface="Malgun Gothic" pitchFamily="34" charset="0"/>
                          <a:ea typeface="Malgun Gothic" pitchFamily="34" charset="-122"/>
                          <a:cs typeface="Malgun Gothic" pitchFamily="34" charset="-120"/>
                        </a:rPr>
                        <a:t>3.06×10</a:t>
                      </a:r>
                      <a:pPr algn="r" indent="0" marL="0">
                        <a:buNone/>
                      </a:pPr>
                      <a:r>
                        <a:rPr lang="en-US" sz="1500" baseline="30000" dirty="0">
                          <a:solidFill>
                            <a:srgbClr val="1B2A44"/>
                          </a:solidFill>
                          <a:latin typeface="Malgun Gothic" pitchFamily="34" charset="0"/>
                          <a:ea typeface="Malgun Gothic" pitchFamily="34" charset="-122"/>
                          <a:cs typeface="Malgun Gothic" pitchFamily="34" charset="-120"/>
                        </a:rPr>
                        <a:t>−19</a:t>
                      </a:r>
                      <a:pPr algn="r" indent="0" marL="0">
                        <a:buNone/>
                      </a:pPr>
                      <a:r>
                        <a:rPr lang="en-US" sz="1500" dirty="0">
                          <a:solidFill>
                            <a:srgbClr val="1B2A44"/>
                          </a:solidFill>
                          <a:latin typeface="Malgun Gothic" pitchFamily="34" charset="0"/>
                          <a:ea typeface="Malgun Gothic" pitchFamily="34" charset="-122"/>
                          <a:cs typeface="Malgun Gothic" pitchFamily="34" charset="-120"/>
                        </a:rPr>
                        <a:t> J</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r>
              <a:tr h="0">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실온(300 K) 열에너지 kT</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500" dirty="0">
                          <a:solidFill>
                            <a:srgbClr val="1B2A44"/>
                          </a:solidFill>
                          <a:latin typeface="Malgun Gothic" pitchFamily="34" charset="0"/>
                          <a:ea typeface="Malgun Gothic" pitchFamily="34" charset="-122"/>
                          <a:cs typeface="Malgun Gothic" pitchFamily="34" charset="-120"/>
                        </a:rPr>
                        <a:t>0.0259 eV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500" dirty="0">
                          <a:solidFill>
                            <a:srgbClr val="1B2A44"/>
                          </a:solidFill>
                          <a:latin typeface="Malgun Gothic" pitchFamily="34" charset="0"/>
                          <a:ea typeface="Malgun Gothic" pitchFamily="34" charset="-122"/>
                          <a:cs typeface="Malgun Gothic" pitchFamily="34" charset="-120"/>
                        </a:rPr>
                        <a:t>4.14×10</a:t>
                      </a:r>
                      <a:pPr algn="r" indent="0" marL="0">
                        <a:buNone/>
                      </a:pPr>
                      <a:r>
                        <a:rPr lang="en-US" sz="1500" baseline="30000" dirty="0">
                          <a:solidFill>
                            <a:srgbClr val="1B2A44"/>
                          </a:solidFill>
                          <a:latin typeface="Malgun Gothic" pitchFamily="34" charset="0"/>
                          <a:ea typeface="Malgun Gothic" pitchFamily="34" charset="-122"/>
                          <a:cs typeface="Malgun Gothic" pitchFamily="34" charset="-120"/>
                        </a:rPr>
                        <a:t>−21</a:t>
                      </a:r>
                      <a:pPr algn="r" indent="0" marL="0">
                        <a:buNone/>
                      </a:pPr>
                      <a:r>
                        <a:rPr lang="en-US" sz="1500" dirty="0">
                          <a:solidFill>
                            <a:srgbClr val="1B2A44"/>
                          </a:solidFill>
                          <a:latin typeface="Malgun Gothic" pitchFamily="34" charset="0"/>
                          <a:ea typeface="Malgun Gothic" pitchFamily="34" charset="-122"/>
                          <a:cs typeface="Malgun Gothic" pitchFamily="34" charset="-120"/>
                        </a:rPr>
                        <a:t> J</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bl>
          </a:graphicData>
        </a:graphic>
      </p:graphicFrame>
      <p:sp>
        <p:nvSpPr>
          <p:cNvPr id="15" name="Text 11"/>
          <p:cNvSpPr txBox="1"/>
          <p:nvPr/>
        </p:nvSpPr>
        <p:spPr>
          <a:xfrm>
            <a:off x="813816" y="5349240"/>
            <a:ext cx="10570464" cy="411480"/>
          </a:xfrm>
          <a:prstGeom prst="rect">
            <a:avLst/>
          </a:prstGeom>
          <a:noFill/>
          <a:ln/>
        </p:spPr>
        <p:txBody>
          <a:bodyPr wrap="square" lIns="0" tIns="0" rIns="0" bIns="0" rtlCol="0" anchor="t"/>
          <a:lstStyle/>
          <a:p>
            <a:pPr indent="0" marL="0">
              <a:lnSpc>
                <a:spcPct val="115000"/>
              </a:lnSpc>
              <a:buNone/>
            </a:pPr>
            <a:r>
              <a:rPr lang="en-US" sz="1600" b="1" dirty="0">
                <a:solidFill>
                  <a:schemeClr val="tx2"/>
                </a:solidFill>
              </a:rPr>
              <a:t>eV → J: × 1.602×10</a:t>
            </a:r>
            <a:pPr indent="0" marL="0">
              <a:lnSpc>
                <a:spcPct val="115000"/>
              </a:lnSpc>
              <a:buNone/>
            </a:pPr>
            <a:r>
              <a:rPr lang="en-US" sz="1600" b="1" baseline="30000" dirty="0">
                <a:solidFill>
                  <a:schemeClr val="tx2"/>
                </a:solidFill>
              </a:rPr>
              <a:t>−19</a:t>
            </a:r>
            <a:pPr indent="0" marL="0">
              <a:lnSpc>
                <a:spcPct val="115000"/>
              </a:lnSpc>
              <a:buNone/>
            </a:pPr>
            <a:r>
              <a:rPr lang="en-US" sz="1600" b="1" dirty="0">
                <a:solidFill>
                  <a:schemeClr val="tx2"/>
                </a:solidFill>
              </a:rPr>
              <a:t>     |     J → eV: ÷ 1.602×10</a:t>
            </a:r>
            <a:pPr indent="0" marL="0">
              <a:lnSpc>
                <a:spcPct val="115000"/>
              </a:lnSpc>
              <a:buNone/>
            </a:pPr>
            <a:r>
              <a:rPr lang="en-US" sz="1600" b="1" baseline="30000" dirty="0">
                <a:solidFill>
                  <a:schemeClr val="tx2"/>
                </a:solidFill>
              </a:rPr>
              <a:t>−19</a:t>
            </a:r>
            <a:endParaRPr lang="en-US" sz="16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예제 1</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빨간 LED 빛 한 알갱이의 에너지</a:t>
            </a:r>
            <a:endParaRPr lang="en-US" sz="3000" dirty="0"/>
          </a:p>
        </p:txBody>
      </p:sp>
      <p:sp>
        <p:nvSpPr>
          <p:cNvPr id="5" name="problem"/>
          <p:cNvSpPr/>
          <p:nvPr/>
        </p:nvSpPr>
        <p:spPr>
          <a:xfrm>
            <a:off x="813816" y="1737360"/>
            <a:ext cx="10570464" cy="868680"/>
          </a:xfrm>
          <a:prstGeom prst="roundRect">
            <a:avLst>
              <a:gd name="adj" fmla="val 12632"/>
            </a:avLst>
          </a:prstGeom>
          <a:solidFill>
            <a:schemeClr val="accent4"/>
          </a:solidFill>
          <a:ln/>
        </p:spPr>
      </p:sp>
      <p:sp>
        <p:nvSpPr>
          <p:cNvPr id="6" name="Text 3"/>
          <p:cNvSpPr txBox="1"/>
          <p:nvPr/>
        </p:nvSpPr>
        <p:spPr>
          <a:xfrm>
            <a:off x="1042416" y="1737360"/>
            <a:ext cx="10113264" cy="868680"/>
          </a:xfrm>
          <a:prstGeom prst="rect">
            <a:avLst/>
          </a:prstGeom>
          <a:noFill/>
          <a:ln/>
        </p:spPr>
        <p:txBody>
          <a:bodyPr wrap="square" lIns="0" tIns="0" rIns="0" bIns="0" rtlCol="0" anchor="ctr"/>
          <a:lstStyle/>
          <a:p>
            <a:pPr indent="0" marL="0">
              <a:lnSpc>
                <a:spcPct val="130000"/>
              </a:lnSpc>
              <a:buNone/>
            </a:pPr>
            <a:r>
              <a:rPr lang="en-US" sz="1500" dirty="0">
                <a:solidFill>
                  <a:schemeClr val="tx1"/>
                </a:solidFill>
              </a:rPr>
              <a:t>문제: 파장 λ = 650 nm인 빨간 LED 빛의 광자 1개 에너지를 J과 eV로 구하라. (h = 6.626×10</a:t>
            </a:r>
            <a:pPr indent="0" marL="0">
              <a:lnSpc>
                <a:spcPct val="130000"/>
              </a:lnSpc>
              <a:buNone/>
            </a:pPr>
            <a:r>
              <a:rPr lang="en-US" sz="1500" baseline="30000" dirty="0">
                <a:solidFill>
                  <a:schemeClr val="tx1"/>
                </a:solidFill>
              </a:rPr>
              <a:t>−34</a:t>
            </a:r>
            <a:pPr indent="0" marL="0">
              <a:lnSpc>
                <a:spcPct val="130000"/>
              </a:lnSpc>
              <a:buNone/>
            </a:pPr>
            <a:r>
              <a:rPr lang="en-US" sz="1500" dirty="0">
                <a:solidFill>
                  <a:schemeClr val="tx1"/>
                </a:solidFill>
              </a:rPr>
              <a:t> J·s, c = 3.00×10</a:t>
            </a:r>
            <a:pPr indent="0" marL="0">
              <a:lnSpc>
                <a:spcPct val="130000"/>
              </a:lnSpc>
              <a:buNone/>
            </a:pPr>
            <a:r>
              <a:rPr lang="en-US" sz="1500" baseline="30000" dirty="0">
                <a:solidFill>
                  <a:schemeClr val="tx1"/>
                </a:solidFill>
              </a:rPr>
              <a:t>8</a:t>
            </a:r>
            <a:pPr indent="0" marL="0">
              <a:lnSpc>
                <a:spcPct val="130000"/>
              </a:lnSpc>
              <a:buNone/>
            </a:pPr>
            <a:r>
              <a:rPr lang="en-US" sz="1500" dirty="0">
                <a:solidFill>
                  <a:schemeClr val="tx1"/>
                </a:solidFill>
              </a:rPr>
              <a:t> m/s)</a:t>
            </a:r>
            <a:endParaRPr lang="en-US" sz="1500" dirty="0"/>
          </a:p>
        </p:txBody>
      </p:sp>
      <p:sp>
        <p:nvSpPr>
          <p:cNvPr id="7" name="Text 4"/>
          <p:cNvSpPr txBox="1"/>
          <p:nvPr/>
        </p:nvSpPr>
        <p:spPr>
          <a:xfrm>
            <a:off x="813816" y="2880360"/>
            <a:ext cx="6409944" cy="2743200"/>
          </a:xfrm>
          <a:prstGeom prst="rect">
            <a:avLst/>
          </a:prstGeom>
          <a:noFill/>
          <a:ln/>
        </p:spPr>
        <p:txBody>
          <a:bodyPr wrap="square" lIns="0" tIns="0" rIns="0" bIns="0" rtlCol="0" anchor="t"/>
          <a:lstStyle/>
          <a:p>
            <a:pPr indent="0" marL="0">
              <a:lnSpc>
                <a:spcPct val="145000"/>
              </a:lnSpc>
              <a:spcAft>
                <a:spcPts val="400"/>
              </a:spcAft>
              <a:buNone/>
            </a:pPr>
            <a:r>
              <a:rPr lang="en-US" sz="1600" b="1" dirty="0">
                <a:solidFill>
                  <a:schemeClr val="accent1"/>
                </a:solidFill>
              </a:rPr>
              <a:t>① nm → m</a:t>
            </a:r>
            <a:pPr indent="0" marL="0">
              <a:lnSpc>
                <a:spcPct val="145000"/>
              </a:lnSpc>
              <a:spcAft>
                <a:spcPts val="400"/>
              </a:spcAft>
              <a:buNone/>
            </a:pPr>
            <a:r>
              <a:rPr lang="en-US" sz="1600" dirty="0">
                <a:solidFill>
                  <a:schemeClr val="tx1"/>
                </a:solidFill>
              </a:rPr>
              <a:t>  650 nm = 650×10</a:t>
            </a:r>
            <a:pPr indent="0" marL="0">
              <a:lnSpc>
                <a:spcPct val="145000"/>
              </a:lnSpc>
              <a:spcAft>
                <a:spcPts val="400"/>
              </a:spcAft>
              <a:buNone/>
            </a:pPr>
            <a:r>
              <a:rPr lang="en-US" sz="1600" baseline="30000" dirty="0">
                <a:solidFill>
                  <a:schemeClr val="tx1"/>
                </a:solidFill>
              </a:rPr>
              <a:t>−9</a:t>
            </a:r>
            <a:pPr indent="0" marL="0">
              <a:lnSpc>
                <a:spcPct val="145000"/>
              </a:lnSpc>
              <a:spcAft>
                <a:spcPts val="400"/>
              </a:spcAft>
              <a:buNone/>
            </a:pPr>
            <a:r>
              <a:rPr lang="en-US" sz="1600" dirty="0">
                <a:solidFill>
                  <a:schemeClr val="tx1"/>
                </a:solidFill>
              </a:rPr>
              <a:t> m = 6.50×10</a:t>
            </a:r>
            <a:pPr indent="0" marL="0">
              <a:lnSpc>
                <a:spcPct val="145000"/>
              </a:lnSpc>
              <a:spcAft>
                <a:spcPts val="400"/>
              </a:spcAft>
              <a:buNone/>
            </a:pPr>
            <a:r>
              <a:rPr lang="en-US" sz="1600" baseline="30000" dirty="0">
                <a:solidFill>
                  <a:schemeClr val="tx1"/>
                </a:solidFill>
              </a:rPr>
              <a:t>−7</a:t>
            </a:r>
            <a:pPr indent="0" marL="0">
              <a:lnSpc>
                <a:spcPct val="145000"/>
              </a:lnSpc>
              <a:spcAft>
                <a:spcPts val="400"/>
              </a:spcAft>
              <a:buNone/>
            </a:pPr>
            <a:r>
              <a:rPr lang="en-US" sz="1600" dirty="0">
                <a:solidFill>
                  <a:schemeClr val="tx1"/>
                </a:solidFill>
              </a:rPr>
              <a:t> m</a:t>
            </a:r>
            <a:endParaRPr lang="en-US" sz="1600" dirty="0"/>
          </a:p>
          <a:p>
            <a:pPr indent="0" marL="0">
              <a:lnSpc>
                <a:spcPct val="145000"/>
              </a:lnSpc>
              <a:spcAft>
                <a:spcPts val="400"/>
              </a:spcAft>
              <a:buNone/>
            </a:pPr>
            <a:r>
              <a:rPr lang="en-US" sz="1600" b="1" dirty="0">
                <a:solidFill>
                  <a:schemeClr val="accent1"/>
                </a:solidFill>
              </a:rPr>
              <a:t>② 공식에 SI 단위로</a:t>
            </a:r>
            <a:endParaRPr lang="en-US" sz="1600" dirty="0"/>
          </a:p>
          <a:p>
            <a:pPr indent="0" marL="0">
              <a:lnSpc>
                <a:spcPct val="145000"/>
              </a:lnSpc>
              <a:spcAft>
                <a:spcPts val="400"/>
              </a:spcAft>
              <a:buNone/>
            </a:pPr>
            <a:r>
              <a:rPr lang="en-US" sz="1600" dirty="0">
                <a:solidFill>
                  <a:schemeClr val="tx1"/>
                </a:solidFill>
              </a:rPr>
              <a:t>E = hc/λ = (6.626×10</a:t>
            </a:r>
            <a:pPr indent="0" marL="0">
              <a:lnSpc>
                <a:spcPct val="145000"/>
              </a:lnSpc>
              <a:spcAft>
                <a:spcPts val="400"/>
              </a:spcAft>
              <a:buNone/>
            </a:pPr>
            <a:r>
              <a:rPr lang="en-US" sz="1600" baseline="30000" dirty="0">
                <a:solidFill>
                  <a:schemeClr val="tx1"/>
                </a:solidFill>
              </a:rPr>
              <a:t>−34</a:t>
            </a:r>
            <a:pPr indent="0" marL="0">
              <a:lnSpc>
                <a:spcPct val="145000"/>
              </a:lnSpc>
              <a:spcAft>
                <a:spcPts val="400"/>
              </a:spcAft>
              <a:buNone/>
            </a:pPr>
            <a:r>
              <a:rPr lang="en-US" sz="1600" dirty="0">
                <a:solidFill>
                  <a:schemeClr val="tx1"/>
                </a:solidFill>
              </a:rPr>
              <a:t> J·s)(3.00×10</a:t>
            </a:r>
            <a:pPr indent="0" marL="0">
              <a:lnSpc>
                <a:spcPct val="145000"/>
              </a:lnSpc>
              <a:spcAft>
                <a:spcPts val="400"/>
              </a:spcAft>
              <a:buNone/>
            </a:pPr>
            <a:r>
              <a:rPr lang="en-US" sz="1600" baseline="30000" dirty="0">
                <a:solidFill>
                  <a:schemeClr val="tx1"/>
                </a:solidFill>
              </a:rPr>
              <a:t>8</a:t>
            </a:r>
            <a:pPr indent="0" marL="0">
              <a:lnSpc>
                <a:spcPct val="145000"/>
              </a:lnSpc>
              <a:spcAft>
                <a:spcPts val="400"/>
              </a:spcAft>
              <a:buNone/>
            </a:pPr>
            <a:r>
              <a:rPr lang="en-US" sz="1600" dirty="0">
                <a:solidFill>
                  <a:schemeClr val="tx1"/>
                </a:solidFill>
              </a:rPr>
              <a:t> m/s) / (6.50×10</a:t>
            </a:r>
            <a:pPr indent="0" marL="0">
              <a:lnSpc>
                <a:spcPct val="145000"/>
              </a:lnSpc>
              <a:spcAft>
                <a:spcPts val="400"/>
              </a:spcAft>
              <a:buNone/>
            </a:pPr>
            <a:r>
              <a:rPr lang="en-US" sz="1600" baseline="30000" dirty="0">
                <a:solidFill>
                  <a:schemeClr val="tx1"/>
                </a:solidFill>
              </a:rPr>
              <a:t>−7</a:t>
            </a:r>
            <a:pPr indent="0" marL="0">
              <a:lnSpc>
                <a:spcPct val="145000"/>
              </a:lnSpc>
              <a:spcAft>
                <a:spcPts val="400"/>
              </a:spcAft>
              <a:buNone/>
            </a:pPr>
            <a:r>
              <a:rPr lang="en-US" sz="1600" dirty="0">
                <a:solidFill>
                  <a:schemeClr val="tx1"/>
                </a:solidFill>
              </a:rPr>
              <a:t> m)</a:t>
            </a:r>
            <a:endParaRPr lang="en-US" sz="1600" dirty="0"/>
          </a:p>
          <a:p>
            <a:pPr indent="0" marL="0">
              <a:lnSpc>
                <a:spcPct val="145000"/>
              </a:lnSpc>
              <a:spcAft>
                <a:spcPts val="400"/>
              </a:spcAft>
              <a:buNone/>
            </a:pPr>
            <a:r>
              <a:rPr lang="en-US" sz="1600" dirty="0">
                <a:solidFill>
                  <a:schemeClr val="tx1"/>
                </a:solidFill>
              </a:rPr>
              <a:t>    = </a:t>
            </a:r>
            <a:pPr indent="0" marL="0">
              <a:lnSpc>
                <a:spcPct val="145000"/>
              </a:lnSpc>
              <a:spcAft>
                <a:spcPts val="400"/>
              </a:spcAft>
              <a:buNone/>
            </a:pPr>
            <a:r>
              <a:rPr lang="en-US" sz="1600" b="1" dirty="0">
                <a:solidFill>
                  <a:schemeClr val="tx1"/>
                </a:solidFill>
              </a:rPr>
              <a:t>3.06×10</a:t>
            </a:r>
            <a:pPr indent="0" marL="0">
              <a:lnSpc>
                <a:spcPct val="145000"/>
              </a:lnSpc>
              <a:spcAft>
                <a:spcPts val="400"/>
              </a:spcAft>
              <a:buNone/>
            </a:pPr>
            <a:r>
              <a:rPr lang="en-US" sz="1600" b="1" baseline="30000" dirty="0">
                <a:solidFill>
                  <a:schemeClr val="tx1"/>
                </a:solidFill>
              </a:rPr>
              <a:t>−19</a:t>
            </a:r>
            <a:pPr indent="0" marL="0">
              <a:lnSpc>
                <a:spcPct val="145000"/>
              </a:lnSpc>
              <a:spcAft>
                <a:spcPts val="400"/>
              </a:spcAft>
              <a:buNone/>
            </a:pPr>
            <a:r>
              <a:rPr lang="en-US" sz="1600" b="1" dirty="0">
                <a:solidFill>
                  <a:schemeClr val="tx1"/>
                </a:solidFill>
              </a:rPr>
              <a:t> J</a:t>
            </a:r>
            <a:pPr indent="0" marL="0">
              <a:lnSpc>
                <a:spcPct val="145000"/>
              </a:lnSpc>
              <a:spcAft>
                <a:spcPts val="400"/>
              </a:spcAft>
              <a:buNone/>
            </a:pPr>
            <a:r>
              <a:rPr lang="en-US" sz="1600" dirty="0">
                <a:solidFill>
                  <a:schemeClr val="tx1"/>
                </a:solidFill>
              </a:rPr>
              <a:t>  (s, m 약분 → J만 남음)</a:t>
            </a:r>
            <a:endParaRPr lang="en-US" sz="1600" dirty="0"/>
          </a:p>
          <a:p>
            <a:pPr indent="0" marL="0">
              <a:lnSpc>
                <a:spcPct val="145000"/>
              </a:lnSpc>
              <a:spcAft>
                <a:spcPts val="400"/>
              </a:spcAft>
              <a:buNone/>
            </a:pPr>
            <a:r>
              <a:rPr lang="en-US" sz="1600" b="1" dirty="0">
                <a:solidFill>
                  <a:schemeClr val="accent1"/>
                </a:solidFill>
              </a:rPr>
              <a:t>③ J → eV</a:t>
            </a:r>
            <a:pPr indent="0" marL="0">
              <a:lnSpc>
                <a:spcPct val="145000"/>
              </a:lnSpc>
              <a:spcAft>
                <a:spcPts val="400"/>
              </a:spcAft>
              <a:buNone/>
            </a:pPr>
            <a:r>
              <a:rPr lang="en-US" sz="1600" dirty="0">
                <a:solidFill>
                  <a:schemeClr val="tx1"/>
                </a:solidFill>
              </a:rPr>
              <a:t>  3.06×10</a:t>
            </a:r>
            <a:pPr indent="0" marL="0">
              <a:lnSpc>
                <a:spcPct val="145000"/>
              </a:lnSpc>
              <a:spcAft>
                <a:spcPts val="400"/>
              </a:spcAft>
              <a:buNone/>
            </a:pPr>
            <a:r>
              <a:rPr lang="en-US" sz="1600" baseline="30000" dirty="0">
                <a:solidFill>
                  <a:schemeClr val="tx1"/>
                </a:solidFill>
              </a:rPr>
              <a:t>−19</a:t>
            </a:r>
            <a:pPr indent="0" marL="0">
              <a:lnSpc>
                <a:spcPct val="145000"/>
              </a:lnSpc>
              <a:spcAft>
                <a:spcPts val="400"/>
              </a:spcAft>
              <a:buNone/>
            </a:pPr>
            <a:r>
              <a:rPr lang="en-US" sz="1600" dirty="0">
                <a:solidFill>
                  <a:schemeClr val="tx1"/>
                </a:solidFill>
              </a:rPr>
              <a:t> J ÷ (1.602×10</a:t>
            </a:r>
            <a:pPr indent="0" marL="0">
              <a:lnSpc>
                <a:spcPct val="145000"/>
              </a:lnSpc>
              <a:spcAft>
                <a:spcPts val="400"/>
              </a:spcAft>
              <a:buNone/>
            </a:pPr>
            <a:r>
              <a:rPr lang="en-US" sz="1600" baseline="30000" dirty="0">
                <a:solidFill>
                  <a:schemeClr val="tx1"/>
                </a:solidFill>
              </a:rPr>
              <a:t>−19</a:t>
            </a:r>
            <a:pPr indent="0" marL="0">
              <a:lnSpc>
                <a:spcPct val="145000"/>
              </a:lnSpc>
              <a:spcAft>
                <a:spcPts val="400"/>
              </a:spcAft>
              <a:buNone/>
            </a:pPr>
            <a:r>
              <a:rPr lang="en-US" sz="1600" dirty="0">
                <a:solidFill>
                  <a:schemeClr val="tx1"/>
                </a:solidFill>
              </a:rPr>
              <a:t> J/eV) = </a:t>
            </a:r>
            <a:pPr indent="0" marL="0">
              <a:lnSpc>
                <a:spcPct val="145000"/>
              </a:lnSpc>
              <a:spcAft>
                <a:spcPts val="400"/>
              </a:spcAft>
              <a:buNone/>
            </a:pPr>
            <a:r>
              <a:rPr lang="en-US" sz="1600" b="1" dirty="0">
                <a:solidFill>
                  <a:schemeClr val="tx1"/>
                </a:solidFill>
              </a:rPr>
              <a:t>1.91 eV</a:t>
            </a:r>
            <a:endParaRPr lang="en-US" sz="1600" dirty="0"/>
          </a:p>
        </p:txBody>
      </p:sp>
      <p:sp>
        <p:nvSpPr>
          <p:cNvPr id="8" name="shortcut-card"/>
          <p:cNvSpPr/>
          <p:nvPr/>
        </p:nvSpPr>
        <p:spPr>
          <a:xfrm>
            <a:off x="7543800" y="2880360"/>
            <a:ext cx="3840480" cy="2834640"/>
          </a:xfrm>
          <a:prstGeom prst="roundRect">
            <a:avLst>
              <a:gd name="adj" fmla="val 3871"/>
            </a:avLst>
          </a:prstGeom>
          <a:solidFill>
            <a:schemeClr val="tx2"/>
          </a:solidFill>
          <a:ln/>
        </p:spPr>
      </p:sp>
      <p:sp>
        <p:nvSpPr>
          <p:cNvPr id="9" name="Text 6"/>
          <p:cNvSpPr txBox="1"/>
          <p:nvPr/>
        </p:nvSpPr>
        <p:spPr>
          <a:xfrm>
            <a:off x="7818120" y="3063240"/>
            <a:ext cx="3291840" cy="365760"/>
          </a:xfrm>
          <a:prstGeom prst="rect">
            <a:avLst/>
          </a:prstGeom>
          <a:noFill/>
          <a:ln/>
        </p:spPr>
        <p:txBody>
          <a:bodyPr wrap="square" lIns="0" tIns="0" rIns="0" bIns="0" rtlCol="0" anchor="t"/>
          <a:lstStyle/>
          <a:p>
            <a:pPr indent="0" marL="0">
              <a:lnSpc>
                <a:spcPct val="115000"/>
              </a:lnSpc>
              <a:buNone/>
            </a:pPr>
            <a:r>
              <a:rPr lang="en-US" sz="1500" b="1" dirty="0">
                <a:solidFill>
                  <a:schemeClr val="accent3"/>
                </a:solidFill>
              </a:rPr>
              <a:t>지름길 공식</a:t>
            </a:r>
            <a:endParaRPr lang="en-US" sz="1500" dirty="0"/>
          </a:p>
        </p:txBody>
      </p:sp>
      <p:sp>
        <p:nvSpPr>
          <p:cNvPr id="10" name="Text 7"/>
          <p:cNvSpPr txBox="1"/>
          <p:nvPr/>
        </p:nvSpPr>
        <p:spPr>
          <a:xfrm>
            <a:off x="7818120" y="3429000"/>
            <a:ext cx="3291840" cy="548640"/>
          </a:xfrm>
          <a:prstGeom prst="rect">
            <a:avLst/>
          </a:prstGeom>
          <a:noFill/>
          <a:ln/>
        </p:spPr>
        <p:txBody>
          <a:bodyPr wrap="square" lIns="0" tIns="0" rIns="0" bIns="0" rtlCol="0" anchor="t"/>
          <a:lstStyle/>
          <a:p>
            <a:pPr indent="0" marL="0">
              <a:lnSpc>
                <a:spcPct val="115000"/>
              </a:lnSpc>
              <a:buNone/>
            </a:pPr>
            <a:r>
              <a:rPr lang="en-US" sz="2200" b="1" dirty="0">
                <a:solidFill>
                  <a:schemeClr val="bg1"/>
                </a:solidFill>
              </a:rPr>
              <a:t>E[eV] ≈ 1240 / λ[nm]</a:t>
            </a:r>
            <a:endParaRPr lang="en-US" sz="2200" dirty="0"/>
          </a:p>
        </p:txBody>
      </p:sp>
      <p:sp>
        <p:nvSpPr>
          <p:cNvPr id="11" name="Text 8"/>
          <p:cNvSpPr txBox="1"/>
          <p:nvPr/>
        </p:nvSpPr>
        <p:spPr>
          <a:xfrm>
            <a:off x="7818120" y="4069080"/>
            <a:ext cx="3291840" cy="1554480"/>
          </a:xfrm>
          <a:prstGeom prst="rect">
            <a:avLst/>
          </a:prstGeom>
          <a:noFill/>
          <a:ln/>
        </p:spPr>
        <p:txBody>
          <a:bodyPr wrap="square" lIns="0" tIns="0" rIns="0" bIns="0" rtlCol="0" anchor="t"/>
          <a:lstStyle/>
          <a:p>
            <a:pPr indent="0" marL="0">
              <a:lnSpc>
                <a:spcPct val="135000"/>
              </a:lnSpc>
              <a:spcAft>
                <a:spcPts val="400"/>
              </a:spcAft>
              <a:buNone/>
            </a:pPr>
            <a:r>
              <a:rPr lang="en-US" sz="1400" dirty="0">
                <a:solidFill>
                  <a:srgbClr val="C9D3E3"/>
                </a:solidFill>
              </a:rPr>
              <a:t>1240 / 650 = 1.91 eV ✓</a:t>
            </a:r>
            <a:endParaRPr lang="en-US" sz="1400" dirty="0"/>
          </a:p>
          <a:p>
            <a:pPr indent="0" marL="0">
              <a:lnSpc>
                <a:spcPct val="135000"/>
              </a:lnSpc>
              <a:spcAft>
                <a:spcPts val="400"/>
              </a:spcAft>
              <a:buNone/>
            </a:pPr>
            <a:r>
              <a:rPr lang="en-US" sz="1400" dirty="0">
                <a:solidFill>
                  <a:srgbClr val="C9D3E3"/>
                </a:solidFill>
              </a:rPr>
              <a:t>거꾸로: 실리콘 Eg = 1.12 eV → λ = 1240/1.12 ≈ 1110 nm. 이보다 긴 적외선은 실리콘이 거의 흡수하지 못한다.</a:t>
            </a:r>
            <a:endParaRPr lang="en-US" sz="14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열에너지 kT</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kT: 온도를 에너지로 바꾼 값</a:t>
            </a:r>
            <a:endParaRPr lang="en-US" sz="3000" dirty="0"/>
          </a:p>
        </p:txBody>
      </p:sp>
      <p:sp>
        <p:nvSpPr>
          <p:cNvPr id="5" name="k-card-1"/>
          <p:cNvSpPr/>
          <p:nvPr/>
        </p:nvSpPr>
        <p:spPr>
          <a:xfrm>
            <a:off x="813816" y="1783080"/>
            <a:ext cx="5148072" cy="1188720"/>
          </a:xfrm>
          <a:prstGeom prst="roundRect">
            <a:avLst>
              <a:gd name="adj" fmla="val 9231"/>
            </a:avLst>
          </a:prstGeom>
          <a:solidFill>
            <a:schemeClr val="bg1"/>
          </a:solidFill>
          <a:ln w="12700">
            <a:solidFill>
              <a:srgbClr val="DCE2EC"/>
            </a:solidFill>
            <a:prstDash val="solid"/>
          </a:ln>
        </p:spPr>
      </p:sp>
      <p:sp>
        <p:nvSpPr>
          <p:cNvPr id="6" name="Text 3"/>
          <p:cNvSpPr txBox="1"/>
          <p:nvPr/>
        </p:nvSpPr>
        <p:spPr>
          <a:xfrm>
            <a:off x="1088136" y="1920240"/>
            <a:ext cx="4599432" cy="320040"/>
          </a:xfrm>
          <a:prstGeom prst="rect">
            <a:avLst/>
          </a:prstGeom>
          <a:noFill/>
          <a:ln/>
        </p:spPr>
        <p:txBody>
          <a:bodyPr wrap="square" lIns="0" tIns="0" rIns="0" bIns="0" rtlCol="0" anchor="t"/>
          <a:lstStyle/>
          <a:p>
            <a:pPr indent="0" marL="0">
              <a:lnSpc>
                <a:spcPct val="115000"/>
              </a:lnSpc>
              <a:buNone/>
            </a:pPr>
            <a:r>
              <a:rPr lang="en-US" sz="1300" dirty="0">
                <a:solidFill>
                  <a:schemeClr val="accent5"/>
                </a:solidFill>
              </a:rPr>
              <a:t>볼츠만 상수 k (J 이름표)</a:t>
            </a:r>
            <a:endParaRPr lang="en-US" sz="1300" dirty="0"/>
          </a:p>
        </p:txBody>
      </p:sp>
      <p:sp>
        <p:nvSpPr>
          <p:cNvPr id="7" name="Text 4"/>
          <p:cNvSpPr txBox="1"/>
          <p:nvPr/>
        </p:nvSpPr>
        <p:spPr>
          <a:xfrm>
            <a:off x="1088136" y="2240280"/>
            <a:ext cx="4599432" cy="594360"/>
          </a:xfrm>
          <a:prstGeom prst="rect">
            <a:avLst/>
          </a:prstGeom>
          <a:noFill/>
          <a:ln/>
        </p:spPr>
        <p:txBody>
          <a:bodyPr wrap="square" lIns="0" tIns="0" rIns="0" bIns="0" rtlCol="0" anchor="t"/>
          <a:lstStyle/>
          <a:p>
            <a:pPr indent="0" marL="0">
              <a:lnSpc>
                <a:spcPct val="115000"/>
              </a:lnSpc>
              <a:buNone/>
            </a:pPr>
            <a:r>
              <a:rPr lang="en-US" sz="2600" b="1" dirty="0">
                <a:solidFill>
                  <a:schemeClr val="accent1"/>
                </a:solidFill>
              </a:rPr>
              <a:t>1.381×10</a:t>
            </a:r>
            <a:pPr indent="0" marL="0">
              <a:lnSpc>
                <a:spcPct val="115000"/>
              </a:lnSpc>
              <a:buNone/>
            </a:pPr>
            <a:r>
              <a:rPr lang="en-US" sz="2600" b="1" baseline="30000" dirty="0">
                <a:solidFill>
                  <a:schemeClr val="accent1"/>
                </a:solidFill>
              </a:rPr>
              <a:t>−23</a:t>
            </a:r>
            <a:pPr indent="0" marL="0">
              <a:lnSpc>
                <a:spcPct val="115000"/>
              </a:lnSpc>
              <a:buNone/>
            </a:pPr>
            <a:r>
              <a:rPr lang="en-US" sz="2600" b="1" dirty="0">
                <a:solidFill>
                  <a:schemeClr val="accent1"/>
                </a:solidFill>
              </a:rPr>
              <a:t> J/K</a:t>
            </a:r>
            <a:endParaRPr lang="en-US" sz="2600" dirty="0"/>
          </a:p>
        </p:txBody>
      </p:sp>
      <p:sp>
        <p:nvSpPr>
          <p:cNvPr id="8" name="k-card-2"/>
          <p:cNvSpPr/>
          <p:nvPr/>
        </p:nvSpPr>
        <p:spPr>
          <a:xfrm>
            <a:off x="6236208" y="1783080"/>
            <a:ext cx="5148072" cy="1188720"/>
          </a:xfrm>
          <a:prstGeom prst="roundRect">
            <a:avLst>
              <a:gd name="adj" fmla="val 9231"/>
            </a:avLst>
          </a:prstGeom>
          <a:solidFill>
            <a:schemeClr val="bg1"/>
          </a:solidFill>
          <a:ln w="12700">
            <a:solidFill>
              <a:srgbClr val="DCE2EC"/>
            </a:solidFill>
            <a:prstDash val="solid"/>
          </a:ln>
        </p:spPr>
      </p:sp>
      <p:sp>
        <p:nvSpPr>
          <p:cNvPr id="9" name="Text 6"/>
          <p:cNvSpPr txBox="1"/>
          <p:nvPr/>
        </p:nvSpPr>
        <p:spPr>
          <a:xfrm>
            <a:off x="6510528" y="1920240"/>
            <a:ext cx="4599432" cy="320040"/>
          </a:xfrm>
          <a:prstGeom prst="rect">
            <a:avLst/>
          </a:prstGeom>
          <a:noFill/>
          <a:ln/>
        </p:spPr>
        <p:txBody>
          <a:bodyPr wrap="square" lIns="0" tIns="0" rIns="0" bIns="0" rtlCol="0" anchor="t"/>
          <a:lstStyle/>
          <a:p>
            <a:pPr indent="0" marL="0">
              <a:lnSpc>
                <a:spcPct val="115000"/>
              </a:lnSpc>
              <a:buNone/>
            </a:pPr>
            <a:r>
              <a:rPr lang="en-US" sz="1300" dirty="0">
                <a:solidFill>
                  <a:schemeClr val="accent5"/>
                </a:solidFill>
              </a:rPr>
              <a:t>볼츠만 상수 k (eV 이름표)</a:t>
            </a:r>
            <a:endParaRPr lang="en-US" sz="1300" dirty="0"/>
          </a:p>
        </p:txBody>
      </p:sp>
      <p:sp>
        <p:nvSpPr>
          <p:cNvPr id="10" name="Text 7"/>
          <p:cNvSpPr txBox="1"/>
          <p:nvPr/>
        </p:nvSpPr>
        <p:spPr>
          <a:xfrm>
            <a:off x="6510528" y="2240280"/>
            <a:ext cx="4599432" cy="594360"/>
          </a:xfrm>
          <a:prstGeom prst="rect">
            <a:avLst/>
          </a:prstGeom>
          <a:noFill/>
          <a:ln/>
        </p:spPr>
        <p:txBody>
          <a:bodyPr wrap="square" lIns="0" tIns="0" rIns="0" bIns="0" rtlCol="0" anchor="t"/>
          <a:lstStyle/>
          <a:p>
            <a:pPr indent="0" marL="0">
              <a:lnSpc>
                <a:spcPct val="115000"/>
              </a:lnSpc>
              <a:buNone/>
            </a:pPr>
            <a:r>
              <a:rPr lang="en-US" sz="2600" b="1" dirty="0">
                <a:solidFill>
                  <a:schemeClr val="accent1"/>
                </a:solidFill>
              </a:rPr>
              <a:t>8.617×10</a:t>
            </a:r>
            <a:pPr indent="0" marL="0">
              <a:lnSpc>
                <a:spcPct val="115000"/>
              </a:lnSpc>
              <a:buNone/>
            </a:pPr>
            <a:r>
              <a:rPr lang="en-US" sz="2600" b="1" baseline="30000" dirty="0">
                <a:solidFill>
                  <a:schemeClr val="accent1"/>
                </a:solidFill>
              </a:rPr>
              <a:t>−5</a:t>
            </a:r>
            <a:pPr indent="0" marL="0">
              <a:lnSpc>
                <a:spcPct val="115000"/>
              </a:lnSpc>
              <a:buNone/>
            </a:pPr>
            <a:r>
              <a:rPr lang="en-US" sz="2600" b="1" dirty="0">
                <a:solidFill>
                  <a:schemeClr val="accent1"/>
                </a:solidFill>
              </a:rPr>
              <a:t> eV/K</a:t>
            </a:r>
            <a:endParaRPr lang="en-US" sz="2600" dirty="0"/>
          </a:p>
        </p:txBody>
      </p:sp>
      <p:sp>
        <p:nvSpPr>
          <p:cNvPr id="11" name="Text 8"/>
          <p:cNvSpPr txBox="1"/>
          <p:nvPr/>
        </p:nvSpPr>
        <p:spPr>
          <a:xfrm>
            <a:off x="813816" y="3200400"/>
            <a:ext cx="10570464" cy="868680"/>
          </a:xfrm>
          <a:prstGeom prst="rect">
            <a:avLst/>
          </a:prstGeom>
          <a:noFill/>
          <a:ln/>
        </p:spPr>
        <p:txBody>
          <a:bodyPr wrap="square" lIns="0" tIns="0" rIns="0" bIns="0" rtlCol="0" anchor="t"/>
          <a:lstStyle/>
          <a:p>
            <a:pPr indent="0" marL="0">
              <a:lnSpc>
                <a:spcPct val="140000"/>
              </a:lnSpc>
              <a:buNone/>
            </a:pPr>
            <a:r>
              <a:rPr lang="en-US" sz="1700" dirty="0">
                <a:solidFill>
                  <a:schemeClr val="tx1"/>
                </a:solidFill>
              </a:rPr>
              <a:t>T = 300 K(약 27 °C)일 때  kT = 1.381×10</a:t>
            </a:r>
            <a:pPr indent="0" marL="0">
              <a:lnSpc>
                <a:spcPct val="140000"/>
              </a:lnSpc>
              <a:buNone/>
            </a:pPr>
            <a:r>
              <a:rPr lang="en-US" sz="1700" baseline="30000" dirty="0">
                <a:solidFill>
                  <a:schemeClr val="tx1"/>
                </a:solidFill>
              </a:rPr>
              <a:t>−23</a:t>
            </a:r>
            <a:pPr indent="0" marL="0">
              <a:lnSpc>
                <a:spcPct val="140000"/>
              </a:lnSpc>
              <a:buNone/>
            </a:pPr>
            <a:r>
              <a:rPr lang="en-US" sz="1700" dirty="0">
                <a:solidFill>
                  <a:schemeClr val="tx1"/>
                </a:solidFill>
              </a:rPr>
              <a:t> × 300 = </a:t>
            </a:r>
            <a:pPr indent="0" marL="0">
              <a:lnSpc>
                <a:spcPct val="140000"/>
              </a:lnSpc>
              <a:buNone/>
            </a:pPr>
            <a:r>
              <a:rPr lang="en-US" sz="1700" b="1" dirty="0">
                <a:solidFill>
                  <a:schemeClr val="tx1"/>
                </a:solidFill>
              </a:rPr>
              <a:t>4.14×10</a:t>
            </a:r>
            <a:pPr indent="0" marL="0">
              <a:lnSpc>
                <a:spcPct val="140000"/>
              </a:lnSpc>
              <a:buNone/>
            </a:pPr>
            <a:r>
              <a:rPr lang="en-US" sz="1700" b="1" baseline="30000" dirty="0">
                <a:solidFill>
                  <a:schemeClr val="tx1"/>
                </a:solidFill>
              </a:rPr>
              <a:t>−21</a:t>
            </a:r>
            <a:pPr indent="0" marL="0">
              <a:lnSpc>
                <a:spcPct val="140000"/>
              </a:lnSpc>
              <a:buNone/>
            </a:pPr>
            <a:r>
              <a:rPr lang="en-US" sz="1700" b="1" dirty="0">
                <a:solidFill>
                  <a:schemeClr val="tx1"/>
                </a:solidFill>
              </a:rPr>
              <a:t> J</a:t>
            </a:r>
            <a:endParaRPr lang="en-US" sz="1700" dirty="0"/>
          </a:p>
          <a:p>
            <a:pPr indent="0" marL="0">
              <a:lnSpc>
                <a:spcPct val="140000"/>
              </a:lnSpc>
              <a:buNone/>
            </a:pPr>
            <a:r>
              <a:rPr lang="en-US" sz="1700" dirty="0">
                <a:solidFill>
                  <a:schemeClr val="tx1"/>
                </a:solidFill>
              </a:rPr>
              <a:t>같은 값을 eV로:  kT = 8.617×10</a:t>
            </a:r>
            <a:pPr indent="0" marL="0">
              <a:lnSpc>
                <a:spcPct val="140000"/>
              </a:lnSpc>
              <a:buNone/>
            </a:pPr>
            <a:r>
              <a:rPr lang="en-US" sz="1700" baseline="30000" dirty="0">
                <a:solidFill>
                  <a:schemeClr val="tx1"/>
                </a:solidFill>
              </a:rPr>
              <a:t>−5</a:t>
            </a:r>
            <a:pPr indent="0" marL="0">
              <a:lnSpc>
                <a:spcPct val="140000"/>
              </a:lnSpc>
              <a:buNone/>
            </a:pPr>
            <a:r>
              <a:rPr lang="en-US" sz="1700" dirty="0">
                <a:solidFill>
                  <a:schemeClr val="tx1"/>
                </a:solidFill>
              </a:rPr>
              <a:t> × 300 = </a:t>
            </a:r>
            <a:pPr indent="0" marL="0">
              <a:lnSpc>
                <a:spcPct val="140000"/>
              </a:lnSpc>
              <a:buNone/>
            </a:pPr>
            <a:r>
              <a:rPr lang="en-US" sz="1700" b="1" dirty="0">
                <a:solidFill>
                  <a:schemeClr val="accent2"/>
                </a:solidFill>
              </a:rPr>
              <a:t>0.0259 eV ≈ 26 meV</a:t>
            </a:r>
            <a:endParaRPr lang="en-US" sz="1700" dirty="0"/>
          </a:p>
        </p:txBody>
      </p:sp>
      <p:sp>
        <p:nvSpPr>
          <p:cNvPr id="12" name="Text 9"/>
          <p:cNvSpPr txBox="1"/>
          <p:nvPr/>
        </p:nvSpPr>
        <p:spPr>
          <a:xfrm>
            <a:off x="813816" y="4297680"/>
            <a:ext cx="2194560" cy="411480"/>
          </a:xfrm>
          <a:prstGeom prst="rect">
            <a:avLst/>
          </a:prstGeom>
          <a:noFill/>
          <a:ln/>
        </p:spPr>
        <p:txBody>
          <a:bodyPr wrap="square" lIns="0" tIns="0" rIns="0" bIns="0" rtlCol="0" anchor="ctr"/>
          <a:lstStyle/>
          <a:p>
            <a:pPr indent="0" marL="0">
              <a:lnSpc>
                <a:spcPct val="115000"/>
              </a:lnSpc>
              <a:buNone/>
            </a:pPr>
            <a:r>
              <a:rPr lang="en-US" sz="1500" b="1" dirty="0">
                <a:solidFill>
                  <a:schemeClr val="tx1"/>
                </a:solidFill>
              </a:rPr>
              <a:t>kT  0.0259 eV</a:t>
            </a:r>
            <a:endParaRPr lang="en-US" sz="1500" dirty="0"/>
          </a:p>
        </p:txBody>
      </p:sp>
      <p:sp>
        <p:nvSpPr>
          <p:cNvPr id="13" name="bar-kT"/>
          <p:cNvSpPr/>
          <p:nvPr/>
        </p:nvSpPr>
        <p:spPr>
          <a:xfrm>
            <a:off x="3099816" y="4315968"/>
            <a:ext cx="191770" cy="384048"/>
          </a:xfrm>
          <a:prstGeom prst="rect">
            <a:avLst/>
          </a:prstGeom>
          <a:solidFill>
            <a:srgbClr val="E07B2A"/>
          </a:solidFill>
          <a:ln/>
        </p:spPr>
      </p:sp>
      <p:sp>
        <p:nvSpPr>
          <p:cNvPr id="14" name="Text 11"/>
          <p:cNvSpPr txBox="1"/>
          <p:nvPr/>
        </p:nvSpPr>
        <p:spPr>
          <a:xfrm>
            <a:off x="813816" y="4846320"/>
            <a:ext cx="2194560" cy="411480"/>
          </a:xfrm>
          <a:prstGeom prst="rect">
            <a:avLst/>
          </a:prstGeom>
          <a:noFill/>
          <a:ln/>
        </p:spPr>
        <p:txBody>
          <a:bodyPr wrap="square" lIns="0" tIns="0" rIns="0" bIns="0" rtlCol="0" anchor="ctr"/>
          <a:lstStyle/>
          <a:p>
            <a:pPr indent="0" marL="0">
              <a:lnSpc>
                <a:spcPct val="115000"/>
              </a:lnSpc>
              <a:buNone/>
            </a:pPr>
            <a:r>
              <a:rPr lang="en-US" sz="1500" b="1" dirty="0">
                <a:solidFill>
                  <a:schemeClr val="tx1"/>
                </a:solidFill>
              </a:rPr>
              <a:t>Si 밴드갭 1.12 eV</a:t>
            </a:r>
            <a:endParaRPr lang="en-US" sz="1500" dirty="0"/>
          </a:p>
        </p:txBody>
      </p:sp>
      <p:sp>
        <p:nvSpPr>
          <p:cNvPr id="15" name="bar-Eg"/>
          <p:cNvSpPr/>
          <p:nvPr/>
        </p:nvSpPr>
        <p:spPr>
          <a:xfrm>
            <a:off x="3099816" y="4864608"/>
            <a:ext cx="8284464" cy="384048"/>
          </a:xfrm>
          <a:prstGeom prst="rect">
            <a:avLst/>
          </a:prstGeom>
          <a:solidFill>
            <a:schemeClr val="accent1"/>
          </a:solidFill>
          <a:ln/>
        </p:spPr>
      </p:sp>
      <p:sp>
        <p:nvSpPr>
          <p:cNvPr id="16" name="Text 13"/>
          <p:cNvSpPr txBox="1"/>
          <p:nvPr/>
        </p:nvSpPr>
        <p:spPr>
          <a:xfrm>
            <a:off x="813816" y="5440680"/>
            <a:ext cx="10570464" cy="36576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Eg ÷ kT = 1.12 ÷ 0.0259 ≈ 43 → 실온의 열만으로 전자가 밴드갭을 뛰어넘기는 매우 어렵다</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예제 2</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exp( ) 안의 단위는 반드시 사라져야 한다</a:t>
            </a:r>
            <a:endParaRPr lang="en-US" sz="3000" dirty="0"/>
          </a:p>
        </p:txBody>
      </p:sp>
      <p:sp>
        <p:nvSpPr>
          <p:cNvPr id="5" name="problem"/>
          <p:cNvSpPr/>
          <p:nvPr/>
        </p:nvSpPr>
        <p:spPr>
          <a:xfrm>
            <a:off x="813816" y="1737360"/>
            <a:ext cx="10570464" cy="868680"/>
          </a:xfrm>
          <a:prstGeom prst="roundRect">
            <a:avLst>
              <a:gd name="adj" fmla="val 12632"/>
            </a:avLst>
          </a:prstGeom>
          <a:solidFill>
            <a:schemeClr val="accent4"/>
          </a:solidFill>
          <a:ln/>
        </p:spPr>
      </p:sp>
      <p:sp>
        <p:nvSpPr>
          <p:cNvPr id="6" name="Text 3"/>
          <p:cNvSpPr txBox="1"/>
          <p:nvPr/>
        </p:nvSpPr>
        <p:spPr>
          <a:xfrm>
            <a:off x="1042416" y="1737360"/>
            <a:ext cx="10113264" cy="868680"/>
          </a:xfrm>
          <a:prstGeom prst="rect">
            <a:avLst/>
          </a:prstGeom>
          <a:noFill/>
          <a:ln/>
        </p:spPr>
        <p:txBody>
          <a:bodyPr wrap="square" lIns="0" tIns="0" rIns="0" bIns="0" rtlCol="0" anchor="ctr"/>
          <a:lstStyle/>
          <a:p>
            <a:pPr indent="0" marL="0">
              <a:lnSpc>
                <a:spcPct val="130000"/>
              </a:lnSpc>
              <a:buNone/>
            </a:pPr>
            <a:r>
              <a:rPr lang="en-US" sz="1500" dirty="0">
                <a:solidFill>
                  <a:schemeClr val="tx1"/>
                </a:solidFill>
              </a:rPr>
              <a:t>볼츠만 인자 exp(−E/kT): 에너지가 E만큼 높은 상태를 차지할 상대적 가능성. 실리콘 속 인(P) 도너의 이온화 에너지 E = 0.045 eV, T = 300 K일 때 계산하라.</a:t>
            </a:r>
            <a:endParaRPr lang="en-US" sz="1500" dirty="0"/>
          </a:p>
        </p:txBody>
      </p:sp>
      <p:sp>
        <p:nvSpPr>
          <p:cNvPr id="7" name="method-1"/>
          <p:cNvSpPr/>
          <p:nvPr/>
        </p:nvSpPr>
        <p:spPr>
          <a:xfrm>
            <a:off x="813816" y="2834640"/>
            <a:ext cx="5148072" cy="1783080"/>
          </a:xfrm>
          <a:prstGeom prst="roundRect">
            <a:avLst>
              <a:gd name="adj" fmla="val 6154"/>
            </a:avLst>
          </a:prstGeom>
          <a:solidFill>
            <a:schemeClr val="bg1"/>
          </a:solidFill>
          <a:ln w="25400">
            <a:solidFill>
              <a:srgbClr val="2563A8"/>
            </a:solidFill>
            <a:prstDash val="solid"/>
          </a:ln>
        </p:spPr>
      </p:sp>
      <p:pic>
        <p:nvPicPr>
          <p:cNvPr id="8" name="Image 0" descr="확인 아이콘">    </p:cNvPr>
          <p:cNvPicPr>
            <a:picLocks noChangeAspect="1"/>
          </p:cNvPicPr>
          <p:nvPr/>
        </p:nvPicPr>
        <p:blipFill>
          <a:blip r:embed="rId1"/>
          <a:stretch>
            <a:fillRect/>
          </a:stretch>
        </p:blipFill>
        <p:spPr>
          <a:xfrm>
            <a:off x="1088136" y="3017520"/>
            <a:ext cx="365760" cy="365760"/>
          </a:xfrm>
          <a:prstGeom prst="rect">
            <a:avLst/>
          </a:prstGeom>
        </p:spPr>
      </p:pic>
      <p:sp>
        <p:nvSpPr>
          <p:cNvPr id="9" name="Text 5"/>
          <p:cNvSpPr txBox="1"/>
          <p:nvPr/>
        </p:nvSpPr>
        <p:spPr>
          <a:xfrm>
            <a:off x="1591056" y="2999232"/>
            <a:ext cx="4142232" cy="411480"/>
          </a:xfrm>
          <a:prstGeom prst="rect">
            <a:avLst/>
          </a:prstGeom>
          <a:noFill/>
          <a:ln/>
        </p:spPr>
        <p:txBody>
          <a:bodyPr wrap="square" lIns="0" tIns="0" rIns="0" bIns="0" rtlCol="0" anchor="ctr"/>
          <a:lstStyle/>
          <a:p>
            <a:pPr indent="0" marL="0">
              <a:lnSpc>
                <a:spcPct val="115000"/>
              </a:lnSpc>
              <a:buNone/>
            </a:pPr>
            <a:r>
              <a:rPr lang="en-US" sz="1600" b="1" dirty="0">
                <a:solidFill>
                  <a:schemeClr val="accent1"/>
                </a:solidFill>
              </a:rPr>
              <a:t>올바른 방법: eV ÷ eV</a:t>
            </a:r>
            <a:endParaRPr lang="en-US" sz="1600" dirty="0"/>
          </a:p>
        </p:txBody>
      </p:sp>
      <p:sp>
        <p:nvSpPr>
          <p:cNvPr id="10" name="Text 6"/>
          <p:cNvSpPr txBox="1"/>
          <p:nvPr/>
        </p:nvSpPr>
        <p:spPr>
          <a:xfrm>
            <a:off x="1088136" y="3566160"/>
            <a:ext cx="4599432" cy="960120"/>
          </a:xfrm>
          <a:prstGeom prst="rect">
            <a:avLst/>
          </a:prstGeom>
          <a:noFill/>
          <a:ln/>
        </p:spPr>
        <p:txBody>
          <a:bodyPr wrap="square" lIns="0" tIns="0" rIns="0" bIns="0" rtlCol="0" anchor="t"/>
          <a:lstStyle/>
          <a:p>
            <a:pPr indent="0" marL="0">
              <a:lnSpc>
                <a:spcPct val="145000"/>
              </a:lnSpc>
              <a:buNone/>
            </a:pPr>
            <a:r>
              <a:rPr lang="en-US" sz="1500" dirty="0">
                <a:solidFill>
                  <a:schemeClr val="tx1"/>
                </a:solidFill>
              </a:rPr>
              <a:t>E/kT = 0.045 eV ÷ 0.0259 eV = 1.74 (단위 없음)</a:t>
            </a:r>
            <a:endParaRPr lang="en-US" sz="1500" dirty="0"/>
          </a:p>
          <a:p>
            <a:pPr indent="0" marL="0">
              <a:lnSpc>
                <a:spcPct val="145000"/>
              </a:lnSpc>
              <a:buNone/>
            </a:pPr>
            <a:r>
              <a:rPr lang="en-US" sz="1500" dirty="0">
                <a:solidFill>
                  <a:schemeClr val="tx1"/>
                </a:solidFill>
              </a:rPr>
              <a:t>exp(−1.74) ≈ </a:t>
            </a:r>
            <a:pPr indent="0" marL="0">
              <a:lnSpc>
                <a:spcPct val="145000"/>
              </a:lnSpc>
              <a:buNone/>
            </a:pPr>
            <a:r>
              <a:rPr lang="en-US" sz="1500" b="1" dirty="0">
                <a:solidFill>
                  <a:schemeClr val="tx1"/>
                </a:solidFill>
              </a:rPr>
              <a:t>0.18</a:t>
            </a:r>
            <a:endParaRPr lang="en-US" sz="1500" dirty="0"/>
          </a:p>
        </p:txBody>
      </p:sp>
      <p:sp>
        <p:nvSpPr>
          <p:cNvPr id="11" name="method-2"/>
          <p:cNvSpPr/>
          <p:nvPr/>
        </p:nvSpPr>
        <p:spPr>
          <a:xfrm>
            <a:off x="6236208" y="2834640"/>
            <a:ext cx="5148072" cy="1783080"/>
          </a:xfrm>
          <a:prstGeom prst="roundRect">
            <a:avLst>
              <a:gd name="adj" fmla="val 6154"/>
            </a:avLst>
          </a:prstGeom>
          <a:solidFill>
            <a:schemeClr val="bg1"/>
          </a:solidFill>
          <a:ln w="25400">
            <a:solidFill>
              <a:srgbClr val="C2410C"/>
            </a:solidFill>
            <a:prstDash val="solid"/>
          </a:ln>
        </p:spPr>
      </p:sp>
      <p:pic>
        <p:nvPicPr>
          <p:cNvPr id="12" name="Image 1" descr="경고 아이콘">    </p:cNvPr>
          <p:cNvPicPr>
            <a:picLocks noChangeAspect="1"/>
          </p:cNvPicPr>
          <p:nvPr/>
        </p:nvPicPr>
        <p:blipFill>
          <a:blip r:embed="rId2"/>
          <a:stretch>
            <a:fillRect/>
          </a:stretch>
        </p:blipFill>
        <p:spPr>
          <a:xfrm>
            <a:off x="6510528" y="3017520"/>
            <a:ext cx="365760" cy="365760"/>
          </a:xfrm>
          <a:prstGeom prst="rect">
            <a:avLst/>
          </a:prstGeom>
        </p:spPr>
      </p:pic>
      <p:sp>
        <p:nvSpPr>
          <p:cNvPr id="13" name="Text 8"/>
          <p:cNvSpPr txBox="1"/>
          <p:nvPr/>
        </p:nvSpPr>
        <p:spPr>
          <a:xfrm>
            <a:off x="7013448" y="2999232"/>
            <a:ext cx="4142232" cy="411480"/>
          </a:xfrm>
          <a:prstGeom prst="rect">
            <a:avLst/>
          </a:prstGeom>
          <a:noFill/>
          <a:ln/>
        </p:spPr>
        <p:txBody>
          <a:bodyPr wrap="square" lIns="0" tIns="0" rIns="0" bIns="0" rtlCol="0" anchor="ctr"/>
          <a:lstStyle/>
          <a:p>
            <a:pPr indent="0" marL="0">
              <a:lnSpc>
                <a:spcPct val="115000"/>
              </a:lnSpc>
              <a:buNone/>
            </a:pPr>
            <a:r>
              <a:rPr lang="en-US" sz="1600" b="1" dirty="0">
                <a:solidFill>
                  <a:schemeClr val="accent2"/>
                </a:solidFill>
              </a:rPr>
              <a:t>틀린 방법: eV ÷ J</a:t>
            </a:r>
            <a:endParaRPr lang="en-US" sz="1600" dirty="0"/>
          </a:p>
        </p:txBody>
      </p:sp>
      <p:sp>
        <p:nvSpPr>
          <p:cNvPr id="14" name="Text 9"/>
          <p:cNvSpPr txBox="1"/>
          <p:nvPr/>
        </p:nvSpPr>
        <p:spPr>
          <a:xfrm>
            <a:off x="6510528" y="3566160"/>
            <a:ext cx="4599432" cy="960120"/>
          </a:xfrm>
          <a:prstGeom prst="rect">
            <a:avLst/>
          </a:prstGeom>
          <a:noFill/>
          <a:ln/>
        </p:spPr>
        <p:txBody>
          <a:bodyPr wrap="square" lIns="0" tIns="0" rIns="0" bIns="0" rtlCol="0" anchor="t"/>
          <a:lstStyle/>
          <a:p>
            <a:pPr indent="0" marL="0">
              <a:lnSpc>
                <a:spcPct val="145000"/>
              </a:lnSpc>
              <a:buNone/>
            </a:pPr>
            <a:r>
              <a:rPr lang="en-US" sz="1500" dirty="0">
                <a:solidFill>
                  <a:schemeClr val="tx1"/>
                </a:solidFill>
              </a:rPr>
              <a:t>0.045 ÷ (1.381×10</a:t>
            </a:r>
            <a:pPr indent="0" marL="0">
              <a:lnSpc>
                <a:spcPct val="145000"/>
              </a:lnSpc>
              <a:buNone/>
            </a:pPr>
            <a:r>
              <a:rPr lang="en-US" sz="1500" baseline="30000" dirty="0">
                <a:solidFill>
                  <a:schemeClr val="tx1"/>
                </a:solidFill>
              </a:rPr>
              <a:t>−23</a:t>
            </a:r>
            <a:pPr indent="0" marL="0">
              <a:lnSpc>
                <a:spcPct val="145000"/>
              </a:lnSpc>
              <a:buNone/>
            </a:pPr>
            <a:r>
              <a:rPr lang="en-US" sz="1500" dirty="0">
                <a:solidFill>
                  <a:schemeClr val="tx1"/>
                </a:solidFill>
              </a:rPr>
              <a:t> × 300) = 1.1×10</a:t>
            </a:r>
            <a:pPr indent="0" marL="0">
              <a:lnSpc>
                <a:spcPct val="145000"/>
              </a:lnSpc>
              <a:buNone/>
            </a:pPr>
            <a:r>
              <a:rPr lang="en-US" sz="1500" baseline="30000" dirty="0">
                <a:solidFill>
                  <a:schemeClr val="tx1"/>
                </a:solidFill>
              </a:rPr>
              <a:t>19</a:t>
            </a:r>
            <a:endParaRPr lang="en-US" sz="1500" dirty="0"/>
          </a:p>
          <a:p>
            <a:pPr indent="0" marL="0">
              <a:lnSpc>
                <a:spcPct val="145000"/>
              </a:lnSpc>
              <a:buNone/>
            </a:pPr>
            <a:r>
              <a:rPr lang="en-US" sz="1500" dirty="0">
                <a:solidFill>
                  <a:schemeClr val="tx1"/>
                </a:solidFill>
              </a:rPr>
              <a:t>exp(−1.1×10</a:t>
            </a:r>
            <a:pPr indent="0" marL="0">
              <a:lnSpc>
                <a:spcPct val="145000"/>
              </a:lnSpc>
              <a:buNone/>
            </a:pPr>
            <a:r>
              <a:rPr lang="en-US" sz="1500" baseline="30000" dirty="0">
                <a:solidFill>
                  <a:schemeClr val="tx1"/>
                </a:solidFill>
              </a:rPr>
              <a:t>19</a:t>
            </a:r>
            <a:pPr indent="0" marL="0">
              <a:lnSpc>
                <a:spcPct val="145000"/>
              </a:lnSpc>
              <a:buNone/>
            </a:pPr>
            <a:r>
              <a:rPr lang="en-US" sz="1500" dirty="0">
                <a:solidFill>
                  <a:schemeClr val="tx1"/>
                </a:solidFill>
              </a:rPr>
              <a:t>) ≈ 0  </a:t>
            </a:r>
            <a:pPr indent="0" marL="0">
              <a:lnSpc>
                <a:spcPct val="145000"/>
              </a:lnSpc>
              <a:buNone/>
            </a:pPr>
            <a:r>
              <a:rPr lang="en-US" sz="1500" b="1" dirty="0">
                <a:solidFill>
                  <a:schemeClr val="accent2"/>
                </a:solidFill>
              </a:rPr>
              <a:t>완전히 틀린 답</a:t>
            </a:r>
            <a:endParaRPr lang="en-US" sz="1500" dirty="0"/>
          </a:p>
        </p:txBody>
      </p:sp>
      <p:sp>
        <p:nvSpPr>
          <p:cNvPr id="15" name="Text 10"/>
          <p:cNvSpPr txBox="1"/>
          <p:nvPr/>
        </p:nvSpPr>
        <p:spPr>
          <a:xfrm>
            <a:off x="813816" y="4846320"/>
            <a:ext cx="10570464" cy="868680"/>
          </a:xfrm>
          <a:prstGeom prst="rect">
            <a:avLst/>
          </a:prstGeom>
          <a:noFill/>
          <a:ln/>
        </p:spPr>
        <p:txBody>
          <a:bodyPr wrap="square" lIns="0" tIns="0" rIns="0" bIns="0" rtlCol="0" anchor="t"/>
          <a:lstStyle/>
          <a:p>
            <a:pPr indent="0" marL="0">
              <a:lnSpc>
                <a:spcPct val="135000"/>
              </a:lnSpc>
              <a:buNone/>
            </a:pPr>
            <a:r>
              <a:rPr lang="en-US" sz="1500" dirty="0">
                <a:solidFill>
                  <a:schemeClr val="tx1"/>
                </a:solidFill>
              </a:rPr>
              <a:t>같은 계산을 밴드갭에:  Eg/kT = 1.12 ÷ 0.0259 ≈ 43.2 → exp(−43.2) ≈ 1.7×10</a:t>
            </a:r>
            <a:pPr indent="0" marL="0">
              <a:lnSpc>
                <a:spcPct val="135000"/>
              </a:lnSpc>
              <a:buNone/>
            </a:pPr>
            <a:r>
              <a:rPr lang="en-US" sz="1500" baseline="30000" dirty="0">
                <a:solidFill>
                  <a:schemeClr val="tx1"/>
                </a:solidFill>
              </a:rPr>
              <a:t>−19</a:t>
            </a:r>
            <a:pPr indent="0" marL="0">
              <a:lnSpc>
                <a:spcPct val="135000"/>
              </a:lnSpc>
              <a:buNone/>
            </a:pPr>
            <a:r>
              <a:rPr lang="en-US" sz="1500" dirty="0">
                <a:solidFill>
                  <a:schemeClr val="tx1"/>
                </a:solidFill>
              </a:rPr>
              <a:t>.  </a:t>
            </a:r>
            <a:pPr indent="0" marL="0">
              <a:lnSpc>
                <a:spcPct val="135000"/>
              </a:lnSpc>
              <a:buNone/>
            </a:pPr>
            <a:r>
              <a:rPr lang="en-US" sz="1500" b="1" dirty="0">
                <a:solidFill>
                  <a:schemeClr val="tx1"/>
                </a:solidFill>
              </a:rPr>
              <a:t>얕은 도너 준위(0.045 eV)는 쉽게, 밴드갭(1.12 eV)은 거의 못 넘는다.</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예제 3 · 3.3절 캐리어 농도</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n형 실리콘의 전자 농도 구하기</a:t>
            </a:r>
            <a:endParaRPr lang="en-US" sz="3000" dirty="0"/>
          </a:p>
        </p:txBody>
      </p:sp>
      <p:sp>
        <p:nvSpPr>
          <p:cNvPr id="5" name="problem"/>
          <p:cNvSpPr/>
          <p:nvPr/>
        </p:nvSpPr>
        <p:spPr>
          <a:xfrm>
            <a:off x="813816" y="1737360"/>
            <a:ext cx="10570464" cy="868680"/>
          </a:xfrm>
          <a:prstGeom prst="roundRect">
            <a:avLst>
              <a:gd name="adj" fmla="val 12632"/>
            </a:avLst>
          </a:prstGeom>
          <a:solidFill>
            <a:schemeClr val="accent4"/>
          </a:solidFill>
          <a:ln/>
        </p:spPr>
      </p:sp>
      <p:sp>
        <p:nvSpPr>
          <p:cNvPr id="6" name="Text 3"/>
          <p:cNvSpPr txBox="1"/>
          <p:nvPr/>
        </p:nvSpPr>
        <p:spPr>
          <a:xfrm>
            <a:off x="1042416" y="1737360"/>
            <a:ext cx="10113264" cy="868680"/>
          </a:xfrm>
          <a:prstGeom prst="rect">
            <a:avLst/>
          </a:prstGeom>
          <a:noFill/>
          <a:ln/>
        </p:spPr>
        <p:txBody>
          <a:bodyPr wrap="square" lIns="0" tIns="0" rIns="0" bIns="0" rtlCol="0" anchor="ctr"/>
          <a:lstStyle/>
          <a:p>
            <a:pPr indent="0" marL="0">
              <a:lnSpc>
                <a:spcPct val="130000"/>
              </a:lnSpc>
              <a:buNone/>
            </a:pPr>
            <a:r>
              <a:rPr lang="en-US" sz="1500" dirty="0">
                <a:solidFill>
                  <a:schemeClr val="tx1"/>
                </a:solidFill>
              </a:rPr>
              <a:t>문제: 300 K의 n형 Si에서 Ec − EF = 0.20 eV이다. 전자 농도를 cm</a:t>
            </a:r>
            <a:pPr indent="0" marL="0">
              <a:lnSpc>
                <a:spcPct val="130000"/>
              </a:lnSpc>
              <a:buNone/>
            </a:pPr>
            <a:r>
              <a:rPr lang="en-US" sz="1500" baseline="30000" dirty="0">
                <a:solidFill>
                  <a:schemeClr val="tx1"/>
                </a:solidFill>
              </a:rPr>
              <a:t>−3</a:t>
            </a:r>
            <a:pPr indent="0" marL="0">
              <a:lnSpc>
                <a:spcPct val="130000"/>
              </a:lnSpc>
              <a:buNone/>
            </a:pPr>
            <a:r>
              <a:rPr lang="en-US" sz="1500" dirty="0">
                <a:solidFill>
                  <a:schemeClr val="tx1"/>
                </a:solidFill>
              </a:rPr>
              <a:t>와 m</a:t>
            </a:r>
            <a:pPr indent="0" marL="0">
              <a:lnSpc>
                <a:spcPct val="130000"/>
              </a:lnSpc>
              <a:buNone/>
            </a:pPr>
            <a:r>
              <a:rPr lang="en-US" sz="1500" baseline="30000" dirty="0">
                <a:solidFill>
                  <a:schemeClr val="tx1"/>
                </a:solidFill>
              </a:rPr>
              <a:t>−3</a:t>
            </a:r>
            <a:pPr indent="0" marL="0">
              <a:lnSpc>
                <a:spcPct val="130000"/>
              </a:lnSpc>
              <a:buNone/>
            </a:pPr>
            <a:r>
              <a:rPr lang="en-US" sz="1500" dirty="0">
                <a:solidFill>
                  <a:schemeClr val="tx1"/>
                </a:solidFill>
              </a:rPr>
              <a:t>로 구하라.</a:t>
            </a:r>
            <a:endParaRPr lang="en-US" sz="1500" dirty="0"/>
          </a:p>
          <a:p>
            <a:pPr indent="0" marL="0">
              <a:lnSpc>
                <a:spcPct val="130000"/>
              </a:lnSpc>
              <a:buNone/>
            </a:pPr>
            <a:r>
              <a:rPr lang="en-US" sz="1500" dirty="0">
                <a:solidFill>
                  <a:schemeClr val="tx1"/>
                </a:solidFill>
              </a:rPr>
              <a:t>n</a:t>
            </a:r>
            <a:pPr indent="0" marL="0">
              <a:lnSpc>
                <a:spcPct val="130000"/>
              </a:lnSpc>
              <a:buNone/>
            </a:pPr>
            <a:r>
              <a:rPr lang="en-US" sz="1500" baseline="-40000" dirty="0">
                <a:solidFill>
                  <a:schemeClr val="tx1"/>
                </a:solidFill>
              </a:rPr>
              <a:t>0</a:t>
            </a:r>
            <a:pPr indent="0" marL="0">
              <a:lnSpc>
                <a:spcPct val="130000"/>
              </a:lnSpc>
              <a:buNone/>
            </a:pPr>
            <a:r>
              <a:rPr lang="en-US" sz="1500" dirty="0">
                <a:solidFill>
                  <a:schemeClr val="tx1"/>
                </a:solidFill>
              </a:rPr>
              <a:t> = Nc·exp[−(Ec − EF)/kT],  Nc = 2.8×10</a:t>
            </a:r>
            <a:pPr indent="0" marL="0">
              <a:lnSpc>
                <a:spcPct val="130000"/>
              </a:lnSpc>
              <a:buNone/>
            </a:pPr>
            <a:r>
              <a:rPr lang="en-US" sz="1500" baseline="30000" dirty="0">
                <a:solidFill>
                  <a:schemeClr val="tx1"/>
                </a:solidFill>
              </a:rPr>
              <a:t>19</a:t>
            </a:r>
            <a:pPr indent="0" marL="0">
              <a:lnSpc>
                <a:spcPct val="130000"/>
              </a:lnSpc>
              <a:buNone/>
            </a:pPr>
            <a:r>
              <a:rPr lang="en-US" sz="1500" dirty="0">
                <a:solidFill>
                  <a:schemeClr val="tx1"/>
                </a:solidFill>
              </a:rPr>
              <a:t> cm</a:t>
            </a:r>
            <a:pPr indent="0" marL="0">
              <a:lnSpc>
                <a:spcPct val="130000"/>
              </a:lnSpc>
              <a:buNone/>
            </a:pPr>
            <a:r>
              <a:rPr lang="en-US" sz="1500" baseline="30000" dirty="0">
                <a:solidFill>
                  <a:schemeClr val="tx1"/>
                </a:solidFill>
              </a:rPr>
              <a:t>−3</a:t>
            </a:r>
            <a:endParaRPr lang="en-US" sz="1500" dirty="0"/>
          </a:p>
        </p:txBody>
      </p:sp>
      <p:sp>
        <p:nvSpPr>
          <p:cNvPr id="7" name="Text 4"/>
          <p:cNvSpPr txBox="1"/>
          <p:nvPr/>
        </p:nvSpPr>
        <p:spPr>
          <a:xfrm>
            <a:off x="813816" y="2880360"/>
            <a:ext cx="6318504" cy="2743200"/>
          </a:xfrm>
          <a:prstGeom prst="rect">
            <a:avLst/>
          </a:prstGeom>
          <a:noFill/>
          <a:ln/>
        </p:spPr>
        <p:txBody>
          <a:bodyPr wrap="square" lIns="0" tIns="0" rIns="0" bIns="0" rtlCol="0" anchor="t"/>
          <a:lstStyle/>
          <a:p>
            <a:pPr indent="0" marL="0">
              <a:lnSpc>
                <a:spcPct val="140000"/>
              </a:lnSpc>
              <a:spcAft>
                <a:spcPts val="1000"/>
              </a:spcAft>
              <a:buNone/>
            </a:pPr>
            <a:r>
              <a:rPr lang="en-US" sz="1600" b="1" dirty="0">
                <a:solidFill>
                  <a:schemeClr val="accent1"/>
                </a:solidFill>
              </a:rPr>
              <a:t>① 지수 (eV ÷ eV)</a:t>
            </a:r>
            <a:pPr indent="0" marL="0">
              <a:lnSpc>
                <a:spcPct val="140000"/>
              </a:lnSpc>
              <a:spcAft>
                <a:spcPts val="1000"/>
              </a:spcAft>
              <a:buNone/>
            </a:pPr>
            <a:r>
              <a:rPr lang="en-US" sz="1600" dirty="0">
                <a:solidFill>
                  <a:schemeClr val="tx1"/>
                </a:solidFill>
              </a:rPr>
              <a:t>  0.20 eV ÷ 0.0259 eV = 7.72  (단위 없음)</a:t>
            </a:r>
            <a:endParaRPr lang="en-US" sz="1600" dirty="0"/>
          </a:p>
          <a:p>
            <a:pPr indent="0" marL="0">
              <a:lnSpc>
                <a:spcPct val="140000"/>
              </a:lnSpc>
              <a:spcAft>
                <a:spcPts val="1000"/>
              </a:spcAft>
              <a:buNone/>
            </a:pPr>
            <a:r>
              <a:rPr lang="en-US" sz="1600" b="1" dirty="0">
                <a:solidFill>
                  <a:schemeClr val="accent1"/>
                </a:solidFill>
              </a:rPr>
              <a:t>② 볼츠만 인자</a:t>
            </a:r>
            <a:pPr indent="0" marL="0">
              <a:lnSpc>
                <a:spcPct val="140000"/>
              </a:lnSpc>
              <a:spcAft>
                <a:spcPts val="1000"/>
              </a:spcAft>
              <a:buNone/>
            </a:pPr>
            <a:r>
              <a:rPr lang="en-US" sz="1600" dirty="0">
                <a:solidFill>
                  <a:schemeClr val="tx1"/>
                </a:solidFill>
              </a:rPr>
              <a:t>  exp(−7.72) = 4.43×10</a:t>
            </a:r>
            <a:pPr indent="0" marL="0">
              <a:lnSpc>
                <a:spcPct val="140000"/>
              </a:lnSpc>
              <a:spcAft>
                <a:spcPts val="1000"/>
              </a:spcAft>
              <a:buNone/>
            </a:pPr>
            <a:r>
              <a:rPr lang="en-US" sz="1600" baseline="30000" dirty="0">
                <a:solidFill>
                  <a:schemeClr val="tx1"/>
                </a:solidFill>
              </a:rPr>
              <a:t>−4</a:t>
            </a:r>
            <a:endParaRPr lang="en-US" sz="1600" dirty="0"/>
          </a:p>
          <a:p>
            <a:pPr indent="0" marL="0">
              <a:lnSpc>
                <a:spcPct val="140000"/>
              </a:lnSpc>
              <a:spcAft>
                <a:spcPts val="1000"/>
              </a:spcAft>
              <a:buNone/>
            </a:pPr>
            <a:r>
              <a:rPr lang="en-US" sz="1600" b="1" dirty="0">
                <a:solidFill>
                  <a:schemeClr val="accent1"/>
                </a:solidFill>
              </a:rPr>
              <a:t>③ 곱하기</a:t>
            </a:r>
            <a:pPr indent="0" marL="0">
              <a:lnSpc>
                <a:spcPct val="140000"/>
              </a:lnSpc>
              <a:spcAft>
                <a:spcPts val="1000"/>
              </a:spcAft>
              <a:buNone/>
            </a:pPr>
            <a:r>
              <a:rPr lang="en-US" sz="1600" dirty="0">
                <a:solidFill>
                  <a:schemeClr val="tx1"/>
                </a:solidFill>
              </a:rPr>
              <a:t>  n</a:t>
            </a:r>
            <a:pPr indent="0" marL="0">
              <a:lnSpc>
                <a:spcPct val="140000"/>
              </a:lnSpc>
              <a:spcAft>
                <a:spcPts val="1000"/>
              </a:spcAft>
              <a:buNone/>
            </a:pPr>
            <a:r>
              <a:rPr lang="en-US" sz="1600" baseline="-40000" dirty="0">
                <a:solidFill>
                  <a:schemeClr val="tx1"/>
                </a:solidFill>
              </a:rPr>
              <a:t>0</a:t>
            </a:r>
            <a:pPr indent="0" marL="0">
              <a:lnSpc>
                <a:spcPct val="140000"/>
              </a:lnSpc>
              <a:spcAft>
                <a:spcPts val="1000"/>
              </a:spcAft>
              <a:buNone/>
            </a:pPr>
            <a:r>
              <a:rPr lang="en-US" sz="1600" dirty="0">
                <a:solidFill>
                  <a:schemeClr val="tx1"/>
                </a:solidFill>
              </a:rPr>
              <a:t> = 2.8×10</a:t>
            </a:r>
            <a:pPr indent="0" marL="0">
              <a:lnSpc>
                <a:spcPct val="140000"/>
              </a:lnSpc>
              <a:spcAft>
                <a:spcPts val="1000"/>
              </a:spcAft>
              <a:buNone/>
            </a:pPr>
            <a:r>
              <a:rPr lang="en-US" sz="1600" baseline="30000" dirty="0">
                <a:solidFill>
                  <a:schemeClr val="tx1"/>
                </a:solidFill>
              </a:rPr>
              <a:t>19</a:t>
            </a:r>
            <a:pPr indent="0" marL="0">
              <a:lnSpc>
                <a:spcPct val="140000"/>
              </a:lnSpc>
              <a:spcAft>
                <a:spcPts val="1000"/>
              </a:spcAft>
              <a:buNone/>
            </a:pPr>
            <a:r>
              <a:rPr lang="en-US" sz="1600" dirty="0">
                <a:solidFill>
                  <a:schemeClr val="tx1"/>
                </a:solidFill>
              </a:rPr>
              <a:t> cm</a:t>
            </a:r>
            <a:pPr indent="0" marL="0">
              <a:lnSpc>
                <a:spcPct val="140000"/>
              </a:lnSpc>
              <a:spcAft>
                <a:spcPts val="1000"/>
              </a:spcAft>
              <a:buNone/>
            </a:pPr>
            <a:r>
              <a:rPr lang="en-US" sz="1600" baseline="30000" dirty="0">
                <a:solidFill>
                  <a:schemeClr val="tx1"/>
                </a:solidFill>
              </a:rPr>
              <a:t>−3</a:t>
            </a:r>
            <a:pPr indent="0" marL="0">
              <a:lnSpc>
                <a:spcPct val="140000"/>
              </a:lnSpc>
              <a:spcAft>
                <a:spcPts val="1000"/>
              </a:spcAft>
              <a:buNone/>
            </a:pPr>
            <a:r>
              <a:rPr lang="en-US" sz="1600" dirty="0">
                <a:solidFill>
                  <a:schemeClr val="tx1"/>
                </a:solidFill>
              </a:rPr>
              <a:t> × 4.43×10</a:t>
            </a:r>
            <a:pPr indent="0" marL="0">
              <a:lnSpc>
                <a:spcPct val="140000"/>
              </a:lnSpc>
              <a:spcAft>
                <a:spcPts val="1000"/>
              </a:spcAft>
              <a:buNone/>
            </a:pPr>
            <a:r>
              <a:rPr lang="en-US" sz="1600" baseline="30000" dirty="0">
                <a:solidFill>
                  <a:schemeClr val="tx1"/>
                </a:solidFill>
              </a:rPr>
              <a:t>−4</a:t>
            </a:r>
            <a:pPr indent="0" marL="0">
              <a:lnSpc>
                <a:spcPct val="140000"/>
              </a:lnSpc>
              <a:spcAft>
                <a:spcPts val="1000"/>
              </a:spcAft>
              <a:buNone/>
            </a:pPr>
            <a:r>
              <a:rPr lang="en-US" sz="1600" dirty="0">
                <a:solidFill>
                  <a:schemeClr val="tx1"/>
                </a:solidFill>
              </a:rPr>
              <a:t> = </a:t>
            </a:r>
            <a:pPr indent="0" marL="0">
              <a:lnSpc>
                <a:spcPct val="140000"/>
              </a:lnSpc>
              <a:spcAft>
                <a:spcPts val="1000"/>
              </a:spcAft>
              <a:buNone/>
            </a:pPr>
            <a:r>
              <a:rPr lang="en-US" sz="1600" b="1" dirty="0">
                <a:solidFill>
                  <a:schemeClr val="tx1"/>
                </a:solidFill>
              </a:rPr>
              <a:t>1.24×10</a:t>
            </a:r>
            <a:pPr indent="0" marL="0">
              <a:lnSpc>
                <a:spcPct val="140000"/>
              </a:lnSpc>
              <a:spcAft>
                <a:spcPts val="1000"/>
              </a:spcAft>
              <a:buNone/>
            </a:pPr>
            <a:r>
              <a:rPr lang="en-US" sz="1600" b="1" baseline="30000" dirty="0">
                <a:solidFill>
                  <a:schemeClr val="tx1"/>
                </a:solidFill>
              </a:rPr>
              <a:t>16</a:t>
            </a:r>
            <a:pPr indent="0" marL="0">
              <a:lnSpc>
                <a:spcPct val="140000"/>
              </a:lnSpc>
              <a:spcAft>
                <a:spcPts val="1000"/>
              </a:spcAft>
              <a:buNone/>
            </a:pPr>
            <a:r>
              <a:rPr lang="en-US" sz="1600" b="1" dirty="0">
                <a:solidFill>
                  <a:schemeClr val="tx1"/>
                </a:solidFill>
              </a:rPr>
              <a:t> cm</a:t>
            </a:r>
            <a:pPr indent="0" marL="0">
              <a:lnSpc>
                <a:spcPct val="140000"/>
              </a:lnSpc>
              <a:spcAft>
                <a:spcPts val="1000"/>
              </a:spcAft>
              <a:buNone/>
            </a:pPr>
            <a:r>
              <a:rPr lang="en-US" sz="1600" b="1" baseline="30000" dirty="0">
                <a:solidFill>
                  <a:schemeClr val="tx1"/>
                </a:solidFill>
              </a:rPr>
              <a:t>−3</a:t>
            </a:r>
            <a:endParaRPr lang="en-US" sz="1600" dirty="0"/>
          </a:p>
          <a:p>
            <a:pPr indent="0" marL="0">
              <a:lnSpc>
                <a:spcPct val="140000"/>
              </a:lnSpc>
              <a:spcAft>
                <a:spcPts val="1000"/>
              </a:spcAft>
              <a:buNone/>
            </a:pPr>
            <a:r>
              <a:rPr lang="en-US" sz="1600" b="1" dirty="0">
                <a:solidFill>
                  <a:schemeClr val="accent1"/>
                </a:solidFill>
              </a:rPr>
              <a:t>④ cm</a:t>
            </a:r>
            <a:pPr indent="0" marL="0">
              <a:lnSpc>
                <a:spcPct val="140000"/>
              </a:lnSpc>
              <a:spcAft>
                <a:spcPts val="1000"/>
              </a:spcAft>
              <a:buNone/>
            </a:pPr>
            <a:r>
              <a:rPr lang="en-US" sz="1600" b="1" baseline="30000" dirty="0">
                <a:solidFill>
                  <a:schemeClr val="accent1"/>
                </a:solidFill>
              </a:rPr>
              <a:t>−3</a:t>
            </a:r>
            <a:pPr indent="0" marL="0">
              <a:lnSpc>
                <a:spcPct val="140000"/>
              </a:lnSpc>
              <a:spcAft>
                <a:spcPts val="1000"/>
              </a:spcAft>
              <a:buNone/>
            </a:pPr>
            <a:r>
              <a:rPr lang="en-US" sz="1600" b="1" dirty="0">
                <a:solidFill>
                  <a:schemeClr val="accent1"/>
                </a:solidFill>
              </a:rPr>
              <a:t> → m</a:t>
            </a:r>
            <a:pPr indent="0" marL="0">
              <a:lnSpc>
                <a:spcPct val="140000"/>
              </a:lnSpc>
              <a:spcAft>
                <a:spcPts val="1000"/>
              </a:spcAft>
              <a:buNone/>
            </a:pPr>
            <a:r>
              <a:rPr lang="en-US" sz="1600" b="1" baseline="30000" dirty="0">
                <a:solidFill>
                  <a:schemeClr val="accent1"/>
                </a:solidFill>
              </a:rPr>
              <a:t>−3</a:t>
            </a:r>
            <a:pPr indent="0" marL="0">
              <a:lnSpc>
                <a:spcPct val="140000"/>
              </a:lnSpc>
              <a:spcAft>
                <a:spcPts val="1000"/>
              </a:spcAft>
              <a:buNone/>
            </a:pPr>
            <a:r>
              <a:rPr lang="en-US" sz="1600" dirty="0">
                <a:solidFill>
                  <a:schemeClr val="tx1"/>
                </a:solidFill>
              </a:rPr>
              <a:t>  × 10</a:t>
            </a:r>
            <a:pPr indent="0" marL="0">
              <a:lnSpc>
                <a:spcPct val="140000"/>
              </a:lnSpc>
              <a:spcAft>
                <a:spcPts val="1000"/>
              </a:spcAft>
              <a:buNone/>
            </a:pPr>
            <a:r>
              <a:rPr lang="en-US" sz="1600" baseline="30000" dirty="0">
                <a:solidFill>
                  <a:schemeClr val="tx1"/>
                </a:solidFill>
              </a:rPr>
              <a:t>6</a:t>
            </a:r>
            <a:pPr indent="0" marL="0">
              <a:lnSpc>
                <a:spcPct val="140000"/>
              </a:lnSpc>
              <a:spcAft>
                <a:spcPts val="1000"/>
              </a:spcAft>
              <a:buNone/>
            </a:pPr>
            <a:r>
              <a:rPr lang="en-US" sz="1600" dirty="0">
                <a:solidFill>
                  <a:schemeClr val="tx1"/>
                </a:solidFill>
              </a:rPr>
              <a:t> → </a:t>
            </a:r>
            <a:pPr indent="0" marL="0">
              <a:lnSpc>
                <a:spcPct val="140000"/>
              </a:lnSpc>
              <a:spcAft>
                <a:spcPts val="1000"/>
              </a:spcAft>
              <a:buNone/>
            </a:pPr>
            <a:r>
              <a:rPr lang="en-US" sz="1600" b="1" dirty="0">
                <a:solidFill>
                  <a:schemeClr val="tx1"/>
                </a:solidFill>
              </a:rPr>
              <a:t>1.24×10</a:t>
            </a:r>
            <a:pPr indent="0" marL="0">
              <a:lnSpc>
                <a:spcPct val="140000"/>
              </a:lnSpc>
              <a:spcAft>
                <a:spcPts val="1000"/>
              </a:spcAft>
              <a:buNone/>
            </a:pPr>
            <a:r>
              <a:rPr lang="en-US" sz="1600" b="1" baseline="30000" dirty="0">
                <a:solidFill>
                  <a:schemeClr val="tx1"/>
                </a:solidFill>
              </a:rPr>
              <a:t>22</a:t>
            </a:r>
            <a:pPr indent="0" marL="0">
              <a:lnSpc>
                <a:spcPct val="140000"/>
              </a:lnSpc>
              <a:spcAft>
                <a:spcPts val="1000"/>
              </a:spcAft>
              <a:buNone/>
            </a:pPr>
            <a:r>
              <a:rPr lang="en-US" sz="1600" b="1" dirty="0">
                <a:solidFill>
                  <a:schemeClr val="tx1"/>
                </a:solidFill>
              </a:rPr>
              <a:t> m</a:t>
            </a:r>
            <a:pPr indent="0" marL="0">
              <a:lnSpc>
                <a:spcPct val="140000"/>
              </a:lnSpc>
              <a:spcAft>
                <a:spcPts val="1000"/>
              </a:spcAft>
              <a:buNone/>
            </a:pPr>
            <a:r>
              <a:rPr lang="en-US" sz="1600" b="1" baseline="30000" dirty="0">
                <a:solidFill>
                  <a:schemeClr val="tx1"/>
                </a:solidFill>
              </a:rPr>
              <a:t>−3</a:t>
            </a:r>
            <a:endParaRPr lang="en-US" sz="1600" dirty="0"/>
          </a:p>
        </p:txBody>
      </p:sp>
      <p:sp>
        <p:nvSpPr>
          <p:cNvPr id="8" name="unit-card"/>
          <p:cNvSpPr/>
          <p:nvPr/>
        </p:nvSpPr>
        <p:spPr>
          <a:xfrm>
            <a:off x="7452360" y="2834640"/>
            <a:ext cx="3931920" cy="2880360"/>
          </a:xfrm>
          <a:prstGeom prst="roundRect">
            <a:avLst>
              <a:gd name="adj" fmla="val 3810"/>
            </a:avLst>
          </a:prstGeom>
          <a:solidFill>
            <a:schemeClr val="tx2"/>
          </a:solidFill>
          <a:ln/>
        </p:spPr>
      </p:sp>
      <p:sp>
        <p:nvSpPr>
          <p:cNvPr id="9" name="Text 6"/>
          <p:cNvSpPr txBox="1"/>
          <p:nvPr/>
        </p:nvSpPr>
        <p:spPr>
          <a:xfrm>
            <a:off x="7726680" y="3017520"/>
            <a:ext cx="3383280" cy="365760"/>
          </a:xfrm>
          <a:prstGeom prst="rect">
            <a:avLst/>
          </a:prstGeom>
          <a:noFill/>
          <a:ln/>
        </p:spPr>
        <p:txBody>
          <a:bodyPr wrap="square" lIns="0" tIns="0" rIns="0" bIns="0" rtlCol="0" anchor="t"/>
          <a:lstStyle/>
          <a:p>
            <a:pPr indent="0" marL="0">
              <a:lnSpc>
                <a:spcPct val="115000"/>
              </a:lnSpc>
              <a:buNone/>
            </a:pPr>
            <a:r>
              <a:rPr lang="en-US" sz="1500" b="1" dirty="0">
                <a:solidFill>
                  <a:schemeClr val="accent3"/>
                </a:solidFill>
              </a:rPr>
              <a:t>단위가 알려 주는 것</a:t>
            </a:r>
            <a:endParaRPr lang="en-US" sz="1500" dirty="0"/>
          </a:p>
        </p:txBody>
      </p:sp>
      <p:sp>
        <p:nvSpPr>
          <p:cNvPr id="10" name="Text 7"/>
          <p:cNvSpPr txBox="1"/>
          <p:nvPr/>
        </p:nvSpPr>
        <p:spPr>
          <a:xfrm>
            <a:off x="7726680" y="3474720"/>
            <a:ext cx="3383280" cy="2103120"/>
          </a:xfrm>
          <a:prstGeom prst="rect">
            <a:avLst/>
          </a:prstGeom>
          <a:noFill/>
          <a:ln/>
        </p:spPr>
        <p:txBody>
          <a:bodyPr wrap="square" lIns="0" tIns="0" rIns="0" bIns="0" rtlCol="0" anchor="t"/>
          <a:lstStyle/>
          <a:p>
            <a:pPr indent="0" marL="0">
              <a:lnSpc>
                <a:spcPct val="135000"/>
              </a:lnSpc>
              <a:spcAft>
                <a:spcPts val="600"/>
              </a:spcAft>
              <a:buNone/>
            </a:pPr>
            <a:r>
              <a:rPr lang="en-US" sz="1400" dirty="0">
                <a:solidFill>
                  <a:srgbClr val="E3E8F1"/>
                </a:solidFill>
              </a:rPr>
              <a:t>exp( )는 순수한 숫자 → 답의 단위는 </a:t>
            </a:r>
            <a:pPr indent="0" marL="0">
              <a:lnSpc>
                <a:spcPct val="135000"/>
              </a:lnSpc>
              <a:spcAft>
                <a:spcPts val="600"/>
              </a:spcAft>
              <a:buNone/>
            </a:pPr>
            <a:r>
              <a:rPr lang="en-US" sz="1400" b="1" dirty="0">
                <a:solidFill>
                  <a:srgbClr val="E3E8F1"/>
                </a:solidFill>
              </a:rPr>
              <a:t>Nc</a:t>
            </a:r>
            <a:pPr indent="0" marL="0">
              <a:lnSpc>
                <a:spcPct val="135000"/>
              </a:lnSpc>
              <a:spcAft>
                <a:spcPts val="600"/>
              </a:spcAft>
              <a:buNone/>
            </a:pPr>
            <a:r>
              <a:rPr lang="en-US" sz="1400" dirty="0">
                <a:solidFill>
                  <a:srgbClr val="E3E8F1"/>
                </a:solidFill>
              </a:rPr>
              <a:t>가 정한다</a:t>
            </a:r>
            <a:endParaRPr lang="en-US" sz="1400" dirty="0"/>
          </a:p>
          <a:p>
            <a:pPr indent="0" marL="0">
              <a:lnSpc>
                <a:spcPct val="135000"/>
              </a:lnSpc>
              <a:spcAft>
                <a:spcPts val="600"/>
              </a:spcAft>
              <a:buNone/>
            </a:pPr>
            <a:r>
              <a:rPr lang="en-US" sz="1400" dirty="0">
                <a:solidFill>
                  <a:srgbClr val="E3E8F1"/>
                </a:solidFill>
              </a:rPr>
              <a:t>Nc를 m</a:t>
            </a:r>
            <a:pPr indent="0" marL="0">
              <a:lnSpc>
                <a:spcPct val="135000"/>
              </a:lnSpc>
              <a:spcAft>
                <a:spcPts val="600"/>
              </a:spcAft>
              <a:buNone/>
            </a:pPr>
            <a:r>
              <a:rPr lang="en-US" sz="1400" baseline="30000" dirty="0">
                <a:solidFill>
                  <a:srgbClr val="E3E8F1"/>
                </a:solidFill>
              </a:rPr>
              <a:t>−3</a:t>
            </a:r>
            <a:pPr indent="0" marL="0">
              <a:lnSpc>
                <a:spcPct val="135000"/>
              </a:lnSpc>
              <a:spcAft>
                <a:spcPts val="600"/>
              </a:spcAft>
              <a:buNone/>
            </a:pPr>
            <a:r>
              <a:rPr lang="en-US" sz="1400" dirty="0">
                <a:solidFill>
                  <a:srgbClr val="E3E8F1"/>
                </a:solidFill>
              </a:rPr>
              <a:t>(2.8×10</a:t>
            </a:r>
            <a:pPr indent="0" marL="0">
              <a:lnSpc>
                <a:spcPct val="135000"/>
              </a:lnSpc>
              <a:spcAft>
                <a:spcPts val="600"/>
              </a:spcAft>
              <a:buNone/>
            </a:pPr>
            <a:r>
              <a:rPr lang="en-US" sz="1400" baseline="30000" dirty="0">
                <a:solidFill>
                  <a:srgbClr val="E3E8F1"/>
                </a:solidFill>
              </a:rPr>
              <a:t>25</a:t>
            </a:r>
            <a:pPr indent="0" marL="0">
              <a:lnSpc>
                <a:spcPct val="135000"/>
              </a:lnSpc>
              <a:spcAft>
                <a:spcPts val="600"/>
              </a:spcAft>
              <a:buNone/>
            </a:pPr>
            <a:r>
              <a:rPr lang="en-US" sz="1400" dirty="0">
                <a:solidFill>
                  <a:srgbClr val="E3E8F1"/>
                </a:solidFill>
              </a:rPr>
              <a:t>)로 넣으면 답도 바로 m</a:t>
            </a:r>
            <a:pPr indent="0" marL="0">
              <a:lnSpc>
                <a:spcPct val="135000"/>
              </a:lnSpc>
              <a:spcAft>
                <a:spcPts val="600"/>
              </a:spcAft>
              <a:buNone/>
            </a:pPr>
            <a:r>
              <a:rPr lang="en-US" sz="1400" baseline="30000" dirty="0">
                <a:solidFill>
                  <a:srgbClr val="E3E8F1"/>
                </a:solidFill>
              </a:rPr>
              <a:t>−3</a:t>
            </a:r>
            <a:endParaRPr lang="en-US" sz="1400" dirty="0"/>
          </a:p>
          <a:p>
            <a:pPr indent="0" marL="0">
              <a:lnSpc>
                <a:spcPct val="135000"/>
              </a:lnSpc>
              <a:spcAft>
                <a:spcPts val="600"/>
              </a:spcAft>
              <a:buNone/>
            </a:pPr>
            <a:r>
              <a:rPr lang="en-US" sz="1400" dirty="0">
                <a:solidFill>
                  <a:srgbClr val="E3E8F1"/>
                </a:solidFill>
              </a:rPr>
              <a:t>kT를 J로 쓰려면 Ec − EF도 J로: 0.20 eV = 3.20×10</a:t>
            </a:r>
            <a:pPr indent="0" marL="0">
              <a:lnSpc>
                <a:spcPct val="135000"/>
              </a:lnSpc>
              <a:spcAft>
                <a:spcPts val="600"/>
              </a:spcAft>
              <a:buNone/>
            </a:pPr>
            <a:r>
              <a:rPr lang="en-US" sz="1400" baseline="30000" dirty="0">
                <a:solidFill>
                  <a:srgbClr val="E3E8F1"/>
                </a:solidFill>
              </a:rPr>
              <a:t>−20</a:t>
            </a:r>
            <a:pPr indent="0" marL="0">
              <a:lnSpc>
                <a:spcPct val="135000"/>
              </a:lnSpc>
              <a:spcAft>
                <a:spcPts val="600"/>
              </a:spcAft>
              <a:buNone/>
            </a:pPr>
            <a:r>
              <a:rPr lang="en-US" sz="1400" dirty="0">
                <a:solidFill>
                  <a:srgbClr val="E3E8F1"/>
                </a:solidFill>
              </a:rPr>
              <a:t> J</a:t>
            </a:r>
            <a:endParaRPr lang="en-US" sz="14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813816" y="1600200"/>
            <a:ext cx="10570464" cy="365760"/>
          </a:xfrm>
          <a:prstGeom prst="rect">
            <a:avLst/>
          </a:prstGeom>
          <a:noFill/>
          <a:ln/>
        </p:spPr>
        <p:txBody>
          <a:bodyPr wrap="square" lIns="0" tIns="0" rIns="0" bIns="0" rtlCol="0" anchor="t"/>
          <a:lstStyle/>
          <a:p>
            <a:pPr indent="0" marL="0">
              <a:lnSpc>
                <a:spcPct val="115000"/>
              </a:lnSpc>
              <a:buNone/>
            </a:pPr>
            <a:r>
              <a:rPr lang="en-US" sz="1500" b="1" spc="100" kern="0" dirty="0">
                <a:solidFill>
                  <a:srgbClr val="FFE3CC"/>
                </a:solidFill>
              </a:rPr>
              <a:t>kT와 kT/q</a:t>
            </a:r>
            <a:endParaRPr lang="en-US" sz="1500" dirty="0"/>
          </a:p>
        </p:txBody>
      </p:sp>
      <p:sp>
        <p:nvSpPr>
          <p:cNvPr id="4" name="Text 1"/>
          <p:cNvSpPr txBox="1"/>
          <p:nvPr/>
        </p:nvSpPr>
        <p:spPr>
          <a:xfrm>
            <a:off x="813816" y="2148840"/>
            <a:ext cx="10570464" cy="1737360"/>
          </a:xfrm>
          <a:prstGeom prst="rect">
            <a:avLst/>
          </a:prstGeom>
          <a:noFill/>
          <a:ln/>
        </p:spPr>
        <p:txBody>
          <a:bodyPr wrap="square" lIns="0" tIns="0" rIns="0" bIns="0" rtlCol="0" anchor="t"/>
          <a:lstStyle/>
          <a:p>
            <a:pPr indent="0" marL="0">
              <a:lnSpc>
                <a:spcPct val="110000"/>
              </a:lnSpc>
              <a:buNone/>
            </a:pPr>
            <a:r>
              <a:rPr lang="en-US" sz="4200" b="1" dirty="0">
                <a:solidFill>
                  <a:srgbClr val="FFF7F0"/>
                </a:solidFill>
              </a:rPr>
              <a:t>0.0259 eV와 0.0259 V는</a:t>
            </a:r>
            <a:endParaRPr lang="en-US" sz="4200" dirty="0"/>
          </a:p>
          <a:p>
            <a:pPr indent="0" marL="0">
              <a:lnSpc>
                <a:spcPct val="110000"/>
              </a:lnSpc>
              <a:buNone/>
            </a:pPr>
            <a:r>
              <a:rPr lang="en-US" sz="4200" b="1" dirty="0">
                <a:solidFill>
                  <a:srgbClr val="FFF7F0"/>
                </a:solidFill>
              </a:rPr>
              <a:t>같은 숫자, 다른 물리량</a:t>
            </a:r>
            <a:endParaRPr lang="en-US" sz="4200" dirty="0"/>
          </a:p>
        </p:txBody>
      </p:sp>
      <p:sp>
        <p:nvSpPr>
          <p:cNvPr id="5" name="Shape 2"/>
          <p:cNvSpPr/>
          <p:nvPr/>
        </p:nvSpPr>
        <p:spPr>
          <a:xfrm>
            <a:off x="813816" y="4206240"/>
            <a:ext cx="3383280" cy="640080"/>
          </a:xfrm>
          <a:prstGeom prst="roundRect">
            <a:avLst>
              <a:gd name="adj" fmla="val 50000"/>
            </a:avLst>
          </a:prstGeom>
          <a:solidFill>
            <a:srgbClr val="FFE3CC"/>
          </a:solidFill>
          <a:ln/>
        </p:spPr>
      </p:sp>
      <p:sp>
        <p:nvSpPr>
          <p:cNvPr id="6" name="Text 3"/>
          <p:cNvSpPr txBox="1"/>
          <p:nvPr/>
        </p:nvSpPr>
        <p:spPr>
          <a:xfrm>
            <a:off x="813816" y="4206240"/>
            <a:ext cx="3383280" cy="640080"/>
          </a:xfrm>
          <a:prstGeom prst="rect">
            <a:avLst/>
          </a:prstGeom>
          <a:noFill/>
          <a:ln/>
        </p:spPr>
        <p:txBody>
          <a:bodyPr wrap="square" lIns="0" tIns="0" rIns="0" bIns="0" rtlCol="0" anchor="ctr"/>
          <a:lstStyle/>
          <a:p>
            <a:pPr algn="ctr" indent="0" marL="0">
              <a:lnSpc>
                <a:spcPct val="115000"/>
              </a:lnSpc>
              <a:buNone/>
            </a:pPr>
            <a:r>
              <a:rPr lang="en-US" sz="1800" b="1" dirty="0">
                <a:solidFill>
                  <a:srgbClr val="7A2606"/>
                </a:solidFill>
              </a:rPr>
              <a:t>kT = 에너지 (eV, J)</a:t>
            </a:r>
            <a:endParaRPr lang="en-US" sz="1800" dirty="0"/>
          </a:p>
        </p:txBody>
      </p:sp>
      <p:sp>
        <p:nvSpPr>
          <p:cNvPr id="7" name="Shape 4"/>
          <p:cNvSpPr/>
          <p:nvPr/>
        </p:nvSpPr>
        <p:spPr>
          <a:xfrm>
            <a:off x="4471416" y="4206240"/>
            <a:ext cx="2926080" cy="640080"/>
          </a:xfrm>
          <a:prstGeom prst="roundRect">
            <a:avLst>
              <a:gd name="adj" fmla="val 50000"/>
            </a:avLst>
          </a:prstGeom>
          <a:solidFill>
            <a:srgbClr val="FFE3CC"/>
          </a:solidFill>
          <a:ln/>
        </p:spPr>
      </p:sp>
      <p:sp>
        <p:nvSpPr>
          <p:cNvPr id="8" name="Text 5"/>
          <p:cNvSpPr txBox="1"/>
          <p:nvPr/>
        </p:nvSpPr>
        <p:spPr>
          <a:xfrm>
            <a:off x="4471416" y="4206240"/>
            <a:ext cx="2926080" cy="640080"/>
          </a:xfrm>
          <a:prstGeom prst="rect">
            <a:avLst/>
          </a:prstGeom>
          <a:noFill/>
          <a:ln/>
        </p:spPr>
        <p:txBody>
          <a:bodyPr wrap="square" lIns="0" tIns="0" rIns="0" bIns="0" rtlCol="0" anchor="ctr"/>
          <a:lstStyle/>
          <a:p>
            <a:pPr algn="ctr" indent="0" marL="0">
              <a:lnSpc>
                <a:spcPct val="115000"/>
              </a:lnSpc>
              <a:buNone/>
            </a:pPr>
            <a:r>
              <a:rPr lang="en-US" sz="1800" b="1" dirty="0">
                <a:solidFill>
                  <a:srgbClr val="7A2606"/>
                </a:solidFill>
              </a:rPr>
              <a:t>kT/q = 전압 (V)</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열전압 kT/q</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kT와 kT/q, 무엇이 다른가</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3816" y="1783080"/>
          <a:ext cx="10570464" cy="914400"/>
        </p:xfrm>
        <a:graphic>
          <a:graphicData uri="http://schemas.openxmlformats.org/drawingml/2006/table">
            <a:tbl>
              <a:tblPr/>
              <a:tblGrid>
                <a:gridCol w="1920240"/>
                <a:gridCol w="4572000"/>
                <a:gridCol w="4078224"/>
              </a:tblGrid>
              <a:tr h="0">
                <a:tc>
                  <a:txBody>
                    <a:bodyPr/>
                    <a:lstStyle/>
                    <a:p>
                      <a:pPr algn="l" indent="0" marL="0">
                        <a:buNone/>
                      </a:pPr>
                      <a:r>
                        <a:rPr lang="en-US" sz="1500" b="1" dirty="0">
                          <a:solidFill>
                            <a:srgbClr val="F3F5F9"/>
                          </a:solidFill>
                          <a:latin typeface="Malgun Gothic" pitchFamily="34" charset="0"/>
                          <a:ea typeface="Malgun Gothic" pitchFamily="34" charset="-122"/>
                          <a:cs typeface="Malgun Gothic" pitchFamily="34" charset="-120"/>
                        </a:rPr>
                        <a:t>구분</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3F5F9"/>
                          </a:solidFill>
                          <a:latin typeface="Malgun Gothic" pitchFamily="34" charset="0"/>
                          <a:ea typeface="Malgun Gothic" pitchFamily="34" charset="-122"/>
                          <a:cs typeface="Malgun Gothic" pitchFamily="34" charset="-120"/>
                        </a:rPr>
                        <a:t>kT (열에너지)</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3F5F9"/>
                          </a:solidFill>
                          <a:latin typeface="Malgun Gothic" pitchFamily="34" charset="0"/>
                          <a:ea typeface="Malgun Gothic" pitchFamily="34" charset="-122"/>
                          <a:cs typeface="Malgun Gothic" pitchFamily="34" charset="-120"/>
                        </a:rPr>
                        <a:t>kT/q (열전압)</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r>
              <a:tr h="0">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물리량</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에너지</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전압 = 전하 1 C당 에너지</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r h="0">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단위</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J 또는 eV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V (= J/C)</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r>
              <a:tr h="0">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300 K 값</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4.14×10</a:t>
                      </a:r>
                      <a:pPr algn="l" indent="0" marL="0">
                        <a:buNone/>
                      </a:pPr>
                      <a:r>
                        <a:rPr lang="en-US" sz="1500" baseline="30000" dirty="0">
                          <a:solidFill>
                            <a:srgbClr val="1B2A44"/>
                          </a:solidFill>
                          <a:latin typeface="Malgun Gothic" pitchFamily="34" charset="0"/>
                          <a:ea typeface="Malgun Gothic" pitchFamily="34" charset="-122"/>
                          <a:cs typeface="Malgun Gothic" pitchFamily="34" charset="-120"/>
                        </a:rPr>
                        <a:t>−21</a:t>
                      </a:r>
                      <a:pPr algn="l" indent="0" marL="0">
                        <a:buNone/>
                      </a:pPr>
                      <a:r>
                        <a:rPr lang="en-US" sz="1500" dirty="0">
                          <a:solidFill>
                            <a:srgbClr val="1B2A44"/>
                          </a:solidFill>
                          <a:latin typeface="Malgun Gothic" pitchFamily="34" charset="0"/>
                          <a:ea typeface="Malgun Gothic" pitchFamily="34" charset="-122"/>
                          <a:cs typeface="Malgun Gothic" pitchFamily="34" charset="-120"/>
                        </a:rPr>
                        <a:t> J = 0.0259 eV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0.0259 V = 25.9 mV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r h="0">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비교 상대</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에너지: exp(−E/kT), n</a:t>
                      </a:r>
                      <a:pPr algn="l" indent="0" marL="0">
                        <a:buNone/>
                      </a:pPr>
                      <a:r>
                        <a:rPr lang="en-US" sz="1500" baseline="-40000" dirty="0">
                          <a:solidFill>
                            <a:srgbClr val="1B2A44"/>
                          </a:solidFill>
                          <a:latin typeface="Malgun Gothic" pitchFamily="34" charset="0"/>
                          <a:ea typeface="Malgun Gothic" pitchFamily="34" charset="-122"/>
                          <a:cs typeface="Malgun Gothic" pitchFamily="34" charset="-120"/>
                        </a:rPr>
                        <a:t>0</a:t>
                      </a:r>
                      <a:pPr algn="l" indent="0" marL="0">
                        <a:buNone/>
                      </a:pPr>
                      <a:r>
                        <a:rPr lang="en-US" sz="1500" dirty="0">
                          <a:solidFill>
                            <a:srgbClr val="1B2A44"/>
                          </a:solidFill>
                          <a:latin typeface="Malgun Gothic" pitchFamily="34" charset="0"/>
                          <a:ea typeface="Malgun Gothic" pitchFamily="34" charset="-122"/>
                          <a:cs typeface="Malgun Gothic" pitchFamily="34" charset="-120"/>
                        </a:rPr>
                        <a:t> 식 (예제 2, 3)</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c>
                  <a:txBody>
                    <a:bodyPr/>
                    <a:lstStyle/>
                    <a:p>
                      <a:pPr algn="l" indent="0" marL="0">
                        <a:buNone/>
                      </a:pPr>
                      <a:r>
                        <a:rPr lang="en-US" sz="1500" dirty="0">
                          <a:solidFill>
                            <a:srgbClr val="1B2A44"/>
                          </a:solidFill>
                          <a:latin typeface="Malgun Gothic" pitchFamily="34" charset="0"/>
                          <a:ea typeface="Malgun Gothic" pitchFamily="34" charset="-122"/>
                          <a:cs typeface="Malgun Gothic" pitchFamily="34" charset="-120"/>
                        </a:rPr>
                        <a:t>전위차·전계 (예제 4)</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EF2F8"/>
                    </a:solidFill>
                  </a:tcPr>
                </a:tc>
              </a:tr>
            </a:tbl>
          </a:graphicData>
        </a:graphic>
      </p:graphicFrame>
      <p:sp>
        <p:nvSpPr>
          <p:cNvPr id="6" name="why-box"/>
          <p:cNvSpPr/>
          <p:nvPr/>
        </p:nvSpPr>
        <p:spPr>
          <a:xfrm>
            <a:off x="813816" y="4343400"/>
            <a:ext cx="10570464" cy="1325880"/>
          </a:xfrm>
          <a:prstGeom prst="roundRect">
            <a:avLst>
              <a:gd name="adj" fmla="val 8276"/>
            </a:avLst>
          </a:prstGeom>
          <a:solidFill>
            <a:schemeClr val="tx2"/>
          </a:solidFill>
          <a:ln/>
        </p:spPr>
      </p:sp>
      <p:pic>
        <p:nvPicPr>
          <p:cNvPr id="7" name="Image 0" descr="열쇠 아이콘">    </p:cNvPr>
          <p:cNvPicPr>
            <a:picLocks noChangeAspect="1"/>
          </p:cNvPicPr>
          <p:nvPr/>
        </p:nvPicPr>
        <p:blipFill>
          <a:blip r:embed="rId1"/>
          <a:stretch>
            <a:fillRect/>
          </a:stretch>
        </p:blipFill>
        <p:spPr>
          <a:xfrm>
            <a:off x="1133856" y="4709160"/>
            <a:ext cx="548640" cy="548640"/>
          </a:xfrm>
          <a:prstGeom prst="rect">
            <a:avLst/>
          </a:prstGeom>
        </p:spPr>
      </p:pic>
      <p:sp>
        <p:nvSpPr>
          <p:cNvPr id="8" name="Text 3"/>
          <p:cNvSpPr txBox="1"/>
          <p:nvPr/>
        </p:nvSpPr>
        <p:spPr>
          <a:xfrm>
            <a:off x="1911096" y="4480560"/>
            <a:ext cx="9198864" cy="1051560"/>
          </a:xfrm>
          <a:prstGeom prst="rect">
            <a:avLst/>
          </a:prstGeom>
          <a:noFill/>
          <a:ln/>
        </p:spPr>
        <p:txBody>
          <a:bodyPr wrap="square" lIns="0" tIns="0" rIns="0" bIns="0" rtlCol="0" anchor="ctr"/>
          <a:lstStyle/>
          <a:p>
            <a:pPr indent="0" marL="0">
              <a:lnSpc>
                <a:spcPct val="140000"/>
              </a:lnSpc>
              <a:buNone/>
            </a:pPr>
            <a:r>
              <a:rPr lang="en-US" sz="1500" b="1" dirty="0">
                <a:solidFill>
                  <a:schemeClr val="accent3"/>
                </a:solidFill>
              </a:rPr>
              <a:t>왜 숫자가 같을까?</a:t>
            </a:r>
            <a:pPr indent="0" marL="0">
              <a:lnSpc>
                <a:spcPct val="140000"/>
              </a:lnSpc>
              <a:buNone/>
            </a:pPr>
            <a:r>
              <a:rPr lang="en-US" sz="1500" dirty="0">
                <a:solidFill>
                  <a:srgbClr val="E3E8F1"/>
                </a:solidFill>
              </a:rPr>
              <a:t>  kT/q = 4.14×10</a:t>
            </a:r>
            <a:pPr indent="0" marL="0">
              <a:lnSpc>
                <a:spcPct val="140000"/>
              </a:lnSpc>
              <a:buNone/>
            </a:pPr>
            <a:r>
              <a:rPr lang="en-US" sz="1500" baseline="30000" dirty="0">
                <a:solidFill>
                  <a:srgbClr val="E3E8F1"/>
                </a:solidFill>
              </a:rPr>
              <a:t>−21</a:t>
            </a:r>
            <a:pPr indent="0" marL="0">
              <a:lnSpc>
                <a:spcPct val="140000"/>
              </a:lnSpc>
              <a:buNone/>
            </a:pPr>
            <a:r>
              <a:rPr lang="en-US" sz="1500" dirty="0">
                <a:solidFill>
                  <a:srgbClr val="E3E8F1"/>
                </a:solidFill>
              </a:rPr>
              <a:t> J ÷ 1.602×10</a:t>
            </a:r>
            <a:pPr indent="0" marL="0">
              <a:lnSpc>
                <a:spcPct val="140000"/>
              </a:lnSpc>
              <a:buNone/>
            </a:pPr>
            <a:r>
              <a:rPr lang="en-US" sz="1500" baseline="30000" dirty="0">
                <a:solidFill>
                  <a:srgbClr val="E3E8F1"/>
                </a:solidFill>
              </a:rPr>
              <a:t>−19</a:t>
            </a:r>
            <a:pPr indent="0" marL="0">
              <a:lnSpc>
                <a:spcPct val="140000"/>
              </a:lnSpc>
              <a:buNone/>
            </a:pPr>
            <a:r>
              <a:rPr lang="en-US" sz="1500" dirty="0">
                <a:solidFill>
                  <a:srgbClr val="E3E8F1"/>
                </a:solidFill>
              </a:rPr>
              <a:t> C = 0.0259 J/C = 0.0259 V</a:t>
            </a:r>
            <a:endParaRPr lang="en-US" sz="1500" dirty="0"/>
          </a:p>
          <a:p>
            <a:pPr indent="0" marL="0">
              <a:lnSpc>
                <a:spcPct val="140000"/>
              </a:lnSpc>
              <a:buNone/>
            </a:pPr>
            <a:r>
              <a:rPr lang="en-US" sz="1500" dirty="0">
                <a:solidFill>
                  <a:srgbClr val="E3E8F1"/>
                </a:solidFill>
              </a:rPr>
              <a:t>1 eV ÷ 기본 전하 q = 정확히 1 V이므로, eV로 쓴 숫자가 그대로 V가 된다</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예제 4 · 3.4절 전계와 대역</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전자가 kT만큼 에너지를 얻는 거리</a:t>
            </a:r>
            <a:endParaRPr lang="en-US" sz="3000" dirty="0"/>
          </a:p>
        </p:txBody>
      </p:sp>
      <p:sp>
        <p:nvSpPr>
          <p:cNvPr id="5" name="problem"/>
          <p:cNvSpPr/>
          <p:nvPr/>
        </p:nvSpPr>
        <p:spPr>
          <a:xfrm>
            <a:off x="813816" y="1737360"/>
            <a:ext cx="10570464" cy="868680"/>
          </a:xfrm>
          <a:prstGeom prst="roundRect">
            <a:avLst>
              <a:gd name="adj" fmla="val 12632"/>
            </a:avLst>
          </a:prstGeom>
          <a:solidFill>
            <a:schemeClr val="accent4"/>
          </a:solidFill>
          <a:ln/>
        </p:spPr>
      </p:sp>
      <p:sp>
        <p:nvSpPr>
          <p:cNvPr id="6" name="Text 3"/>
          <p:cNvSpPr txBox="1"/>
          <p:nvPr/>
        </p:nvSpPr>
        <p:spPr>
          <a:xfrm>
            <a:off x="1042416" y="1737360"/>
            <a:ext cx="10113264" cy="868680"/>
          </a:xfrm>
          <a:prstGeom prst="rect">
            <a:avLst/>
          </a:prstGeom>
          <a:noFill/>
          <a:ln/>
        </p:spPr>
        <p:txBody>
          <a:bodyPr wrap="square" lIns="0" tIns="0" rIns="0" bIns="0" rtlCol="0" anchor="ctr"/>
          <a:lstStyle/>
          <a:p>
            <a:pPr indent="0" marL="0">
              <a:lnSpc>
                <a:spcPct val="130000"/>
              </a:lnSpc>
              <a:buNone/>
            </a:pPr>
            <a:r>
              <a:rPr lang="en-US" sz="1500" dirty="0">
                <a:solidFill>
                  <a:schemeClr val="tx1"/>
                </a:solidFill>
              </a:rPr>
              <a:t>문제: 실리콘에 전계 10</a:t>
            </a:r>
            <a:pPr indent="0" marL="0">
              <a:lnSpc>
                <a:spcPct val="130000"/>
              </a:lnSpc>
              <a:buNone/>
            </a:pPr>
            <a:r>
              <a:rPr lang="en-US" sz="1500" baseline="30000" dirty="0">
                <a:solidFill>
                  <a:schemeClr val="tx1"/>
                </a:solidFill>
              </a:rPr>
              <a:t>3</a:t>
            </a:r>
            <a:pPr indent="0" marL="0">
              <a:lnSpc>
                <a:spcPct val="130000"/>
              </a:lnSpc>
              <a:buNone/>
            </a:pPr>
            <a:r>
              <a:rPr lang="en-US" sz="1500" dirty="0">
                <a:solidFill>
                  <a:schemeClr val="tx1"/>
                </a:solidFill>
              </a:rPr>
              <a:t> V/cm가 걸려 있다. 300 K에서 전자가 전계로부터 kT만큼의 에너지를 얻으려면 몇 nm를 이동해야 하는가? (산란은 무시)</a:t>
            </a:r>
            <a:endParaRPr lang="en-US" sz="1500" dirty="0"/>
          </a:p>
        </p:txBody>
      </p:sp>
      <p:sp>
        <p:nvSpPr>
          <p:cNvPr id="7" name="Text 4"/>
          <p:cNvSpPr txBox="1"/>
          <p:nvPr/>
        </p:nvSpPr>
        <p:spPr>
          <a:xfrm>
            <a:off x="813816" y="2880360"/>
            <a:ext cx="6318504" cy="2286000"/>
          </a:xfrm>
          <a:prstGeom prst="rect">
            <a:avLst/>
          </a:prstGeom>
          <a:noFill/>
          <a:ln/>
        </p:spPr>
        <p:txBody>
          <a:bodyPr wrap="square" lIns="0" tIns="0" rIns="0" bIns="0" rtlCol="0" anchor="t"/>
          <a:lstStyle/>
          <a:p>
            <a:pPr indent="0" marL="0">
              <a:lnSpc>
                <a:spcPct val="140000"/>
              </a:lnSpc>
              <a:spcAft>
                <a:spcPts val="800"/>
              </a:spcAft>
              <a:buNone/>
            </a:pPr>
            <a:r>
              <a:rPr lang="en-US" sz="1600" b="1" dirty="0">
                <a:solidFill>
                  <a:schemeClr val="accent1"/>
                </a:solidFill>
              </a:rPr>
              <a:t>① 에너지 → 전위차</a:t>
            </a:r>
            <a:pPr indent="0" marL="0">
              <a:lnSpc>
                <a:spcPct val="140000"/>
              </a:lnSpc>
              <a:spcAft>
                <a:spcPts val="800"/>
              </a:spcAft>
              <a:buNone/>
            </a:pPr>
            <a:r>
              <a:rPr lang="en-US" sz="1600" dirty="0">
                <a:solidFill>
                  <a:schemeClr val="tx1"/>
                </a:solidFill>
              </a:rPr>
              <a:t>  qV = kT  →  V = kT/q = </a:t>
            </a:r>
            <a:pPr indent="0" marL="0">
              <a:lnSpc>
                <a:spcPct val="140000"/>
              </a:lnSpc>
              <a:spcAft>
                <a:spcPts val="800"/>
              </a:spcAft>
              <a:buNone/>
            </a:pPr>
            <a:r>
              <a:rPr lang="en-US" sz="1600" b="1" dirty="0">
                <a:solidFill>
                  <a:schemeClr val="tx1"/>
                </a:solidFill>
              </a:rPr>
              <a:t>0.0259 V</a:t>
            </a:r>
            <a:endParaRPr lang="en-US" sz="1600" dirty="0"/>
          </a:p>
          <a:p>
            <a:pPr indent="0" marL="0">
              <a:lnSpc>
                <a:spcPct val="140000"/>
              </a:lnSpc>
              <a:spcAft>
                <a:spcPts val="800"/>
              </a:spcAft>
              <a:buNone/>
            </a:pPr>
            <a:r>
              <a:rPr lang="en-US" sz="1600" b="1" dirty="0">
                <a:solidFill>
                  <a:schemeClr val="accent1"/>
                </a:solidFill>
              </a:rPr>
              <a:t>② 전위차 = 전계 × 거리</a:t>
            </a:r>
            <a:endParaRPr lang="en-US" sz="1600" dirty="0"/>
          </a:p>
          <a:p>
            <a:pPr indent="0" marL="0">
              <a:lnSpc>
                <a:spcPct val="140000"/>
              </a:lnSpc>
              <a:spcAft>
                <a:spcPts val="800"/>
              </a:spcAft>
              <a:buNone/>
            </a:pPr>
            <a:r>
              <a:rPr lang="en-US" sz="1600" dirty="0">
                <a:solidFill>
                  <a:schemeClr val="tx1"/>
                </a:solidFill>
              </a:rPr>
              <a:t>d = V / 전계 = 0.0259 V ÷ (10</a:t>
            </a:r>
            <a:pPr indent="0" marL="0">
              <a:lnSpc>
                <a:spcPct val="140000"/>
              </a:lnSpc>
              <a:spcAft>
                <a:spcPts val="800"/>
              </a:spcAft>
              <a:buNone/>
            </a:pPr>
            <a:r>
              <a:rPr lang="en-US" sz="1600" baseline="30000" dirty="0">
                <a:solidFill>
                  <a:schemeClr val="tx1"/>
                </a:solidFill>
              </a:rPr>
              <a:t>3</a:t>
            </a:r>
            <a:pPr indent="0" marL="0">
              <a:lnSpc>
                <a:spcPct val="140000"/>
              </a:lnSpc>
              <a:spcAft>
                <a:spcPts val="800"/>
              </a:spcAft>
              <a:buNone/>
            </a:pPr>
            <a:r>
              <a:rPr lang="en-US" sz="1600" dirty="0">
                <a:solidFill>
                  <a:schemeClr val="tx1"/>
                </a:solidFill>
              </a:rPr>
              <a:t> V/cm) = 2.59×10</a:t>
            </a:r>
            <a:pPr indent="0" marL="0">
              <a:lnSpc>
                <a:spcPct val="140000"/>
              </a:lnSpc>
              <a:spcAft>
                <a:spcPts val="800"/>
              </a:spcAft>
              <a:buNone/>
            </a:pPr>
            <a:r>
              <a:rPr lang="en-US" sz="1600" baseline="30000" dirty="0">
                <a:solidFill>
                  <a:schemeClr val="tx1"/>
                </a:solidFill>
              </a:rPr>
              <a:t>−5</a:t>
            </a:r>
            <a:pPr indent="0" marL="0">
              <a:lnSpc>
                <a:spcPct val="140000"/>
              </a:lnSpc>
              <a:spcAft>
                <a:spcPts val="800"/>
              </a:spcAft>
              <a:buNone/>
            </a:pPr>
            <a:r>
              <a:rPr lang="en-US" sz="1600" dirty="0">
                <a:solidFill>
                  <a:schemeClr val="tx1"/>
                </a:solidFill>
              </a:rPr>
              <a:t> cm</a:t>
            </a:r>
            <a:endParaRPr lang="en-US" sz="1600" dirty="0"/>
          </a:p>
          <a:p>
            <a:pPr indent="0" marL="0">
              <a:lnSpc>
                <a:spcPct val="140000"/>
              </a:lnSpc>
              <a:spcAft>
                <a:spcPts val="800"/>
              </a:spcAft>
              <a:buNone/>
            </a:pPr>
            <a:r>
              <a:rPr lang="en-US" sz="1600" b="1" dirty="0">
                <a:solidFill>
                  <a:schemeClr val="accent1"/>
                </a:solidFill>
              </a:rPr>
              <a:t>③ cm → nm</a:t>
            </a:r>
            <a:pPr indent="0" marL="0">
              <a:lnSpc>
                <a:spcPct val="140000"/>
              </a:lnSpc>
              <a:spcAft>
                <a:spcPts val="800"/>
              </a:spcAft>
              <a:buNone/>
            </a:pPr>
            <a:r>
              <a:rPr lang="en-US" sz="1600" dirty="0">
                <a:solidFill>
                  <a:schemeClr val="tx1"/>
                </a:solidFill>
              </a:rPr>
              <a:t>  1 cm = 10</a:t>
            </a:r>
            <a:pPr indent="0" marL="0">
              <a:lnSpc>
                <a:spcPct val="140000"/>
              </a:lnSpc>
              <a:spcAft>
                <a:spcPts val="800"/>
              </a:spcAft>
              <a:buNone/>
            </a:pPr>
            <a:r>
              <a:rPr lang="en-US" sz="1600" baseline="30000" dirty="0">
                <a:solidFill>
                  <a:schemeClr val="tx1"/>
                </a:solidFill>
              </a:rPr>
              <a:t>7</a:t>
            </a:r>
            <a:pPr indent="0" marL="0">
              <a:lnSpc>
                <a:spcPct val="140000"/>
              </a:lnSpc>
              <a:spcAft>
                <a:spcPts val="800"/>
              </a:spcAft>
              <a:buNone/>
            </a:pPr>
            <a:r>
              <a:rPr lang="en-US" sz="1600" dirty="0">
                <a:solidFill>
                  <a:schemeClr val="tx1"/>
                </a:solidFill>
              </a:rPr>
              <a:t> nm  →  d = </a:t>
            </a:r>
            <a:pPr indent="0" marL="0">
              <a:lnSpc>
                <a:spcPct val="140000"/>
              </a:lnSpc>
              <a:spcAft>
                <a:spcPts val="800"/>
              </a:spcAft>
              <a:buNone/>
            </a:pPr>
            <a:r>
              <a:rPr lang="en-US" sz="1600" b="1" dirty="0">
                <a:solidFill>
                  <a:schemeClr val="tx1"/>
                </a:solidFill>
              </a:rPr>
              <a:t>259 nm ≈ 0.26 μm</a:t>
            </a:r>
            <a:endParaRPr lang="en-US" sz="1600" dirty="0"/>
          </a:p>
        </p:txBody>
      </p:sp>
      <p:sp>
        <p:nvSpPr>
          <p:cNvPr id="8" name="Text 5"/>
          <p:cNvSpPr txBox="1"/>
          <p:nvPr/>
        </p:nvSpPr>
        <p:spPr>
          <a:xfrm>
            <a:off x="813816" y="5257800"/>
            <a:ext cx="6318504" cy="36576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SI 검산: 10</a:t>
            </a:r>
            <a:pPr indent="0" marL="0">
              <a:lnSpc>
                <a:spcPct val="115000"/>
              </a:lnSpc>
              <a:buNone/>
            </a:pPr>
            <a:r>
              <a:rPr lang="en-US" sz="1400" baseline="30000" dirty="0">
                <a:solidFill>
                  <a:schemeClr val="accent5"/>
                </a:solidFill>
              </a:rPr>
              <a:t>3</a:t>
            </a:r>
            <a:pPr indent="0" marL="0">
              <a:lnSpc>
                <a:spcPct val="115000"/>
              </a:lnSpc>
              <a:buNone/>
            </a:pPr>
            <a:r>
              <a:rPr lang="en-US" sz="1400" dirty="0">
                <a:solidFill>
                  <a:schemeClr val="accent5"/>
                </a:solidFill>
              </a:rPr>
              <a:t> V/cm = 10</a:t>
            </a:r>
            <a:pPr indent="0" marL="0">
              <a:lnSpc>
                <a:spcPct val="115000"/>
              </a:lnSpc>
              <a:buNone/>
            </a:pPr>
            <a:r>
              <a:rPr lang="en-US" sz="1400" baseline="30000" dirty="0">
                <a:solidFill>
                  <a:schemeClr val="accent5"/>
                </a:solidFill>
              </a:rPr>
              <a:t>5</a:t>
            </a:r>
            <a:pPr indent="0" marL="0">
              <a:lnSpc>
                <a:spcPct val="115000"/>
              </a:lnSpc>
              <a:buNone/>
            </a:pPr>
            <a:r>
              <a:rPr lang="en-US" sz="1400" dirty="0">
                <a:solidFill>
                  <a:schemeClr val="accent5"/>
                </a:solidFill>
              </a:rPr>
              <a:t> V/m → 0.0259 ÷ 10</a:t>
            </a:r>
            <a:pPr indent="0" marL="0">
              <a:lnSpc>
                <a:spcPct val="115000"/>
              </a:lnSpc>
              <a:buNone/>
            </a:pPr>
            <a:r>
              <a:rPr lang="en-US" sz="1400" baseline="30000" dirty="0">
                <a:solidFill>
                  <a:schemeClr val="accent5"/>
                </a:solidFill>
              </a:rPr>
              <a:t>5</a:t>
            </a:r>
            <a:pPr indent="0" marL="0">
              <a:lnSpc>
                <a:spcPct val="115000"/>
              </a:lnSpc>
              <a:buNone/>
            </a:pPr>
            <a:r>
              <a:rPr lang="en-US" sz="1400" dirty="0">
                <a:solidFill>
                  <a:schemeClr val="accent5"/>
                </a:solidFill>
              </a:rPr>
              <a:t> = 2.59×10</a:t>
            </a:r>
            <a:pPr indent="0" marL="0">
              <a:lnSpc>
                <a:spcPct val="115000"/>
              </a:lnSpc>
              <a:buNone/>
            </a:pPr>
            <a:r>
              <a:rPr lang="en-US" sz="1400" baseline="30000" dirty="0">
                <a:solidFill>
                  <a:schemeClr val="accent5"/>
                </a:solidFill>
              </a:rPr>
              <a:t>−7</a:t>
            </a:r>
            <a:pPr indent="0" marL="0">
              <a:lnSpc>
                <a:spcPct val="115000"/>
              </a:lnSpc>
              <a:buNone/>
            </a:pPr>
            <a:r>
              <a:rPr lang="en-US" sz="1400" dirty="0">
                <a:solidFill>
                  <a:schemeClr val="accent5"/>
                </a:solidFill>
              </a:rPr>
              <a:t> m ✓</a:t>
            </a:r>
            <a:endParaRPr lang="en-US" sz="1400" dirty="0"/>
          </a:p>
        </p:txBody>
      </p:sp>
      <p:sp>
        <p:nvSpPr>
          <p:cNvPr id="9" name="unit-card"/>
          <p:cNvSpPr/>
          <p:nvPr/>
        </p:nvSpPr>
        <p:spPr>
          <a:xfrm>
            <a:off x="7452360" y="2834640"/>
            <a:ext cx="3931920" cy="2880360"/>
          </a:xfrm>
          <a:prstGeom prst="roundRect">
            <a:avLst>
              <a:gd name="adj" fmla="val 3810"/>
            </a:avLst>
          </a:prstGeom>
          <a:solidFill>
            <a:schemeClr val="tx2"/>
          </a:solidFill>
          <a:ln/>
        </p:spPr>
      </p:sp>
      <p:sp>
        <p:nvSpPr>
          <p:cNvPr id="10" name="Text 7"/>
          <p:cNvSpPr txBox="1"/>
          <p:nvPr/>
        </p:nvSpPr>
        <p:spPr>
          <a:xfrm>
            <a:off x="7726680" y="3017520"/>
            <a:ext cx="3383280" cy="365760"/>
          </a:xfrm>
          <a:prstGeom prst="rect">
            <a:avLst/>
          </a:prstGeom>
          <a:noFill/>
          <a:ln/>
        </p:spPr>
        <p:txBody>
          <a:bodyPr wrap="square" lIns="0" tIns="0" rIns="0" bIns="0" rtlCol="0" anchor="t"/>
          <a:lstStyle/>
          <a:p>
            <a:pPr indent="0" marL="0">
              <a:lnSpc>
                <a:spcPct val="115000"/>
              </a:lnSpc>
              <a:buNone/>
            </a:pPr>
            <a:r>
              <a:rPr lang="en-US" sz="1500" b="1" dirty="0">
                <a:solidFill>
                  <a:schemeClr val="accent3"/>
                </a:solidFill>
              </a:rPr>
              <a:t>단위가 알려 주는 것</a:t>
            </a:r>
            <a:endParaRPr lang="en-US" sz="1500" dirty="0"/>
          </a:p>
        </p:txBody>
      </p:sp>
      <p:sp>
        <p:nvSpPr>
          <p:cNvPr id="11" name="Text 8"/>
          <p:cNvSpPr txBox="1"/>
          <p:nvPr/>
        </p:nvSpPr>
        <p:spPr>
          <a:xfrm>
            <a:off x="7726680" y="3474720"/>
            <a:ext cx="3383280" cy="2103120"/>
          </a:xfrm>
          <a:prstGeom prst="rect">
            <a:avLst/>
          </a:prstGeom>
          <a:noFill/>
          <a:ln/>
        </p:spPr>
        <p:txBody>
          <a:bodyPr wrap="square" lIns="0" tIns="0" rIns="0" bIns="0" rtlCol="0" anchor="t"/>
          <a:lstStyle/>
          <a:p>
            <a:pPr indent="0" marL="0">
              <a:lnSpc>
                <a:spcPct val="135000"/>
              </a:lnSpc>
              <a:spcAft>
                <a:spcPts val="600"/>
              </a:spcAft>
              <a:buNone/>
            </a:pPr>
            <a:r>
              <a:rPr lang="en-US" sz="1400" dirty="0">
                <a:solidFill>
                  <a:srgbClr val="E3E8F1"/>
                </a:solidFill>
              </a:rPr>
              <a:t>V/cm로 나누려면 </a:t>
            </a:r>
            <a:pPr indent="0" marL="0">
              <a:lnSpc>
                <a:spcPct val="135000"/>
              </a:lnSpc>
              <a:spcAft>
                <a:spcPts val="600"/>
              </a:spcAft>
              <a:buNone/>
            </a:pPr>
            <a:r>
              <a:rPr lang="en-US" sz="1400" b="1" dirty="0">
                <a:solidFill>
                  <a:srgbClr val="E3E8F1"/>
                </a:solidFill>
              </a:rPr>
              <a:t>전압</a:t>
            </a:r>
            <a:pPr indent="0" marL="0">
              <a:lnSpc>
                <a:spcPct val="135000"/>
              </a:lnSpc>
              <a:spcAft>
                <a:spcPts val="600"/>
              </a:spcAft>
              <a:buNone/>
            </a:pPr>
            <a:r>
              <a:rPr lang="en-US" sz="1400" dirty="0">
                <a:solidFill>
                  <a:srgbClr val="E3E8F1"/>
                </a:solidFill>
              </a:rPr>
              <a:t>이 필요 → kT가 아니라 kT/q</a:t>
            </a:r>
            <a:endParaRPr lang="en-US" sz="1400" dirty="0"/>
          </a:p>
          <a:p>
            <a:pPr indent="0" marL="0">
              <a:lnSpc>
                <a:spcPct val="135000"/>
              </a:lnSpc>
              <a:spcAft>
                <a:spcPts val="600"/>
              </a:spcAft>
              <a:buNone/>
            </a:pPr>
            <a:r>
              <a:rPr lang="en-US" sz="1400" dirty="0">
                <a:solidFill>
                  <a:srgbClr val="E3E8F1"/>
                </a:solidFill>
              </a:rPr>
              <a:t>V/cm → V/m는 ×100 (cm가 분모에 있으므로)</a:t>
            </a:r>
            <a:endParaRPr lang="en-US" sz="1400" dirty="0"/>
          </a:p>
          <a:p>
            <a:pPr indent="0" marL="0">
              <a:lnSpc>
                <a:spcPct val="135000"/>
              </a:lnSpc>
              <a:spcAft>
                <a:spcPts val="600"/>
              </a:spcAft>
              <a:buNone/>
            </a:pPr>
            <a:r>
              <a:rPr lang="en-US" sz="1400" dirty="0">
                <a:solidFill>
                  <a:srgbClr val="E3E8F1"/>
                </a:solidFill>
              </a:rPr>
              <a:t>대역도: 기울어진 Ec가 259 nm마다 kT씩 낮아진다</a:t>
            </a:r>
            <a:endParaRPr lang="en-US" sz="14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온도와 kT</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온도가 바뀌면 kT와 kT/q도 바뀐다</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3816" y="1783080"/>
          <a:ext cx="10570464" cy="914400"/>
        </p:xfrm>
        <a:graphic>
          <a:graphicData uri="http://schemas.openxmlformats.org/drawingml/2006/table">
            <a:tbl>
              <a:tblPr/>
              <a:tblGrid>
                <a:gridCol w="1371600"/>
                <a:gridCol w="3063240"/>
                <a:gridCol w="2331720"/>
                <a:gridCol w="1792224"/>
                <a:gridCol w="2011680"/>
              </a:tblGrid>
              <a:tr h="0">
                <a:tc>
                  <a:txBody>
                    <a:bodyPr/>
                    <a:lstStyle/>
                    <a:p>
                      <a:pPr algn="l" indent="0" marL="0">
                        <a:buNone/>
                      </a:pPr>
                      <a:r>
                        <a:rPr lang="en-US" sz="1700" b="1" dirty="0">
                          <a:solidFill>
                            <a:srgbClr val="F3F5F9"/>
                          </a:solidFill>
                          <a:latin typeface="Malgun Gothic" pitchFamily="34" charset="0"/>
                          <a:ea typeface="Malgun Gothic" pitchFamily="34" charset="-122"/>
                          <a:cs typeface="Malgun Gothic" pitchFamily="34" charset="-120"/>
                        </a:rPr>
                        <a:t>온도</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l" indent="0" marL="0">
                        <a:buNone/>
                      </a:pPr>
                      <a:r>
                        <a:rPr lang="en-US" sz="1700" b="1" dirty="0">
                          <a:solidFill>
                            <a:srgbClr val="F3F5F9"/>
                          </a:solidFill>
                          <a:latin typeface="Malgun Gothic" pitchFamily="34" charset="0"/>
                          <a:ea typeface="Malgun Gothic" pitchFamily="34" charset="-122"/>
                          <a:cs typeface="Malgun Gothic" pitchFamily="34" charset="-120"/>
                        </a:rPr>
                        <a:t>상황</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r" indent="0" marL="0">
                        <a:buNone/>
                      </a:pPr>
                      <a:r>
                        <a:rPr lang="en-US" sz="1700" b="1" dirty="0">
                          <a:solidFill>
                            <a:srgbClr val="F3F5F9"/>
                          </a:solidFill>
                          <a:latin typeface="Malgun Gothic" pitchFamily="34" charset="0"/>
                          <a:ea typeface="Malgun Gothic" pitchFamily="34" charset="-122"/>
                          <a:cs typeface="Malgun Gothic" pitchFamily="34" charset="-120"/>
                        </a:rPr>
                        <a:t>kT (J)</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r" indent="0" marL="0">
                        <a:buNone/>
                      </a:pPr>
                      <a:r>
                        <a:rPr lang="en-US" sz="1700" b="1" dirty="0">
                          <a:solidFill>
                            <a:srgbClr val="F3F5F9"/>
                          </a:solidFill>
                          <a:latin typeface="Malgun Gothic" pitchFamily="34" charset="0"/>
                          <a:ea typeface="Malgun Gothic" pitchFamily="34" charset="-122"/>
                          <a:cs typeface="Malgun Gothic" pitchFamily="34" charset="-120"/>
                        </a:rPr>
                        <a:t>kT (eV)</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c>
                  <a:txBody>
                    <a:bodyPr/>
                    <a:lstStyle/>
                    <a:p>
                      <a:pPr algn="r" indent="0" marL="0">
                        <a:buNone/>
                      </a:pPr>
                      <a:r>
                        <a:rPr lang="en-US" sz="1700" b="1" dirty="0">
                          <a:solidFill>
                            <a:srgbClr val="F3F5F9"/>
                          </a:solidFill>
                          <a:latin typeface="Malgun Gothic" pitchFamily="34" charset="0"/>
                          <a:ea typeface="Malgun Gothic" pitchFamily="34" charset="-122"/>
                          <a:cs typeface="Malgun Gothic" pitchFamily="34" charset="-120"/>
                        </a:rPr>
                        <a:t>kT/q (mV)</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14213D"/>
                    </a:solidFill>
                  </a:tcPr>
                </a:tc>
              </a:tr>
              <a:tr h="0">
                <a:tc>
                  <a:txBody>
                    <a:bodyPr/>
                    <a:lstStyle/>
                    <a:p>
                      <a:pPr algn="l" indent="0" marL="0">
                        <a:buNone/>
                      </a:pPr>
                      <a:r>
                        <a:rPr lang="en-US" sz="1700" dirty="0">
                          <a:solidFill>
                            <a:srgbClr val="1B2A44"/>
                          </a:solidFill>
                          <a:latin typeface="Malgun Gothic" pitchFamily="34" charset="0"/>
                          <a:ea typeface="Malgun Gothic" pitchFamily="34" charset="-122"/>
                          <a:cs typeface="Malgun Gothic" pitchFamily="34" charset="-120"/>
                        </a:rPr>
                        <a:t>77 K</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700" dirty="0">
                          <a:solidFill>
                            <a:srgbClr val="1B2A44"/>
                          </a:solidFill>
                          <a:latin typeface="Malgun Gothic" pitchFamily="34" charset="0"/>
                          <a:ea typeface="Malgun Gothic" pitchFamily="34" charset="-122"/>
                          <a:cs typeface="Malgun Gothic" pitchFamily="34" charset="-120"/>
                        </a:rPr>
                        <a:t>액체 질소 (−196 °C)</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700" dirty="0">
                          <a:solidFill>
                            <a:srgbClr val="1B2A44"/>
                          </a:solidFill>
                          <a:latin typeface="Malgun Gothic" pitchFamily="34" charset="0"/>
                          <a:ea typeface="Malgun Gothic" pitchFamily="34" charset="-122"/>
                          <a:cs typeface="Malgun Gothic" pitchFamily="34" charset="-120"/>
                        </a:rPr>
                        <a:t>1.06×10</a:t>
                      </a:r>
                      <a:pPr algn="r" indent="0" marL="0">
                        <a:buNone/>
                      </a:pPr>
                      <a:r>
                        <a:rPr lang="en-US" sz="1700" baseline="30000" dirty="0">
                          <a:solidFill>
                            <a:srgbClr val="1B2A44"/>
                          </a:solidFill>
                          <a:latin typeface="Malgun Gothic" pitchFamily="34" charset="0"/>
                          <a:ea typeface="Malgun Gothic" pitchFamily="34" charset="-122"/>
                          <a:cs typeface="Malgun Gothic" pitchFamily="34" charset="-120"/>
                        </a:rPr>
                        <a:t>−21</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700" dirty="0">
                          <a:solidFill>
                            <a:srgbClr val="1B2A44"/>
                          </a:solidFill>
                          <a:latin typeface="Malgun Gothic" pitchFamily="34" charset="0"/>
                          <a:ea typeface="Malgun Gothic" pitchFamily="34" charset="-122"/>
                          <a:cs typeface="Malgun Gothic" pitchFamily="34" charset="-120"/>
                        </a:rPr>
                        <a:t>0.00664</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700" dirty="0">
                          <a:solidFill>
                            <a:srgbClr val="1B2A44"/>
                          </a:solidFill>
                          <a:latin typeface="Malgun Gothic" pitchFamily="34" charset="0"/>
                          <a:ea typeface="Malgun Gothic" pitchFamily="34" charset="-122"/>
                          <a:cs typeface="Malgun Gothic" pitchFamily="34" charset="-120"/>
                        </a:rPr>
                        <a:t>6.64</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r h="0">
                <a:tc>
                  <a:txBody>
                    <a:bodyPr/>
                    <a:lstStyle/>
                    <a:p>
                      <a:pPr algn="l" indent="0" marL="0">
                        <a:buNone/>
                      </a:pPr>
                      <a:r>
                        <a:rPr lang="en-US" sz="1700" b="1" dirty="0">
                          <a:solidFill>
                            <a:srgbClr val="1B2A44"/>
                          </a:solidFill>
                          <a:latin typeface="Malgun Gothic" pitchFamily="34" charset="0"/>
                          <a:ea typeface="Malgun Gothic" pitchFamily="34" charset="-122"/>
                          <a:cs typeface="Malgun Gothic" pitchFamily="34" charset="-120"/>
                        </a:rPr>
                        <a:t>300 K</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CE9DA"/>
                    </a:solidFill>
                  </a:tcPr>
                </a:tc>
                <a:tc>
                  <a:txBody>
                    <a:bodyPr/>
                    <a:lstStyle/>
                    <a:p>
                      <a:pPr algn="l" indent="0" marL="0">
                        <a:buNone/>
                      </a:pPr>
                      <a:r>
                        <a:rPr lang="en-US" sz="1700" b="1" dirty="0">
                          <a:solidFill>
                            <a:srgbClr val="1B2A44"/>
                          </a:solidFill>
                          <a:latin typeface="Malgun Gothic" pitchFamily="34" charset="0"/>
                          <a:ea typeface="Malgun Gothic" pitchFamily="34" charset="-122"/>
                          <a:cs typeface="Malgun Gothic" pitchFamily="34" charset="-120"/>
                        </a:rPr>
                        <a:t>실온 (27 °C)</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CE9DA"/>
                    </a:solidFill>
                  </a:tcPr>
                </a:tc>
                <a:tc>
                  <a:txBody>
                    <a:bodyPr/>
                    <a:lstStyle/>
                    <a:p>
                      <a:pPr algn="r" indent="0" marL="0">
                        <a:buNone/>
                      </a:pPr>
                      <a:r>
                        <a:rPr lang="en-US" sz="1700" b="1" dirty="0">
                          <a:solidFill>
                            <a:srgbClr val="1B2A44"/>
                          </a:solidFill>
                          <a:latin typeface="Malgun Gothic" pitchFamily="34" charset="0"/>
                          <a:ea typeface="Malgun Gothic" pitchFamily="34" charset="-122"/>
                          <a:cs typeface="Malgun Gothic" pitchFamily="34" charset="-120"/>
                        </a:rPr>
                        <a:t>4.14×10</a:t>
                      </a:r>
                      <a:pPr algn="r" indent="0" marL="0">
                        <a:buNone/>
                      </a:pPr>
                      <a:r>
                        <a:rPr lang="en-US" sz="1700" b="1" baseline="30000" dirty="0">
                          <a:solidFill>
                            <a:srgbClr val="1B2A44"/>
                          </a:solidFill>
                          <a:latin typeface="Malgun Gothic" pitchFamily="34" charset="0"/>
                          <a:ea typeface="Malgun Gothic" pitchFamily="34" charset="-122"/>
                          <a:cs typeface="Malgun Gothic" pitchFamily="34" charset="-120"/>
                        </a:rPr>
                        <a:t>−21</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CE9DA"/>
                    </a:solidFill>
                  </a:tcPr>
                </a:tc>
                <a:tc>
                  <a:txBody>
                    <a:bodyPr/>
                    <a:lstStyle/>
                    <a:p>
                      <a:pPr algn="r" indent="0" marL="0">
                        <a:buNone/>
                      </a:pPr>
                      <a:r>
                        <a:rPr lang="en-US" sz="1700" b="1" dirty="0">
                          <a:solidFill>
                            <a:srgbClr val="1B2A44"/>
                          </a:solidFill>
                          <a:latin typeface="Malgun Gothic" pitchFamily="34" charset="0"/>
                          <a:ea typeface="Malgun Gothic" pitchFamily="34" charset="-122"/>
                          <a:cs typeface="Malgun Gothic" pitchFamily="34" charset="-120"/>
                        </a:rPr>
                        <a:t>0.0259</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CE9DA"/>
                    </a:solidFill>
                  </a:tcPr>
                </a:tc>
                <a:tc>
                  <a:txBody>
                    <a:bodyPr/>
                    <a:lstStyle/>
                    <a:p>
                      <a:pPr algn="r" indent="0" marL="0">
                        <a:buNone/>
                      </a:pPr>
                      <a:r>
                        <a:rPr lang="en-US" sz="1700" b="1" dirty="0">
                          <a:solidFill>
                            <a:srgbClr val="1B2A44"/>
                          </a:solidFill>
                          <a:latin typeface="Malgun Gothic" pitchFamily="34" charset="0"/>
                          <a:ea typeface="Malgun Gothic" pitchFamily="34" charset="-122"/>
                          <a:cs typeface="Malgun Gothic" pitchFamily="34" charset="-120"/>
                        </a:rPr>
                        <a:t>25.9</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CE9DA"/>
                    </a:solidFill>
                  </a:tcPr>
                </a:tc>
              </a:tr>
              <a:tr h="0">
                <a:tc>
                  <a:txBody>
                    <a:bodyPr/>
                    <a:lstStyle/>
                    <a:p>
                      <a:pPr algn="l" indent="0" marL="0">
                        <a:buNone/>
                      </a:pPr>
                      <a:r>
                        <a:rPr lang="en-US" sz="1700" dirty="0">
                          <a:solidFill>
                            <a:srgbClr val="1B2A44"/>
                          </a:solidFill>
                          <a:latin typeface="Malgun Gothic" pitchFamily="34" charset="0"/>
                          <a:ea typeface="Malgun Gothic" pitchFamily="34" charset="-122"/>
                          <a:cs typeface="Malgun Gothic" pitchFamily="34" charset="-120"/>
                        </a:rPr>
                        <a:t>400 K</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l" indent="0" marL="0">
                        <a:buNone/>
                      </a:pPr>
                      <a:r>
                        <a:rPr lang="en-US" sz="1700" dirty="0">
                          <a:solidFill>
                            <a:srgbClr val="1B2A44"/>
                          </a:solidFill>
                          <a:latin typeface="Malgun Gothic" pitchFamily="34" charset="0"/>
                          <a:ea typeface="Malgun Gothic" pitchFamily="34" charset="-122"/>
                          <a:cs typeface="Malgun Gothic" pitchFamily="34" charset="-120"/>
                        </a:rPr>
                        <a:t>뜨거워진 칩 (127 °C)</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700" dirty="0">
                          <a:solidFill>
                            <a:srgbClr val="1B2A44"/>
                          </a:solidFill>
                          <a:latin typeface="Malgun Gothic" pitchFamily="34" charset="0"/>
                          <a:ea typeface="Malgun Gothic" pitchFamily="34" charset="-122"/>
                          <a:cs typeface="Malgun Gothic" pitchFamily="34" charset="-120"/>
                        </a:rPr>
                        <a:t>5.52×10</a:t>
                      </a:r>
                      <a:pPr algn="r" indent="0" marL="0">
                        <a:buNone/>
                      </a:pPr>
                      <a:r>
                        <a:rPr lang="en-US" sz="1700" baseline="30000" dirty="0">
                          <a:solidFill>
                            <a:srgbClr val="1B2A44"/>
                          </a:solidFill>
                          <a:latin typeface="Malgun Gothic" pitchFamily="34" charset="0"/>
                          <a:ea typeface="Malgun Gothic" pitchFamily="34" charset="-122"/>
                          <a:cs typeface="Malgun Gothic" pitchFamily="34" charset="-120"/>
                        </a:rPr>
                        <a:t>−21</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700" dirty="0">
                          <a:solidFill>
                            <a:srgbClr val="1B2A44"/>
                          </a:solidFill>
                          <a:latin typeface="Malgun Gothic" pitchFamily="34" charset="0"/>
                          <a:ea typeface="Malgun Gothic" pitchFamily="34" charset="-122"/>
                          <a:cs typeface="Malgun Gothic" pitchFamily="34" charset="-120"/>
                        </a:rPr>
                        <a:t>0.0345</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c>
                  <a:txBody>
                    <a:bodyPr/>
                    <a:lstStyle/>
                    <a:p>
                      <a:pPr algn="r" indent="0" marL="0">
                        <a:buNone/>
                      </a:pPr>
                      <a:r>
                        <a:rPr lang="en-US" sz="1700" dirty="0">
                          <a:solidFill>
                            <a:srgbClr val="1B2A44"/>
                          </a:solidFill>
                          <a:latin typeface="Malgun Gothic" pitchFamily="34" charset="0"/>
                          <a:ea typeface="Malgun Gothic" pitchFamily="34" charset="-122"/>
                          <a:cs typeface="Malgun Gothic" pitchFamily="34" charset="-120"/>
                        </a:rPr>
                        <a:t>34.5</a:t>
                      </a:r>
                      <a:endParaRPr lang="en-US" sz="1700" dirty="0">
                        <a:latin typeface="Malgun Gothic" charset="0"/>
                        <a:ea typeface="Malgun Gothic" charset="0"/>
                        <a:cs typeface="Malgun Gothic" charset="0"/>
                      </a:endParaRPr>
                    </a:p>
                  </a:txBody>
                  <a:tcPr marL="128016" marR="128016" marT="73152" marB="73152"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DFDFF"/>
                    </a:solidFill>
                  </a:tcPr>
                </a:tc>
              </a:tr>
            </a:tbl>
          </a:graphicData>
        </a:graphic>
      </p:graphicFrame>
      <p:sp>
        <p:nvSpPr>
          <p:cNvPr id="6" name="tip-1"/>
          <p:cNvSpPr/>
          <p:nvPr/>
        </p:nvSpPr>
        <p:spPr>
          <a:xfrm>
            <a:off x="813816" y="4206240"/>
            <a:ext cx="5148072" cy="1371600"/>
          </a:xfrm>
          <a:prstGeom prst="roundRect">
            <a:avLst>
              <a:gd name="adj" fmla="val 8000"/>
            </a:avLst>
          </a:prstGeom>
          <a:solidFill>
            <a:schemeClr val="accent4"/>
          </a:solidFill>
          <a:ln/>
        </p:spPr>
      </p:sp>
      <p:pic>
        <p:nvPicPr>
          <p:cNvPr id="7" name="Image 0" descr="아이콘">    </p:cNvPr>
          <p:cNvPicPr>
            <a:picLocks noChangeAspect="1"/>
          </p:cNvPicPr>
          <p:nvPr/>
        </p:nvPicPr>
        <p:blipFill>
          <a:blip r:embed="rId1"/>
          <a:stretch>
            <a:fillRect/>
          </a:stretch>
        </p:blipFill>
        <p:spPr>
          <a:xfrm>
            <a:off x="1133856" y="4572000"/>
            <a:ext cx="548640" cy="548640"/>
          </a:xfrm>
          <a:prstGeom prst="rect">
            <a:avLst/>
          </a:prstGeom>
        </p:spPr>
      </p:pic>
      <p:sp>
        <p:nvSpPr>
          <p:cNvPr id="8" name="Text 3"/>
          <p:cNvSpPr txBox="1"/>
          <p:nvPr/>
        </p:nvSpPr>
        <p:spPr>
          <a:xfrm>
            <a:off x="1911096" y="4343400"/>
            <a:ext cx="3822192" cy="1097280"/>
          </a:xfrm>
          <a:prstGeom prst="rect">
            <a:avLst/>
          </a:prstGeom>
          <a:noFill/>
          <a:ln/>
        </p:spPr>
        <p:txBody>
          <a:bodyPr wrap="square" lIns="0" tIns="0" rIns="0" bIns="0" rtlCol="0" anchor="ctr"/>
          <a:lstStyle/>
          <a:p>
            <a:pPr indent="0" marL="0">
              <a:lnSpc>
                <a:spcPct val="135000"/>
              </a:lnSpc>
              <a:buNone/>
            </a:pPr>
            <a:r>
              <a:rPr lang="en-US" sz="1600" b="1" dirty="0">
                <a:solidFill>
                  <a:schemeClr val="tx1"/>
                </a:solidFill>
              </a:rPr>
              <a:t>°C를 그대로 넣지 말 것</a:t>
            </a:r>
            <a:endParaRPr lang="en-US" sz="1600" dirty="0"/>
          </a:p>
          <a:p>
            <a:pPr indent="0" marL="0">
              <a:lnSpc>
                <a:spcPct val="135000"/>
              </a:lnSpc>
              <a:buNone/>
            </a:pPr>
            <a:r>
              <a:rPr lang="en-US" sz="1600" dirty="0">
                <a:solidFill>
                  <a:schemeClr val="tx1"/>
                </a:solidFill>
              </a:rPr>
              <a:t>T[K] = T[°C] + 273.15</a:t>
            </a:r>
            <a:endParaRPr lang="en-US" sz="1600" dirty="0"/>
          </a:p>
        </p:txBody>
      </p:sp>
      <p:sp>
        <p:nvSpPr>
          <p:cNvPr id="9" name="tip-2"/>
          <p:cNvSpPr/>
          <p:nvPr/>
        </p:nvSpPr>
        <p:spPr>
          <a:xfrm>
            <a:off x="6236208" y="4206240"/>
            <a:ext cx="5148072" cy="1371600"/>
          </a:xfrm>
          <a:prstGeom prst="roundRect">
            <a:avLst>
              <a:gd name="adj" fmla="val 8000"/>
            </a:avLst>
          </a:prstGeom>
          <a:solidFill>
            <a:schemeClr val="accent4"/>
          </a:solidFill>
          <a:ln/>
        </p:spPr>
      </p:sp>
      <p:pic>
        <p:nvPicPr>
          <p:cNvPr id="10" name="Image 1" descr="아이콘">    </p:cNvPr>
          <p:cNvPicPr>
            <a:picLocks noChangeAspect="1"/>
          </p:cNvPicPr>
          <p:nvPr/>
        </p:nvPicPr>
        <p:blipFill>
          <a:blip r:embed="rId2"/>
          <a:stretch>
            <a:fillRect/>
          </a:stretch>
        </p:blipFill>
        <p:spPr>
          <a:xfrm>
            <a:off x="6556248" y="4572000"/>
            <a:ext cx="548640" cy="548640"/>
          </a:xfrm>
          <a:prstGeom prst="rect">
            <a:avLst/>
          </a:prstGeom>
        </p:spPr>
      </p:pic>
      <p:sp>
        <p:nvSpPr>
          <p:cNvPr id="11" name="Text 5"/>
          <p:cNvSpPr txBox="1"/>
          <p:nvPr/>
        </p:nvSpPr>
        <p:spPr>
          <a:xfrm>
            <a:off x="7333488" y="4343400"/>
            <a:ext cx="3822192" cy="1097280"/>
          </a:xfrm>
          <a:prstGeom prst="rect">
            <a:avLst/>
          </a:prstGeom>
          <a:noFill/>
          <a:ln/>
        </p:spPr>
        <p:txBody>
          <a:bodyPr wrap="square" lIns="0" tIns="0" rIns="0" bIns="0" rtlCol="0" anchor="ctr"/>
          <a:lstStyle/>
          <a:p>
            <a:pPr indent="0" marL="0">
              <a:lnSpc>
                <a:spcPct val="135000"/>
              </a:lnSpc>
              <a:buNone/>
            </a:pPr>
            <a:r>
              <a:rPr lang="en-US" sz="1600" b="1" dirty="0">
                <a:solidFill>
                  <a:schemeClr val="tx1"/>
                </a:solidFill>
              </a:rPr>
              <a:t>kT(eV) 숫자 = kT/q(V) 숫자</a:t>
            </a:r>
            <a:endParaRPr lang="en-US" sz="1600" dirty="0"/>
          </a:p>
          <a:p>
            <a:pPr indent="0" marL="0">
              <a:lnSpc>
                <a:spcPct val="135000"/>
              </a:lnSpc>
              <a:buNone/>
            </a:pPr>
            <a:r>
              <a:rPr lang="en-US" sz="1600" dirty="0">
                <a:solidFill>
                  <a:schemeClr val="tx1"/>
                </a:solidFill>
              </a:rPr>
              <a:t>0.0259 eV ↔ 0.0259 V = 25.9 mV</a:t>
            </a:r>
            <a:endParaRPr lang="en-US" sz="16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정리</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단위 환산 함정 여섯 가지</a:t>
            </a:r>
            <a:endParaRPr lang="en-US" sz="3000" dirty="0"/>
          </a:p>
        </p:txBody>
      </p:sp>
      <p:sp>
        <p:nvSpPr>
          <p:cNvPr id="5" name="trap-1"/>
          <p:cNvSpPr/>
          <p:nvPr/>
        </p:nvSpPr>
        <p:spPr>
          <a:xfrm>
            <a:off x="813816" y="1828800"/>
            <a:ext cx="3340608" cy="1920240"/>
          </a:xfrm>
          <a:prstGeom prst="roundRect">
            <a:avLst>
              <a:gd name="adj" fmla="val 5714"/>
            </a:avLst>
          </a:prstGeom>
          <a:solidFill>
            <a:schemeClr val="bg1"/>
          </a:solidFill>
          <a:ln w="12700">
            <a:solidFill>
              <a:srgbClr val="DCE2EC"/>
            </a:solidFill>
            <a:prstDash val="solid"/>
          </a:ln>
        </p:spPr>
      </p:sp>
      <p:sp>
        <p:nvSpPr>
          <p:cNvPr id="6" name="Shape 3"/>
          <p:cNvSpPr/>
          <p:nvPr/>
        </p:nvSpPr>
        <p:spPr>
          <a:xfrm>
            <a:off x="1088136" y="2057400"/>
            <a:ext cx="438912" cy="438912"/>
          </a:xfrm>
          <a:prstGeom prst="ellipse">
            <a:avLst/>
          </a:prstGeom>
          <a:solidFill>
            <a:schemeClr val="accent1"/>
          </a:solidFill>
          <a:ln/>
        </p:spPr>
      </p:sp>
      <p:sp>
        <p:nvSpPr>
          <p:cNvPr id="7" name="Text 4"/>
          <p:cNvSpPr txBox="1"/>
          <p:nvPr/>
        </p:nvSpPr>
        <p:spPr>
          <a:xfrm>
            <a:off x="1088136" y="2057400"/>
            <a:ext cx="438912" cy="438912"/>
          </a:xfrm>
          <a:prstGeom prst="rect">
            <a:avLst/>
          </a:prstGeom>
          <a:noFill/>
          <a:ln/>
        </p:spPr>
        <p:txBody>
          <a:bodyPr wrap="square" lIns="0" tIns="0" rIns="0" bIns="0" rtlCol="0" anchor="ctr"/>
          <a:lstStyle/>
          <a:p>
            <a:pPr algn="ctr" indent="0" marL="0">
              <a:lnSpc>
                <a:spcPct val="115000"/>
              </a:lnSpc>
              <a:buNone/>
            </a:pPr>
            <a:r>
              <a:rPr lang="en-US" sz="1500" b="1" dirty="0">
                <a:solidFill>
                  <a:schemeClr val="bg1"/>
                </a:solidFill>
              </a:rPr>
              <a:t>1</a:t>
            </a:r>
            <a:endParaRPr lang="en-US" sz="1500" dirty="0"/>
          </a:p>
        </p:txBody>
      </p:sp>
      <p:sp>
        <p:nvSpPr>
          <p:cNvPr id="8" name="Text 5"/>
          <p:cNvSpPr txBox="1"/>
          <p:nvPr/>
        </p:nvSpPr>
        <p:spPr>
          <a:xfrm>
            <a:off x="1088136" y="2606040"/>
            <a:ext cx="2791968" cy="411480"/>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부피는 세제곱</a:t>
            </a:r>
            <a:endParaRPr lang="en-US" sz="1900" dirty="0"/>
          </a:p>
        </p:txBody>
      </p:sp>
      <p:sp>
        <p:nvSpPr>
          <p:cNvPr id="9" name="Text 6"/>
          <p:cNvSpPr txBox="1"/>
          <p:nvPr/>
        </p:nvSpPr>
        <p:spPr>
          <a:xfrm>
            <a:off x="1088136" y="3063240"/>
            <a:ext cx="2791968" cy="54864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cm</a:t>
            </a:r>
            <a:pPr indent="0" marL="0">
              <a:lnSpc>
                <a:spcPct val="115000"/>
              </a:lnSpc>
              <a:buNone/>
            </a:pPr>
            <a:r>
              <a:rPr lang="en-US" sz="1500" baseline="30000" dirty="0">
                <a:solidFill>
                  <a:schemeClr val="accent5"/>
                </a:solidFill>
              </a:rPr>
              <a:t>−3</a:t>
            </a:r>
            <a:pPr indent="0" marL="0">
              <a:lnSpc>
                <a:spcPct val="115000"/>
              </a:lnSpc>
              <a:buNone/>
            </a:pPr>
            <a:r>
              <a:rPr lang="en-US" sz="1500" dirty="0">
                <a:solidFill>
                  <a:schemeClr val="accent5"/>
                </a:solidFill>
              </a:rPr>
              <a:t> → m</a:t>
            </a:r>
            <a:pPr indent="0" marL="0">
              <a:lnSpc>
                <a:spcPct val="115000"/>
              </a:lnSpc>
              <a:buNone/>
            </a:pPr>
            <a:r>
              <a:rPr lang="en-US" sz="1500" baseline="30000" dirty="0">
                <a:solidFill>
                  <a:schemeClr val="accent5"/>
                </a:solidFill>
              </a:rPr>
              <a:t>−3</a:t>
            </a:r>
            <a:pPr indent="0" marL="0">
              <a:lnSpc>
                <a:spcPct val="115000"/>
              </a:lnSpc>
              <a:buNone/>
            </a:pPr>
            <a:r>
              <a:rPr lang="en-US" sz="1500" dirty="0">
                <a:solidFill>
                  <a:schemeClr val="accent5"/>
                </a:solidFill>
              </a:rPr>
              <a:t>: × 10</a:t>
            </a:r>
            <a:pPr indent="0" marL="0">
              <a:lnSpc>
                <a:spcPct val="115000"/>
              </a:lnSpc>
              <a:buNone/>
            </a:pPr>
            <a:r>
              <a:rPr lang="en-US" sz="1500" baseline="30000" dirty="0">
                <a:solidFill>
                  <a:schemeClr val="accent5"/>
                </a:solidFill>
              </a:rPr>
              <a:t>6</a:t>
            </a:r>
            <a:endParaRPr lang="en-US" sz="1500" dirty="0"/>
          </a:p>
        </p:txBody>
      </p:sp>
      <p:sp>
        <p:nvSpPr>
          <p:cNvPr id="10" name="trap-2"/>
          <p:cNvSpPr/>
          <p:nvPr/>
        </p:nvSpPr>
        <p:spPr>
          <a:xfrm>
            <a:off x="4428744" y="1828800"/>
            <a:ext cx="3340608" cy="1920240"/>
          </a:xfrm>
          <a:prstGeom prst="roundRect">
            <a:avLst>
              <a:gd name="adj" fmla="val 5714"/>
            </a:avLst>
          </a:prstGeom>
          <a:solidFill>
            <a:schemeClr val="bg1"/>
          </a:solidFill>
          <a:ln w="12700">
            <a:solidFill>
              <a:srgbClr val="DCE2EC"/>
            </a:solidFill>
            <a:prstDash val="solid"/>
          </a:ln>
        </p:spPr>
      </p:sp>
      <p:sp>
        <p:nvSpPr>
          <p:cNvPr id="11" name="Shape 8"/>
          <p:cNvSpPr/>
          <p:nvPr/>
        </p:nvSpPr>
        <p:spPr>
          <a:xfrm>
            <a:off x="4703064" y="2057400"/>
            <a:ext cx="438912" cy="438912"/>
          </a:xfrm>
          <a:prstGeom prst="ellipse">
            <a:avLst/>
          </a:prstGeom>
          <a:solidFill>
            <a:schemeClr val="accent1"/>
          </a:solidFill>
          <a:ln/>
        </p:spPr>
      </p:sp>
      <p:sp>
        <p:nvSpPr>
          <p:cNvPr id="12" name="Text 9"/>
          <p:cNvSpPr txBox="1"/>
          <p:nvPr/>
        </p:nvSpPr>
        <p:spPr>
          <a:xfrm>
            <a:off x="4703064" y="2057400"/>
            <a:ext cx="438912" cy="438912"/>
          </a:xfrm>
          <a:prstGeom prst="rect">
            <a:avLst/>
          </a:prstGeom>
          <a:noFill/>
          <a:ln/>
        </p:spPr>
        <p:txBody>
          <a:bodyPr wrap="square" lIns="0" tIns="0" rIns="0" bIns="0" rtlCol="0" anchor="ctr"/>
          <a:lstStyle/>
          <a:p>
            <a:pPr algn="ctr" indent="0" marL="0">
              <a:lnSpc>
                <a:spcPct val="115000"/>
              </a:lnSpc>
              <a:buNone/>
            </a:pPr>
            <a:r>
              <a:rPr lang="en-US" sz="1500" b="1" dirty="0">
                <a:solidFill>
                  <a:schemeClr val="bg1"/>
                </a:solidFill>
              </a:rPr>
              <a:t>2</a:t>
            </a:r>
            <a:endParaRPr lang="en-US" sz="1500" dirty="0"/>
          </a:p>
        </p:txBody>
      </p:sp>
      <p:sp>
        <p:nvSpPr>
          <p:cNvPr id="13" name="Text 10"/>
          <p:cNvSpPr txBox="1"/>
          <p:nvPr/>
        </p:nvSpPr>
        <p:spPr>
          <a:xfrm>
            <a:off x="4703064" y="2606040"/>
            <a:ext cx="2791968" cy="411480"/>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분모의 길이 단위</a:t>
            </a:r>
            <a:endParaRPr lang="en-US" sz="1900" dirty="0"/>
          </a:p>
        </p:txBody>
      </p:sp>
      <p:sp>
        <p:nvSpPr>
          <p:cNvPr id="14" name="Text 11"/>
          <p:cNvSpPr txBox="1"/>
          <p:nvPr/>
        </p:nvSpPr>
        <p:spPr>
          <a:xfrm>
            <a:off x="4703064" y="3063240"/>
            <a:ext cx="2791968" cy="54864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V/cm → V/m: × 10</a:t>
            </a:r>
            <a:pPr indent="0" marL="0">
              <a:lnSpc>
                <a:spcPct val="115000"/>
              </a:lnSpc>
              <a:buNone/>
            </a:pPr>
            <a:r>
              <a:rPr lang="en-US" sz="1500" baseline="30000" dirty="0">
                <a:solidFill>
                  <a:schemeClr val="accent5"/>
                </a:solidFill>
              </a:rPr>
              <a:t>2</a:t>
            </a:r>
            <a:endParaRPr lang="en-US" sz="1500" dirty="0"/>
          </a:p>
        </p:txBody>
      </p:sp>
      <p:sp>
        <p:nvSpPr>
          <p:cNvPr id="15" name="trap-3"/>
          <p:cNvSpPr/>
          <p:nvPr/>
        </p:nvSpPr>
        <p:spPr>
          <a:xfrm>
            <a:off x="8043672" y="1828800"/>
            <a:ext cx="3340608" cy="1920240"/>
          </a:xfrm>
          <a:prstGeom prst="roundRect">
            <a:avLst>
              <a:gd name="adj" fmla="val 5714"/>
            </a:avLst>
          </a:prstGeom>
          <a:solidFill>
            <a:schemeClr val="bg1"/>
          </a:solidFill>
          <a:ln w="12700">
            <a:solidFill>
              <a:srgbClr val="DCE2EC"/>
            </a:solidFill>
            <a:prstDash val="solid"/>
          </a:ln>
        </p:spPr>
      </p:sp>
      <p:sp>
        <p:nvSpPr>
          <p:cNvPr id="16" name="Shape 13"/>
          <p:cNvSpPr/>
          <p:nvPr/>
        </p:nvSpPr>
        <p:spPr>
          <a:xfrm>
            <a:off x="8317992" y="2057400"/>
            <a:ext cx="438912" cy="438912"/>
          </a:xfrm>
          <a:prstGeom prst="ellipse">
            <a:avLst/>
          </a:prstGeom>
          <a:solidFill>
            <a:schemeClr val="accent1"/>
          </a:solidFill>
          <a:ln/>
        </p:spPr>
      </p:sp>
      <p:sp>
        <p:nvSpPr>
          <p:cNvPr id="17" name="Text 14"/>
          <p:cNvSpPr txBox="1"/>
          <p:nvPr/>
        </p:nvSpPr>
        <p:spPr>
          <a:xfrm>
            <a:off x="8317992" y="2057400"/>
            <a:ext cx="438912" cy="438912"/>
          </a:xfrm>
          <a:prstGeom prst="rect">
            <a:avLst/>
          </a:prstGeom>
          <a:noFill/>
          <a:ln/>
        </p:spPr>
        <p:txBody>
          <a:bodyPr wrap="square" lIns="0" tIns="0" rIns="0" bIns="0" rtlCol="0" anchor="ctr"/>
          <a:lstStyle/>
          <a:p>
            <a:pPr algn="ctr" indent="0" marL="0">
              <a:lnSpc>
                <a:spcPct val="115000"/>
              </a:lnSpc>
              <a:buNone/>
            </a:pPr>
            <a:r>
              <a:rPr lang="en-US" sz="1500" b="1" dirty="0">
                <a:solidFill>
                  <a:schemeClr val="bg1"/>
                </a:solidFill>
              </a:rPr>
              <a:t>3</a:t>
            </a:r>
            <a:endParaRPr lang="en-US" sz="1500" dirty="0"/>
          </a:p>
        </p:txBody>
      </p:sp>
      <p:sp>
        <p:nvSpPr>
          <p:cNvPr id="18" name="Text 15"/>
          <p:cNvSpPr txBox="1"/>
          <p:nvPr/>
        </p:nvSpPr>
        <p:spPr>
          <a:xfrm>
            <a:off x="8317992" y="2606040"/>
            <a:ext cx="2791968" cy="411480"/>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eV ↔ J</a:t>
            </a:r>
            <a:endParaRPr lang="en-US" sz="1900" dirty="0"/>
          </a:p>
        </p:txBody>
      </p:sp>
      <p:sp>
        <p:nvSpPr>
          <p:cNvPr id="19" name="Text 16"/>
          <p:cNvSpPr txBox="1"/>
          <p:nvPr/>
        </p:nvSpPr>
        <p:spPr>
          <a:xfrm>
            <a:off x="8317992" y="3063240"/>
            <a:ext cx="2791968" cy="54864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1 eV = 1.602×10</a:t>
            </a:r>
            <a:pPr indent="0" marL="0">
              <a:lnSpc>
                <a:spcPct val="115000"/>
              </a:lnSpc>
              <a:buNone/>
            </a:pPr>
            <a:r>
              <a:rPr lang="en-US" sz="1500" baseline="30000" dirty="0">
                <a:solidFill>
                  <a:schemeClr val="accent5"/>
                </a:solidFill>
              </a:rPr>
              <a:t>−19</a:t>
            </a:r>
            <a:pPr indent="0" marL="0">
              <a:lnSpc>
                <a:spcPct val="115000"/>
              </a:lnSpc>
              <a:buNone/>
            </a:pPr>
            <a:r>
              <a:rPr lang="en-US" sz="1500" dirty="0">
                <a:solidFill>
                  <a:schemeClr val="accent5"/>
                </a:solidFill>
              </a:rPr>
              <a:t> J</a:t>
            </a:r>
            <a:endParaRPr lang="en-US" sz="1500" dirty="0"/>
          </a:p>
        </p:txBody>
      </p:sp>
      <p:sp>
        <p:nvSpPr>
          <p:cNvPr id="20" name="trap-4"/>
          <p:cNvSpPr/>
          <p:nvPr/>
        </p:nvSpPr>
        <p:spPr>
          <a:xfrm>
            <a:off x="813816" y="4023360"/>
            <a:ext cx="3340608" cy="1920240"/>
          </a:xfrm>
          <a:prstGeom prst="roundRect">
            <a:avLst>
              <a:gd name="adj" fmla="val 5714"/>
            </a:avLst>
          </a:prstGeom>
          <a:solidFill>
            <a:schemeClr val="bg1"/>
          </a:solidFill>
          <a:ln w="12700">
            <a:solidFill>
              <a:srgbClr val="DCE2EC"/>
            </a:solidFill>
            <a:prstDash val="solid"/>
          </a:ln>
        </p:spPr>
      </p:sp>
      <p:sp>
        <p:nvSpPr>
          <p:cNvPr id="21" name="Shape 18"/>
          <p:cNvSpPr/>
          <p:nvPr/>
        </p:nvSpPr>
        <p:spPr>
          <a:xfrm>
            <a:off x="1088136" y="4251960"/>
            <a:ext cx="438912" cy="438912"/>
          </a:xfrm>
          <a:prstGeom prst="ellipse">
            <a:avLst/>
          </a:prstGeom>
          <a:solidFill>
            <a:schemeClr val="accent2"/>
          </a:solidFill>
          <a:ln/>
        </p:spPr>
      </p:sp>
      <p:sp>
        <p:nvSpPr>
          <p:cNvPr id="22" name="Text 19"/>
          <p:cNvSpPr txBox="1"/>
          <p:nvPr/>
        </p:nvSpPr>
        <p:spPr>
          <a:xfrm>
            <a:off x="1088136" y="4251960"/>
            <a:ext cx="438912" cy="438912"/>
          </a:xfrm>
          <a:prstGeom prst="rect">
            <a:avLst/>
          </a:prstGeom>
          <a:noFill/>
          <a:ln/>
        </p:spPr>
        <p:txBody>
          <a:bodyPr wrap="square" lIns="0" tIns="0" rIns="0" bIns="0" rtlCol="0" anchor="ctr"/>
          <a:lstStyle/>
          <a:p>
            <a:pPr algn="ctr" indent="0" marL="0">
              <a:lnSpc>
                <a:spcPct val="115000"/>
              </a:lnSpc>
              <a:buNone/>
            </a:pPr>
            <a:r>
              <a:rPr lang="en-US" sz="1500" b="1" dirty="0">
                <a:solidFill>
                  <a:schemeClr val="bg1"/>
                </a:solidFill>
              </a:rPr>
              <a:t>4</a:t>
            </a:r>
            <a:endParaRPr lang="en-US" sz="1500" dirty="0"/>
          </a:p>
        </p:txBody>
      </p:sp>
      <p:sp>
        <p:nvSpPr>
          <p:cNvPr id="23" name="Text 20"/>
          <p:cNvSpPr txBox="1"/>
          <p:nvPr/>
        </p:nvSpPr>
        <p:spPr>
          <a:xfrm>
            <a:off x="1088136" y="4800600"/>
            <a:ext cx="2791968" cy="411480"/>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exp( ) 안은 무차원</a:t>
            </a:r>
            <a:endParaRPr lang="en-US" sz="1900" dirty="0"/>
          </a:p>
        </p:txBody>
      </p:sp>
      <p:sp>
        <p:nvSpPr>
          <p:cNvPr id="24" name="Text 21"/>
          <p:cNvSpPr txBox="1"/>
          <p:nvPr/>
        </p:nvSpPr>
        <p:spPr>
          <a:xfrm>
            <a:off x="1088136" y="5257800"/>
            <a:ext cx="2791968" cy="54864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에너지 ÷ 에너지, 같은 단위로</a:t>
            </a:r>
            <a:endParaRPr lang="en-US" sz="1500" dirty="0"/>
          </a:p>
        </p:txBody>
      </p:sp>
      <p:sp>
        <p:nvSpPr>
          <p:cNvPr id="25" name="trap-5"/>
          <p:cNvSpPr/>
          <p:nvPr/>
        </p:nvSpPr>
        <p:spPr>
          <a:xfrm>
            <a:off x="4428744" y="4023360"/>
            <a:ext cx="3340608" cy="1920240"/>
          </a:xfrm>
          <a:prstGeom prst="roundRect">
            <a:avLst>
              <a:gd name="adj" fmla="val 5714"/>
            </a:avLst>
          </a:prstGeom>
          <a:solidFill>
            <a:schemeClr val="bg1"/>
          </a:solidFill>
          <a:ln w="12700">
            <a:solidFill>
              <a:srgbClr val="DCE2EC"/>
            </a:solidFill>
            <a:prstDash val="solid"/>
          </a:ln>
        </p:spPr>
      </p:sp>
      <p:sp>
        <p:nvSpPr>
          <p:cNvPr id="26" name="Shape 23"/>
          <p:cNvSpPr/>
          <p:nvPr/>
        </p:nvSpPr>
        <p:spPr>
          <a:xfrm>
            <a:off x="4703064" y="4251960"/>
            <a:ext cx="438912" cy="438912"/>
          </a:xfrm>
          <a:prstGeom prst="ellipse">
            <a:avLst/>
          </a:prstGeom>
          <a:solidFill>
            <a:schemeClr val="accent2"/>
          </a:solidFill>
          <a:ln/>
        </p:spPr>
      </p:sp>
      <p:sp>
        <p:nvSpPr>
          <p:cNvPr id="27" name="Text 24"/>
          <p:cNvSpPr txBox="1"/>
          <p:nvPr/>
        </p:nvSpPr>
        <p:spPr>
          <a:xfrm>
            <a:off x="4703064" y="4251960"/>
            <a:ext cx="438912" cy="438912"/>
          </a:xfrm>
          <a:prstGeom prst="rect">
            <a:avLst/>
          </a:prstGeom>
          <a:noFill/>
          <a:ln/>
        </p:spPr>
        <p:txBody>
          <a:bodyPr wrap="square" lIns="0" tIns="0" rIns="0" bIns="0" rtlCol="0" anchor="ctr"/>
          <a:lstStyle/>
          <a:p>
            <a:pPr algn="ctr" indent="0" marL="0">
              <a:lnSpc>
                <a:spcPct val="115000"/>
              </a:lnSpc>
              <a:buNone/>
            </a:pPr>
            <a:r>
              <a:rPr lang="en-US" sz="1500" b="1" dirty="0">
                <a:solidFill>
                  <a:schemeClr val="bg1"/>
                </a:solidFill>
              </a:rPr>
              <a:t>5</a:t>
            </a:r>
            <a:endParaRPr lang="en-US" sz="1500" dirty="0"/>
          </a:p>
        </p:txBody>
      </p:sp>
      <p:sp>
        <p:nvSpPr>
          <p:cNvPr id="28" name="Text 25"/>
          <p:cNvSpPr txBox="1"/>
          <p:nvPr/>
        </p:nvSpPr>
        <p:spPr>
          <a:xfrm>
            <a:off x="4703064" y="4800600"/>
            <a:ext cx="2791968" cy="411480"/>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온도는 켈빈</a:t>
            </a:r>
            <a:endParaRPr lang="en-US" sz="1900" dirty="0"/>
          </a:p>
        </p:txBody>
      </p:sp>
      <p:sp>
        <p:nvSpPr>
          <p:cNvPr id="29" name="Text 26"/>
          <p:cNvSpPr txBox="1"/>
          <p:nvPr/>
        </p:nvSpPr>
        <p:spPr>
          <a:xfrm>
            <a:off x="4703064" y="5257800"/>
            <a:ext cx="2791968" cy="54864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T[K] = T[°C] + 273.15</a:t>
            </a:r>
            <a:endParaRPr lang="en-US" sz="1500" dirty="0"/>
          </a:p>
        </p:txBody>
      </p:sp>
      <p:sp>
        <p:nvSpPr>
          <p:cNvPr id="30" name="trap-6"/>
          <p:cNvSpPr/>
          <p:nvPr/>
        </p:nvSpPr>
        <p:spPr>
          <a:xfrm>
            <a:off x="8043672" y="4023360"/>
            <a:ext cx="3340608" cy="1920240"/>
          </a:xfrm>
          <a:prstGeom prst="roundRect">
            <a:avLst>
              <a:gd name="adj" fmla="val 5714"/>
            </a:avLst>
          </a:prstGeom>
          <a:solidFill>
            <a:schemeClr val="bg1"/>
          </a:solidFill>
          <a:ln w="12700">
            <a:solidFill>
              <a:srgbClr val="DCE2EC"/>
            </a:solidFill>
            <a:prstDash val="solid"/>
          </a:ln>
        </p:spPr>
      </p:sp>
      <p:sp>
        <p:nvSpPr>
          <p:cNvPr id="31" name="Shape 28"/>
          <p:cNvSpPr/>
          <p:nvPr/>
        </p:nvSpPr>
        <p:spPr>
          <a:xfrm>
            <a:off x="8317992" y="4251960"/>
            <a:ext cx="438912" cy="438912"/>
          </a:xfrm>
          <a:prstGeom prst="ellipse">
            <a:avLst/>
          </a:prstGeom>
          <a:solidFill>
            <a:schemeClr val="accent2"/>
          </a:solidFill>
          <a:ln/>
        </p:spPr>
      </p:sp>
      <p:sp>
        <p:nvSpPr>
          <p:cNvPr id="32" name="Text 29"/>
          <p:cNvSpPr txBox="1"/>
          <p:nvPr/>
        </p:nvSpPr>
        <p:spPr>
          <a:xfrm>
            <a:off x="8317992" y="4251960"/>
            <a:ext cx="438912" cy="438912"/>
          </a:xfrm>
          <a:prstGeom prst="rect">
            <a:avLst/>
          </a:prstGeom>
          <a:noFill/>
          <a:ln/>
        </p:spPr>
        <p:txBody>
          <a:bodyPr wrap="square" lIns="0" tIns="0" rIns="0" bIns="0" rtlCol="0" anchor="ctr"/>
          <a:lstStyle/>
          <a:p>
            <a:pPr algn="ctr" indent="0" marL="0">
              <a:lnSpc>
                <a:spcPct val="115000"/>
              </a:lnSpc>
              <a:buNone/>
            </a:pPr>
            <a:r>
              <a:rPr lang="en-US" sz="1500" b="1" dirty="0">
                <a:solidFill>
                  <a:schemeClr val="bg1"/>
                </a:solidFill>
              </a:rPr>
              <a:t>6</a:t>
            </a:r>
            <a:endParaRPr lang="en-US" sz="1500" dirty="0"/>
          </a:p>
        </p:txBody>
      </p:sp>
      <p:sp>
        <p:nvSpPr>
          <p:cNvPr id="33" name="Text 30"/>
          <p:cNvSpPr txBox="1"/>
          <p:nvPr/>
        </p:nvSpPr>
        <p:spPr>
          <a:xfrm>
            <a:off x="8317992" y="4800600"/>
            <a:ext cx="2791968" cy="411480"/>
          </a:xfrm>
          <a:prstGeom prst="rect">
            <a:avLst/>
          </a:prstGeom>
          <a:noFill/>
          <a:ln/>
        </p:spPr>
        <p:txBody>
          <a:bodyPr wrap="square" lIns="0" tIns="0" rIns="0" bIns="0" rtlCol="0" anchor="t"/>
          <a:lstStyle/>
          <a:p>
            <a:pPr indent="0" marL="0">
              <a:lnSpc>
                <a:spcPct val="115000"/>
              </a:lnSpc>
              <a:buNone/>
            </a:pPr>
            <a:r>
              <a:rPr lang="en-US" sz="1900" b="1" dirty="0">
                <a:solidFill>
                  <a:schemeClr val="tx2"/>
                </a:solidFill>
              </a:rPr>
              <a:t>kT ≠ kT/q</a:t>
            </a:r>
            <a:endParaRPr lang="en-US" sz="1900" dirty="0"/>
          </a:p>
        </p:txBody>
      </p:sp>
      <p:sp>
        <p:nvSpPr>
          <p:cNvPr id="34" name="Text 31"/>
          <p:cNvSpPr txBox="1"/>
          <p:nvPr/>
        </p:nvSpPr>
        <p:spPr>
          <a:xfrm>
            <a:off x="8317992" y="5257800"/>
            <a:ext cx="2791968" cy="54864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kT는 에너지(eV), kT/q는 전압(V)</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2"/>
                </a:solidFill>
              </a:rPr>
              <a:t>연습 문제</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tx2"/>
                </a:solidFill>
              </a:rPr>
              <a:t>직접 풀어 보기</a:t>
            </a:r>
            <a:endParaRPr lang="en-US" sz="3000" dirty="0"/>
          </a:p>
        </p:txBody>
      </p:sp>
      <p:sp>
        <p:nvSpPr>
          <p:cNvPr id="5" name="practice-1"/>
          <p:cNvSpPr/>
          <p:nvPr/>
        </p:nvSpPr>
        <p:spPr>
          <a:xfrm>
            <a:off x="813816" y="1828800"/>
            <a:ext cx="5148072" cy="1874520"/>
          </a:xfrm>
          <a:prstGeom prst="roundRect">
            <a:avLst>
              <a:gd name="adj" fmla="val 5854"/>
            </a:avLst>
          </a:prstGeom>
          <a:solidFill>
            <a:schemeClr val="bg1"/>
          </a:solidFill>
          <a:ln w="12700">
            <a:solidFill>
              <a:srgbClr val="DCE2EC"/>
            </a:solidFill>
            <a:prstDash val="solid"/>
          </a:ln>
        </p:spPr>
      </p:sp>
      <p:sp>
        <p:nvSpPr>
          <p:cNvPr id="6" name="Text 3"/>
          <p:cNvSpPr txBox="1"/>
          <p:nvPr/>
        </p:nvSpPr>
        <p:spPr>
          <a:xfrm>
            <a:off x="1088136" y="2057400"/>
            <a:ext cx="4599432" cy="365760"/>
          </a:xfrm>
          <a:prstGeom prst="rect">
            <a:avLst/>
          </a:prstGeom>
          <a:noFill/>
          <a:ln/>
        </p:spPr>
        <p:txBody>
          <a:bodyPr wrap="square" lIns="0" tIns="0" rIns="0" bIns="0" rtlCol="0" anchor="t"/>
          <a:lstStyle/>
          <a:p>
            <a:pPr indent="0" marL="0">
              <a:lnSpc>
                <a:spcPct val="115000"/>
              </a:lnSpc>
              <a:buNone/>
            </a:pPr>
            <a:r>
              <a:rPr lang="en-US" sz="1600" b="1" dirty="0">
                <a:solidFill>
                  <a:schemeClr val="accent1"/>
                </a:solidFill>
              </a:rPr>
              <a:t>문제 1 · 광자 에너지</a:t>
            </a:r>
            <a:endParaRPr lang="en-US" sz="1600" dirty="0"/>
          </a:p>
        </p:txBody>
      </p:sp>
      <p:sp>
        <p:nvSpPr>
          <p:cNvPr id="7" name="Text 4"/>
          <p:cNvSpPr txBox="1"/>
          <p:nvPr/>
        </p:nvSpPr>
        <p:spPr>
          <a:xfrm>
            <a:off x="1088136" y="2514600"/>
            <a:ext cx="4599432" cy="1051560"/>
          </a:xfrm>
          <a:prstGeom prst="rect">
            <a:avLst/>
          </a:prstGeom>
          <a:noFill/>
          <a:ln/>
        </p:spPr>
        <p:txBody>
          <a:bodyPr wrap="square" lIns="0" tIns="0" rIns="0" bIns="0" rtlCol="0" anchor="t"/>
          <a:lstStyle/>
          <a:p>
            <a:pPr indent="0" marL="0">
              <a:lnSpc>
                <a:spcPct val="135000"/>
              </a:lnSpc>
              <a:buNone/>
            </a:pPr>
            <a:r>
              <a:rPr lang="en-US" sz="1500" dirty="0">
                <a:solidFill>
                  <a:schemeClr val="tx1"/>
                </a:solidFill>
              </a:rPr>
              <a:t>리모컨의 940 nm 적외선 LED. 광자 1개의 에너지를 eV와 J로 구하라.</a:t>
            </a:r>
            <a:endParaRPr lang="en-US" sz="1500" dirty="0"/>
          </a:p>
        </p:txBody>
      </p:sp>
      <p:sp>
        <p:nvSpPr>
          <p:cNvPr id="8" name="practice-2"/>
          <p:cNvSpPr/>
          <p:nvPr/>
        </p:nvSpPr>
        <p:spPr>
          <a:xfrm>
            <a:off x="6236208" y="1828800"/>
            <a:ext cx="5148072" cy="1874520"/>
          </a:xfrm>
          <a:prstGeom prst="roundRect">
            <a:avLst>
              <a:gd name="adj" fmla="val 5854"/>
            </a:avLst>
          </a:prstGeom>
          <a:solidFill>
            <a:schemeClr val="bg1"/>
          </a:solidFill>
          <a:ln w="12700">
            <a:solidFill>
              <a:srgbClr val="DCE2EC"/>
            </a:solidFill>
            <a:prstDash val="solid"/>
          </a:ln>
        </p:spPr>
      </p:sp>
      <p:sp>
        <p:nvSpPr>
          <p:cNvPr id="9" name="Text 6"/>
          <p:cNvSpPr txBox="1"/>
          <p:nvPr/>
        </p:nvSpPr>
        <p:spPr>
          <a:xfrm>
            <a:off x="6510528" y="2057400"/>
            <a:ext cx="4599432" cy="365760"/>
          </a:xfrm>
          <a:prstGeom prst="rect">
            <a:avLst/>
          </a:prstGeom>
          <a:noFill/>
          <a:ln/>
        </p:spPr>
        <p:txBody>
          <a:bodyPr wrap="square" lIns="0" tIns="0" rIns="0" bIns="0" rtlCol="0" anchor="t"/>
          <a:lstStyle/>
          <a:p>
            <a:pPr indent="0" marL="0">
              <a:lnSpc>
                <a:spcPct val="115000"/>
              </a:lnSpc>
              <a:buNone/>
            </a:pPr>
            <a:r>
              <a:rPr lang="en-US" sz="1600" b="1" dirty="0">
                <a:solidFill>
                  <a:schemeClr val="accent1"/>
                </a:solidFill>
              </a:rPr>
              <a:t>문제 2 · 열전압</a:t>
            </a:r>
            <a:endParaRPr lang="en-US" sz="1600" dirty="0"/>
          </a:p>
        </p:txBody>
      </p:sp>
      <p:sp>
        <p:nvSpPr>
          <p:cNvPr id="10" name="Text 7"/>
          <p:cNvSpPr txBox="1"/>
          <p:nvPr/>
        </p:nvSpPr>
        <p:spPr>
          <a:xfrm>
            <a:off x="6510528" y="2514600"/>
            <a:ext cx="4599432" cy="1051560"/>
          </a:xfrm>
          <a:prstGeom prst="rect">
            <a:avLst/>
          </a:prstGeom>
          <a:noFill/>
          <a:ln/>
        </p:spPr>
        <p:txBody>
          <a:bodyPr wrap="square" lIns="0" tIns="0" rIns="0" bIns="0" rtlCol="0" anchor="t"/>
          <a:lstStyle/>
          <a:p>
            <a:pPr indent="0" marL="0">
              <a:lnSpc>
                <a:spcPct val="135000"/>
              </a:lnSpc>
              <a:buNone/>
            </a:pPr>
            <a:r>
              <a:rPr lang="en-US" sz="1500" dirty="0">
                <a:solidFill>
                  <a:schemeClr val="tx1"/>
                </a:solidFill>
              </a:rPr>
              <a:t>온도 350 K에서 kT를 eV로, kT/q를 mV로 구하라.</a:t>
            </a:r>
            <a:endParaRPr lang="en-US" sz="1500" dirty="0"/>
          </a:p>
        </p:txBody>
      </p:sp>
      <p:sp>
        <p:nvSpPr>
          <p:cNvPr id="11" name="practice-3"/>
          <p:cNvSpPr/>
          <p:nvPr/>
        </p:nvSpPr>
        <p:spPr>
          <a:xfrm>
            <a:off x="813816" y="3977640"/>
            <a:ext cx="5148072" cy="1874520"/>
          </a:xfrm>
          <a:prstGeom prst="roundRect">
            <a:avLst>
              <a:gd name="adj" fmla="val 5854"/>
            </a:avLst>
          </a:prstGeom>
          <a:solidFill>
            <a:schemeClr val="bg1"/>
          </a:solidFill>
          <a:ln w="12700">
            <a:solidFill>
              <a:srgbClr val="DCE2EC"/>
            </a:solidFill>
            <a:prstDash val="solid"/>
          </a:ln>
        </p:spPr>
      </p:sp>
      <p:sp>
        <p:nvSpPr>
          <p:cNvPr id="12" name="Text 9"/>
          <p:cNvSpPr txBox="1"/>
          <p:nvPr/>
        </p:nvSpPr>
        <p:spPr>
          <a:xfrm>
            <a:off x="1088136" y="4206240"/>
            <a:ext cx="4599432" cy="365760"/>
          </a:xfrm>
          <a:prstGeom prst="rect">
            <a:avLst/>
          </a:prstGeom>
          <a:noFill/>
          <a:ln/>
        </p:spPr>
        <p:txBody>
          <a:bodyPr wrap="square" lIns="0" tIns="0" rIns="0" bIns="0" rtlCol="0" anchor="t"/>
          <a:lstStyle/>
          <a:p>
            <a:pPr indent="0" marL="0">
              <a:lnSpc>
                <a:spcPct val="115000"/>
              </a:lnSpc>
              <a:buNone/>
            </a:pPr>
            <a:r>
              <a:rPr lang="en-US" sz="1600" b="1" dirty="0">
                <a:solidFill>
                  <a:schemeClr val="accent1"/>
                </a:solidFill>
              </a:rPr>
              <a:t>문제 3 · 정공 농도</a:t>
            </a:r>
            <a:endParaRPr lang="en-US" sz="1600" dirty="0"/>
          </a:p>
        </p:txBody>
      </p:sp>
      <p:sp>
        <p:nvSpPr>
          <p:cNvPr id="13" name="Text 10"/>
          <p:cNvSpPr txBox="1"/>
          <p:nvPr/>
        </p:nvSpPr>
        <p:spPr>
          <a:xfrm>
            <a:off x="1088136" y="4663440"/>
            <a:ext cx="4599432" cy="1051560"/>
          </a:xfrm>
          <a:prstGeom prst="rect">
            <a:avLst/>
          </a:prstGeom>
          <a:noFill/>
          <a:ln/>
        </p:spPr>
        <p:txBody>
          <a:bodyPr wrap="square" lIns="0" tIns="0" rIns="0" bIns="0" rtlCol="0" anchor="t"/>
          <a:lstStyle/>
          <a:p>
            <a:pPr indent="0" marL="0">
              <a:lnSpc>
                <a:spcPct val="135000"/>
              </a:lnSpc>
              <a:buNone/>
            </a:pPr>
            <a:r>
              <a:rPr lang="en-US" sz="1500" dirty="0">
                <a:solidFill>
                  <a:schemeClr val="tx1"/>
                </a:solidFill>
              </a:rPr>
              <a:t>300 K p형 Si에서 EF − Ev = 0.25 eV. 정공 농도를 m</a:t>
            </a:r>
            <a:pPr indent="0" marL="0">
              <a:lnSpc>
                <a:spcPct val="135000"/>
              </a:lnSpc>
              <a:buNone/>
            </a:pPr>
            <a:r>
              <a:rPr lang="en-US" sz="1500" baseline="30000" dirty="0">
                <a:solidFill>
                  <a:schemeClr val="tx1"/>
                </a:solidFill>
              </a:rPr>
              <a:t>−3</a:t>
            </a:r>
            <a:pPr indent="0" marL="0">
              <a:lnSpc>
                <a:spcPct val="135000"/>
              </a:lnSpc>
              <a:buNone/>
            </a:pPr>
            <a:r>
              <a:rPr lang="en-US" sz="1500" dirty="0">
                <a:solidFill>
                  <a:schemeClr val="tx1"/>
                </a:solidFill>
              </a:rPr>
              <a:t>로 구하라.</a:t>
            </a:r>
            <a:endParaRPr lang="en-US" sz="1500" dirty="0"/>
          </a:p>
          <a:p>
            <a:pPr indent="0" marL="0">
              <a:lnSpc>
                <a:spcPct val="135000"/>
              </a:lnSpc>
              <a:buNone/>
            </a:pPr>
            <a:r>
              <a:rPr lang="en-US" sz="1500" dirty="0">
                <a:solidFill>
                  <a:schemeClr val="tx1"/>
                </a:solidFill>
              </a:rPr>
              <a:t>p</a:t>
            </a:r>
            <a:pPr indent="0" marL="0">
              <a:lnSpc>
                <a:spcPct val="135000"/>
              </a:lnSpc>
              <a:buNone/>
            </a:pPr>
            <a:r>
              <a:rPr lang="en-US" sz="1500" baseline="-40000" dirty="0">
                <a:solidFill>
                  <a:schemeClr val="tx1"/>
                </a:solidFill>
              </a:rPr>
              <a:t>0</a:t>
            </a:r>
            <a:pPr indent="0" marL="0">
              <a:lnSpc>
                <a:spcPct val="135000"/>
              </a:lnSpc>
              <a:buNone/>
            </a:pPr>
            <a:r>
              <a:rPr lang="en-US" sz="1500" dirty="0">
                <a:solidFill>
                  <a:schemeClr val="tx1"/>
                </a:solidFill>
              </a:rPr>
              <a:t> = Nv·exp[−(EF − Ev)/kT],  Nv = 1.04×10</a:t>
            </a:r>
            <a:pPr indent="0" marL="0">
              <a:lnSpc>
                <a:spcPct val="135000"/>
              </a:lnSpc>
              <a:buNone/>
            </a:pPr>
            <a:r>
              <a:rPr lang="en-US" sz="1500" baseline="30000" dirty="0">
                <a:solidFill>
                  <a:schemeClr val="tx1"/>
                </a:solidFill>
              </a:rPr>
              <a:t>19</a:t>
            </a:r>
            <a:pPr indent="0" marL="0">
              <a:lnSpc>
                <a:spcPct val="135000"/>
              </a:lnSpc>
              <a:buNone/>
            </a:pPr>
            <a:r>
              <a:rPr lang="en-US" sz="1500" dirty="0">
                <a:solidFill>
                  <a:schemeClr val="tx1"/>
                </a:solidFill>
              </a:rPr>
              <a:t> cm</a:t>
            </a:r>
            <a:pPr indent="0" marL="0">
              <a:lnSpc>
                <a:spcPct val="135000"/>
              </a:lnSpc>
              <a:buNone/>
            </a:pPr>
            <a:r>
              <a:rPr lang="en-US" sz="1500" baseline="30000" dirty="0">
                <a:solidFill>
                  <a:schemeClr val="tx1"/>
                </a:solidFill>
              </a:rPr>
              <a:t>−3</a:t>
            </a:r>
            <a:endParaRPr lang="en-US" sz="1500" dirty="0"/>
          </a:p>
        </p:txBody>
      </p:sp>
      <p:sp>
        <p:nvSpPr>
          <p:cNvPr id="14" name="practice-4"/>
          <p:cNvSpPr/>
          <p:nvPr/>
        </p:nvSpPr>
        <p:spPr>
          <a:xfrm>
            <a:off x="6236208" y="3977640"/>
            <a:ext cx="5148072" cy="1874520"/>
          </a:xfrm>
          <a:prstGeom prst="roundRect">
            <a:avLst>
              <a:gd name="adj" fmla="val 5854"/>
            </a:avLst>
          </a:prstGeom>
          <a:solidFill>
            <a:schemeClr val="bg1"/>
          </a:solidFill>
          <a:ln w="12700">
            <a:solidFill>
              <a:srgbClr val="DCE2EC"/>
            </a:solidFill>
            <a:prstDash val="solid"/>
          </a:ln>
        </p:spPr>
      </p:sp>
      <p:sp>
        <p:nvSpPr>
          <p:cNvPr id="15" name="Text 12"/>
          <p:cNvSpPr txBox="1"/>
          <p:nvPr/>
        </p:nvSpPr>
        <p:spPr>
          <a:xfrm>
            <a:off x="6510528" y="4206240"/>
            <a:ext cx="4599432" cy="365760"/>
          </a:xfrm>
          <a:prstGeom prst="rect">
            <a:avLst/>
          </a:prstGeom>
          <a:noFill/>
          <a:ln/>
        </p:spPr>
        <p:txBody>
          <a:bodyPr wrap="square" lIns="0" tIns="0" rIns="0" bIns="0" rtlCol="0" anchor="t"/>
          <a:lstStyle/>
          <a:p>
            <a:pPr indent="0" marL="0">
              <a:lnSpc>
                <a:spcPct val="115000"/>
              </a:lnSpc>
              <a:buNone/>
            </a:pPr>
            <a:r>
              <a:rPr lang="en-US" sz="1600" b="1" dirty="0">
                <a:solidFill>
                  <a:schemeClr val="accent1"/>
                </a:solidFill>
              </a:rPr>
              <a:t>문제 4 · 밴드갭과 kT</a:t>
            </a:r>
            <a:endParaRPr lang="en-US" sz="1600" dirty="0"/>
          </a:p>
        </p:txBody>
      </p:sp>
      <p:sp>
        <p:nvSpPr>
          <p:cNvPr id="16" name="Text 13"/>
          <p:cNvSpPr txBox="1"/>
          <p:nvPr/>
        </p:nvSpPr>
        <p:spPr>
          <a:xfrm>
            <a:off x="6510528" y="4663440"/>
            <a:ext cx="4599432" cy="1051560"/>
          </a:xfrm>
          <a:prstGeom prst="rect">
            <a:avLst/>
          </a:prstGeom>
          <a:noFill/>
          <a:ln/>
        </p:spPr>
        <p:txBody>
          <a:bodyPr wrap="square" lIns="0" tIns="0" rIns="0" bIns="0" rtlCol="0" anchor="t"/>
          <a:lstStyle/>
          <a:p>
            <a:pPr indent="0" marL="0">
              <a:lnSpc>
                <a:spcPct val="135000"/>
              </a:lnSpc>
              <a:buNone/>
            </a:pPr>
            <a:r>
              <a:rPr lang="en-US" sz="1500" dirty="0">
                <a:solidFill>
                  <a:schemeClr val="tx1"/>
                </a:solidFill>
              </a:rPr>
              <a:t>저마늄(Ge)의 밴드갭 0.66 eV를 J로 바꾸고, 300 K에서 kT의 몇 배인지 구하라.</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eyebrow"/>
          <p:cNvSpPr txBox="1"/>
          <p:nvPr/>
        </p:nvSpPr>
        <p:spPr>
          <a:xfrm>
            <a:off x="813816" y="566928"/>
            <a:ext cx="10570464" cy="274320"/>
          </a:xfrm>
          <a:prstGeom prst="rect">
            <a:avLst/>
          </a:prstGeom>
          <a:noFill/>
          <a:ln/>
        </p:spPr>
        <p:txBody>
          <a:bodyPr wrap="square" lIns="0" tIns="0" rIns="0" bIns="0" rtlCol="0" anchor="t"/>
          <a:lstStyle/>
          <a:p>
            <a:pPr indent="0" marL="0">
              <a:lnSpc>
                <a:spcPct val="115000"/>
              </a:lnSpc>
              <a:buNone/>
            </a:pPr>
            <a:r>
              <a:rPr lang="en-US" sz="1300" b="1" dirty="0">
                <a:solidFill>
                  <a:schemeClr val="accent3"/>
                </a:solidFill>
              </a:rPr>
              <a:t>정답</a:t>
            </a:r>
            <a:endParaRPr lang="en-US" sz="1300" dirty="0"/>
          </a:p>
        </p:txBody>
      </p:sp>
      <p:sp>
        <p:nvSpPr>
          <p:cNvPr id="4" name="title"/>
          <p:cNvSpPr txBox="1"/>
          <p:nvPr/>
        </p:nvSpPr>
        <p:spPr>
          <a:xfrm>
            <a:off x="813816" y="868680"/>
            <a:ext cx="10570464" cy="594360"/>
          </a:xfrm>
          <a:prstGeom prst="rect">
            <a:avLst/>
          </a:prstGeom>
          <a:noFill/>
          <a:ln/>
        </p:spPr>
        <p:txBody>
          <a:bodyPr wrap="square" lIns="0" tIns="0" rIns="0" bIns="0" rtlCol="0" anchor="t"/>
          <a:lstStyle/>
          <a:p>
            <a:pPr indent="0" marL="0">
              <a:lnSpc>
                <a:spcPct val="115000"/>
              </a:lnSpc>
              <a:buNone/>
            </a:pPr>
            <a:r>
              <a:rPr lang="en-US" sz="3000" b="1" dirty="0">
                <a:solidFill>
                  <a:schemeClr val="bg1"/>
                </a:solidFill>
              </a:rPr>
              <a:t>단위를 끝까지 들고 다니면 답이 맞는지 보인다</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3816" y="1783080"/>
          <a:ext cx="10570464" cy="914400"/>
        </p:xfrm>
        <a:graphic>
          <a:graphicData uri="http://schemas.openxmlformats.org/drawingml/2006/table">
            <a:tbl>
              <a:tblPr/>
              <a:tblGrid>
                <a:gridCol w="914400"/>
                <a:gridCol w="5815584"/>
                <a:gridCol w="3840480"/>
              </a:tblGrid>
              <a:tr h="0">
                <a:tc>
                  <a:txBody>
                    <a:bodyPr/>
                    <a:lstStyle/>
                    <a:p>
                      <a:pPr algn="l" indent="0" marL="0">
                        <a:buNone/>
                      </a:pPr>
                      <a:r>
                        <a:rPr lang="en-US" sz="1500" b="1" dirty="0">
                          <a:solidFill>
                            <a:srgbClr val="F2A65A"/>
                          </a:solidFill>
                          <a:latin typeface="Malgun Gothic" pitchFamily="34" charset="0"/>
                          <a:ea typeface="Malgun Gothic" pitchFamily="34" charset="-122"/>
                          <a:cs typeface="Malgun Gothic" pitchFamily="34" charset="-120"/>
                        </a:rPr>
                        <a:t>문제</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c>
                  <a:txBody>
                    <a:bodyPr/>
                    <a:lstStyle/>
                    <a:p>
                      <a:pPr algn="l" indent="0" marL="0">
                        <a:buNone/>
                      </a:pPr>
                      <a:r>
                        <a:rPr lang="en-US" sz="1500" b="1" dirty="0">
                          <a:solidFill>
                            <a:srgbClr val="F2A65A"/>
                          </a:solidFill>
                          <a:latin typeface="Malgun Gothic" pitchFamily="34" charset="0"/>
                          <a:ea typeface="Malgun Gothic" pitchFamily="34" charset="-122"/>
                          <a:cs typeface="Malgun Gothic" pitchFamily="34" charset="-120"/>
                        </a:rPr>
                        <a:t>풀이</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c>
                  <a:txBody>
                    <a:bodyPr/>
                    <a:lstStyle/>
                    <a:p>
                      <a:pPr algn="l" indent="0" marL="0">
                        <a:buNone/>
                      </a:pPr>
                      <a:r>
                        <a:rPr lang="en-US" sz="1500" b="1" dirty="0">
                          <a:solidFill>
                            <a:srgbClr val="F2A65A"/>
                          </a:solidFill>
                          <a:latin typeface="Malgun Gothic" pitchFamily="34" charset="0"/>
                          <a:ea typeface="Malgun Gothic" pitchFamily="34" charset="-122"/>
                          <a:cs typeface="Malgun Gothic" pitchFamily="34" charset="-120"/>
                        </a:rPr>
                        <a:t>답</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r>
              <a:tr h="0">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1A2A4E"/>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1240 / 940 = 1.32 eV → × 1.602×10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−19</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1A2A4E"/>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1.32 eV = 2.11×10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−19</a:t>
                      </a:r>
                      <a:pPr algn="l" indent="0" marL="0">
                        <a:buNone/>
                      </a:pPr>
                      <a:r>
                        <a:rPr lang="en-US" sz="1500" dirty="0">
                          <a:solidFill>
                            <a:srgbClr val="E3E8F1"/>
                          </a:solidFill>
                          <a:latin typeface="Malgun Gothic" pitchFamily="34" charset="0"/>
                          <a:ea typeface="Malgun Gothic" pitchFamily="34" charset="-122"/>
                          <a:cs typeface="Malgun Gothic" pitchFamily="34" charset="-120"/>
                        </a:rPr>
                        <a:t> J</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1A2A4E"/>
                    </a:solidFill>
                  </a:tcPr>
                </a:tc>
              </a:tr>
              <a:tr h="0">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2</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8.617×10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−5</a:t>
                      </a:r>
                      <a:pPr algn="l" indent="0" marL="0">
                        <a:buNone/>
                      </a:pPr>
                      <a:r>
                        <a:rPr lang="en-US" sz="1500" dirty="0">
                          <a:solidFill>
                            <a:srgbClr val="E3E8F1"/>
                          </a:solidFill>
                          <a:latin typeface="Malgun Gothic" pitchFamily="34" charset="0"/>
                          <a:ea typeface="Malgun Gothic" pitchFamily="34" charset="-122"/>
                          <a:cs typeface="Malgun Gothic" pitchFamily="34" charset="-120"/>
                        </a:rPr>
                        <a:t> × 350 = 0.0302 eV → 같은 숫자의 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0.0302 eV, 30.2 mV</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r>
              <a:tr h="0">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3</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1A2A4E"/>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0.25 / 0.0259 = 9.65 → exp(−9.65) = 6.4×10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−5</a:t>
                      </a:r>
                      <a:pPr algn="l" indent="0" marL="0">
                        <a:buNone/>
                      </a:pPr>
                      <a:r>
                        <a:rPr lang="en-US" sz="1500" dirty="0">
                          <a:solidFill>
                            <a:srgbClr val="E3E8F1"/>
                          </a:solidFill>
                          <a:latin typeface="Malgun Gothic" pitchFamily="34" charset="0"/>
                          <a:ea typeface="Malgun Gothic" pitchFamily="34" charset="-122"/>
                          <a:cs typeface="Malgun Gothic" pitchFamily="34" charset="-120"/>
                        </a:rPr>
                        <a:t> → × 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6</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1A2A4E"/>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6.7×10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14</a:t>
                      </a:r>
                      <a:pPr algn="l" indent="0" marL="0">
                        <a:buNone/>
                      </a:pPr>
                      <a:r>
                        <a:rPr lang="en-US" sz="1500" dirty="0">
                          <a:solidFill>
                            <a:srgbClr val="E3E8F1"/>
                          </a:solidFill>
                          <a:latin typeface="Malgun Gothic" pitchFamily="34" charset="0"/>
                          <a:ea typeface="Malgun Gothic" pitchFamily="34" charset="-122"/>
                          <a:cs typeface="Malgun Gothic" pitchFamily="34" charset="-120"/>
                        </a:rPr>
                        <a:t> cm</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−3</a:t>
                      </a:r>
                      <a:pPr algn="l" indent="0" marL="0">
                        <a:buNone/>
                      </a:pPr>
                      <a:r>
                        <a:rPr lang="en-US" sz="1500" dirty="0">
                          <a:solidFill>
                            <a:srgbClr val="E3E8F1"/>
                          </a:solidFill>
                          <a:latin typeface="Malgun Gothic" pitchFamily="34" charset="0"/>
                          <a:ea typeface="Malgun Gothic" pitchFamily="34" charset="-122"/>
                          <a:cs typeface="Malgun Gothic" pitchFamily="34" charset="-120"/>
                        </a:rPr>
                        <a:t> = 6.7×10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20</a:t>
                      </a:r>
                      <a:pPr algn="l" indent="0" marL="0">
                        <a:buNone/>
                      </a:pPr>
                      <a:r>
                        <a:rPr lang="en-US" sz="1500" dirty="0">
                          <a:solidFill>
                            <a:srgbClr val="E3E8F1"/>
                          </a:solidFill>
                          <a:latin typeface="Malgun Gothic" pitchFamily="34" charset="0"/>
                          <a:ea typeface="Malgun Gothic" pitchFamily="34" charset="-122"/>
                          <a:cs typeface="Malgun Gothic" pitchFamily="34" charset="-120"/>
                        </a:rPr>
                        <a:t> m</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−3</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1A2A4E"/>
                    </a:solidFill>
                  </a:tcPr>
                </a:tc>
              </a:tr>
              <a:tr h="0">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4</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0.66 × 1.602×10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−19</a:t>
                      </a:r>
                      <a:pPr algn="l" indent="0" marL="0">
                        <a:buNone/>
                      </a:pPr>
                      <a:r>
                        <a:rPr lang="en-US" sz="1500" dirty="0">
                          <a:solidFill>
                            <a:srgbClr val="E3E8F1"/>
                          </a:solidFill>
                          <a:latin typeface="Malgun Gothic" pitchFamily="34" charset="0"/>
                          <a:ea typeface="Malgun Gothic" pitchFamily="34" charset="-122"/>
                          <a:cs typeface="Malgun Gothic" pitchFamily="34" charset="-120"/>
                        </a:rPr>
                        <a:t> J,  0.66 / 0.0259</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c>
                  <a:txBody>
                    <a:bodyPr/>
                    <a:lstStyle/>
                    <a:p>
                      <a:pPr algn="l" indent="0" marL="0">
                        <a:buNone/>
                      </a:pPr>
                      <a:r>
                        <a:rPr lang="en-US" sz="1500" dirty="0">
                          <a:solidFill>
                            <a:srgbClr val="E3E8F1"/>
                          </a:solidFill>
                          <a:latin typeface="Malgun Gothic" pitchFamily="34" charset="0"/>
                          <a:ea typeface="Malgun Gothic" pitchFamily="34" charset="-122"/>
                          <a:cs typeface="Malgun Gothic" pitchFamily="34" charset="-120"/>
                        </a:rPr>
                        <a:t>1.06×10</a:t>
                      </a:r>
                      <a:pPr algn="l" indent="0" marL="0">
                        <a:buNone/>
                      </a:pPr>
                      <a:r>
                        <a:rPr lang="en-US" sz="1500" baseline="30000" dirty="0">
                          <a:solidFill>
                            <a:srgbClr val="E3E8F1"/>
                          </a:solidFill>
                          <a:latin typeface="Malgun Gothic" pitchFamily="34" charset="0"/>
                          <a:ea typeface="Malgun Gothic" pitchFamily="34" charset="-122"/>
                          <a:cs typeface="Malgun Gothic" pitchFamily="34" charset="-120"/>
                        </a:rPr>
                        <a:t>−19</a:t>
                      </a:r>
                      <a:pPr algn="l" indent="0" marL="0">
                        <a:buNone/>
                      </a:pPr>
                      <a:r>
                        <a:rPr lang="en-US" sz="1500" dirty="0">
                          <a:solidFill>
                            <a:srgbClr val="E3E8F1"/>
                          </a:solidFill>
                          <a:latin typeface="Malgun Gothic" pitchFamily="34" charset="0"/>
                          <a:ea typeface="Malgun Gothic" pitchFamily="34" charset="-122"/>
                          <a:cs typeface="Malgun Gothic" pitchFamily="34" charset="-120"/>
                        </a:rPr>
                        <a:t> J, 약 25.5배</a:t>
                      </a:r>
                      <a:endParaRPr lang="en-US" sz="1500" dirty="0">
                        <a:latin typeface="Malgun Gothic" charset="0"/>
                        <a:ea typeface="Malgun Gothic" charset="0"/>
                        <a:cs typeface="Malgun Gothic" charset="0"/>
                      </a:endParaRPr>
                    </a:p>
                  </a:txBody>
                  <a:tcPr marL="128016" marR="128016" marT="73152" marB="73152" anchor="ctr">
                    <a:lnL w="9525" cap="flat" cmpd="sng" algn="ctr">
                      <a:solidFill>
                        <a:srgbClr val="33456E"/>
                      </a:solidFill>
                      <a:prstDash val="solid"/>
                      <a:round/>
                      <a:headEnd type="none" w="med" len="med"/>
                      <a:tailEnd type="none" w="med" len="med"/>
                    </a:lnL>
                    <a:lnR w="9525" cap="flat" cmpd="sng" algn="ctr">
                      <a:solidFill>
                        <a:srgbClr val="33456E"/>
                      </a:solidFill>
                      <a:prstDash val="solid"/>
                      <a:round/>
                      <a:headEnd type="none" w="med" len="med"/>
                      <a:tailEnd type="none" w="med" len="med"/>
                    </a:lnR>
                    <a:lnT w="9525" cap="flat" cmpd="sng" algn="ctr">
                      <a:solidFill>
                        <a:srgbClr val="33456E"/>
                      </a:solidFill>
                      <a:prstDash val="solid"/>
                      <a:round/>
                      <a:headEnd type="none" w="med" len="med"/>
                      <a:tailEnd type="none" w="med" len="med"/>
                    </a:lnT>
                    <a:lnB w="9525" cap="flat" cmpd="sng" algn="ctr">
                      <a:solidFill>
                        <a:srgbClr val="33456E"/>
                      </a:solidFill>
                      <a:prstDash val="solid"/>
                      <a:round/>
                      <a:headEnd type="none" w="med" len="med"/>
                      <a:tailEnd type="none" w="med" len="med"/>
                    </a:lnB>
                    <a:solidFill>
                      <a:srgbClr val="22325A"/>
                    </a:solidFill>
                  </a:tcPr>
                </a:tc>
              </a:tr>
            </a:tbl>
          </a:graphicData>
        </a:graphic>
      </p:graphicFrame>
      <p:sp>
        <p:nvSpPr>
          <p:cNvPr id="6" name="Text 2"/>
          <p:cNvSpPr txBox="1"/>
          <p:nvPr/>
        </p:nvSpPr>
        <p:spPr>
          <a:xfrm>
            <a:off x="813816" y="4206240"/>
            <a:ext cx="10570464" cy="457200"/>
          </a:xfrm>
          <a:prstGeom prst="rect">
            <a:avLst/>
          </a:prstGeom>
          <a:noFill/>
          <a:ln/>
        </p:spPr>
        <p:txBody>
          <a:bodyPr wrap="square" lIns="0" tIns="0" rIns="0" bIns="0" rtlCol="0" anchor="t"/>
          <a:lstStyle/>
          <a:p>
            <a:pPr indent="0" marL="0">
              <a:lnSpc>
                <a:spcPct val="115000"/>
              </a:lnSpc>
              <a:buNone/>
            </a:pPr>
            <a:r>
              <a:rPr lang="en-US" sz="1500" dirty="0">
                <a:solidFill>
                  <a:srgbClr val="C9D3E3"/>
                </a:solidFill>
              </a:rPr>
              <a:t>문제 4: Ge는 Eg ≈ 25.5 kT로 Si(≈ 43 kT)보다 작다 → 실온에서 열로 들뜨는 전자가 훨씬 많다.</a:t>
            </a:r>
            <a:endParaRPr lang="en-US" sz="1500" dirty="0"/>
          </a:p>
        </p:txBody>
      </p:sp>
      <p:sp>
        <p:nvSpPr>
          <p:cNvPr id="25" name="Slide Number Placeholder 0"/>
          <p:cNvSpPr>
            <a:spLocks noGrp="1"/>
          </p:cNvSpPr>
          <p:nvPr>
            <p:ph type="sldNum" sz="quarter" idx="4294967295"/>
          </p:nvPr>
        </p:nvSpPr>
        <p:spPr>
          <a:xfrm>
            <a:off x="10469880" y="6272784"/>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9AA5B8"/>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Unit Conversion">
  <a:themeElements>
    <a:clrScheme name="Unit Conversion">
      <a:dk1>
        <a:srgbClr val="1B2A44"/>
      </a:dk1>
      <a:lt1>
        <a:srgbClr val="FDFDFF"/>
      </a:lt1>
      <a:dk2>
        <a:srgbClr val="14213D"/>
      </a:dk2>
      <a:lt2>
        <a:srgbClr val="F6F7FA"/>
      </a:lt2>
      <a:accent1>
        <a:srgbClr val="2563A8"/>
      </a:accent1>
      <a:accent2>
        <a:srgbClr val="C2410C"/>
      </a:accent2>
      <a:accent3>
        <a:srgbClr val="F2A65A"/>
      </a:accent3>
      <a:accent4>
        <a:srgbClr val="E8EEF7"/>
      </a:accent4>
      <a:accent5>
        <a:srgbClr val="4A5568"/>
      </a:accent5>
      <a:accent6>
        <a:srgbClr val="FCE9DA"/>
      </a:accent6>
      <a:hlink>
        <a:srgbClr val="2563A8"/>
      </a:hlink>
      <a:folHlink>
        <a:srgbClr val="6D28D9"/>
      </a:folHlink>
    </a:clrScheme>
    <a:fontScheme name="Unit Conversion">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단위 환산, 반도체를 읽는 언어</dc:title>
  <dc:subject>물리전자공학 보충 강의 — 단위 환산 (J, eV, kT, kT/q)</dc:subject>
  <dc:creator>PptxGenJS</dc:creator>
  <cp:lastModifiedBy>PptxGenJS</cp:lastModifiedBy>
  <cp:revision>1</cp:revision>
  <dcterms:created xsi:type="dcterms:W3CDTF">2026-10-18T09:44:45Z</dcterms:created>
  <dcterms:modified xsi:type="dcterms:W3CDTF">2026-10-18T09:44:45Z</dcterms:modified>
</cp:coreProperties>
</file>