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5"/>
    <p:sldId id="261" r:id="rId4"/>
    <p:sldId id="262" r:id="rId3"/>
    <p:sldId id="263" r:id="rId2"/>
    <p:sldId id="264" r:id="rId18"/>
    <p:sldId id="265" r:id="rId19"/>
    <p:sldId id="266" r:id="rId20"/>
    <p:sldId id="267" r:id="rId21"/>
    <p:sldId id="268" r:id="rId22"/>
    <p:sldId id="271" r:id="rId25"/>
    <p:sldId id="272" r:id="rId26"/>
    <p:sldId id="273" r:id="rId27"/>
    <p:sldId id="269" r:id="rId23"/>
    <p:sldId id="270" r:id="rId24"/>
    <p:sldId id="274" r:id="rId28"/>
    <p:sldId id="291" r:id="rId45"/>
    <p:sldId id="292" r:id="rId46"/>
    <p:sldId id="293" r:id="rId47"/>
    <p:sldId id="277" r:id="rId31"/>
    <p:sldId id="278" r:id="rId32"/>
    <p:sldId id="295" r:id="rId49"/>
    <p:sldId id="276" r:id="rId30"/>
    <p:sldId id="279" r:id="rId33"/>
    <p:sldId id="280" r:id="rId34"/>
    <p:sldId id="281" r:id="rId35"/>
    <p:sldId id="301" r:id="rId55"/>
    <p:sldId id="298" r:id="rId52"/>
    <p:sldId id="299" r:id="rId53"/>
    <p:sldId id="300" r:id="rId54"/>
    <p:sldId id="275" r:id="rId29"/>
    <p:sldId id="282" r:id="rId36"/>
    <p:sldId id="283" r:id="rId37"/>
    <p:sldId id="303" r:id="rId57"/>
    <p:sldId id="304" r:id="rId56"/>
    <p:sldId id="284" r:id="rId38"/>
    <p:sldId id="285" r:id="rId39"/>
    <p:sldId id="296" r:id="rId50"/>
    <p:sldId id="286" r:id="rId40"/>
    <p:sldId id="297" r:id="rId51"/>
    <p:sldId id="287" r:id="rId41"/>
    <p:sldId id="288" r:id="rId42"/>
    <p:sldId id="289" r:id="rId43"/>
    <p:sldId id="290" r:id="rId44"/>
  </p:sldIdLst>
  <p:sldSz cx="9144000" cy="6858000" type="screen4x3"/>
  <p:notesSz cx="6735763" cy="98663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メイリオ" panose="020B060403050404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メイリオ" panose="020B060403050404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メイリオ" panose="020B060403050404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メイリオ" panose="020B060403050404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Verdana" panose="020B0604030504040204" pitchFamily="34" charset="0"/>
        <a:ea typeface="メイリオ" panose="020B060403050404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メイリオ" panose="020B060403050404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メイリオ" panose="020B060403050404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メイリオ" panose="020B060403050404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Verdana" panose="020B0604030504040204" pitchFamily="34" charset="0"/>
        <a:ea typeface="メイリオ" panose="020B060403050404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B94"/>
    <a:srgbClr val="203864"/>
    <a:srgbClr val="987D1C"/>
    <a:srgbClr val="C00000"/>
    <a:srgbClr val="FFFFCC"/>
    <a:srgbClr val="E3C867"/>
    <a:srgbClr val="943900"/>
    <a:srgbClr val="644C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6BEF38-D529-407E-B3AD-B42BCED6C6A2}" v="40" dt="2026-03-02T07:36:02.5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1" autoAdjust="0"/>
    <p:restoredTop sz="94312" autoAdjust="0"/>
  </p:normalViewPr>
  <p:slideViewPr>
    <p:cSldViewPr>
      <p:cViewPr varScale="1">
        <p:scale>
          <a:sx n="151" d="100"/>
          <a:sy n="151" d="100"/>
        </p:scale>
        <p:origin x="1992" y="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2756" y="5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9.xml"/><Relationship Id="rId29" Type="http://schemas.openxmlformats.org/officeDocument/2006/relationships/slide" Target="slides/slide34.xml"/><Relationship Id="rId30" Type="http://schemas.openxmlformats.org/officeDocument/2006/relationships/slide" Target="slides/slide26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1.xml"/><Relationship Id="rId41" Type="http://schemas.openxmlformats.org/officeDocument/2006/relationships/slide" Target="slides/slide43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6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9" Type="http://schemas.openxmlformats.org/officeDocument/2006/relationships/slide" Target="slides/slide25.xml"/><Relationship Id="rId50" Type="http://schemas.openxmlformats.org/officeDocument/2006/relationships/slide" Target="slides/slide40.xml"/><Relationship Id="rId51" Type="http://schemas.openxmlformats.org/officeDocument/2006/relationships/slide" Target="slides/slide42.xml"/><Relationship Id="rId52" Type="http://schemas.openxmlformats.org/officeDocument/2006/relationships/slide" Target="slides/slide31.xml"/><Relationship Id="rId53" Type="http://schemas.openxmlformats.org/officeDocument/2006/relationships/slide" Target="slides/slide32.xml"/><Relationship Id="rId54" Type="http://schemas.openxmlformats.org/officeDocument/2006/relationships/slide" Target="slides/slide33.xml"/><Relationship Id="rId55" Type="http://schemas.openxmlformats.org/officeDocument/2006/relationships/slide" Target="slides/slide30.xml"/><Relationship Id="rId56" Type="http://schemas.openxmlformats.org/officeDocument/2006/relationships/slide" Target="slides/slide47.xml"/><Relationship Id="rId57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g_yeop Lee" userId="394f17e693450fa8" providerId="LiveId" clId="{23681903-A90C-4420-A205-EE8C1D406859}"/>
    <pc:docChg chg="undo custSel addSld modSld">
      <pc:chgData name="Sang_yeop Lee" userId="394f17e693450fa8" providerId="LiveId" clId="{23681903-A90C-4420-A205-EE8C1D406859}" dt="2026-03-02T07:36:04.686" v="352" actId="20577"/>
      <pc:docMkLst>
        <pc:docMk/>
      </pc:docMkLst>
      <pc:sldChg chg="modSp mod">
        <pc:chgData name="Sang_yeop Lee" userId="394f17e693450fa8" providerId="LiveId" clId="{23681903-A90C-4420-A205-EE8C1D406859}" dt="2026-03-02T07:36:04.686" v="352" actId="20577"/>
        <pc:sldMkLst>
          <pc:docMk/>
          <pc:sldMk cId="0" sldId="460"/>
        </pc:sldMkLst>
        <pc:spChg chg="mod">
          <ac:chgData name="Sang_yeop Lee" userId="394f17e693450fa8" providerId="LiveId" clId="{23681903-A90C-4420-A205-EE8C1D406859}" dt="2026-03-02T07:36:04.686" v="352" actId="20577"/>
          <ac:spMkLst>
            <pc:docMk/>
            <pc:sldMk cId="0" sldId="460"/>
            <ac:spMk id="6146" creationId="{2FD41A2B-9A73-4E9D-9F8B-2A97637523B2}"/>
          </ac:spMkLst>
        </pc:spChg>
      </pc:sldChg>
      <pc:sldChg chg="addSp delSp modSp mod">
        <pc:chgData name="Sang_yeop Lee" userId="394f17e693450fa8" providerId="LiveId" clId="{23681903-A90C-4420-A205-EE8C1D406859}" dt="2026-03-02T07:27:50.659" v="295" actId="1038"/>
        <pc:sldMkLst>
          <pc:docMk/>
          <pc:sldMk cId="3144068361" sldId="1805"/>
        </pc:sldMkLst>
        <pc:spChg chg="mod">
          <ac:chgData name="Sang_yeop Lee" userId="394f17e693450fa8" providerId="LiveId" clId="{23681903-A90C-4420-A205-EE8C1D406859}" dt="2026-03-02T07:27:45.282" v="282" actId="20577"/>
          <ac:spMkLst>
            <pc:docMk/>
            <pc:sldMk cId="3144068361" sldId="1805"/>
            <ac:spMk id="3" creationId="{52EBE5E0-30D7-3E62-5706-3991104B3525}"/>
          </ac:spMkLst>
        </pc:spChg>
        <pc:picChg chg="del">
          <ac:chgData name="Sang_yeop Lee" userId="394f17e693450fa8" providerId="LiveId" clId="{23681903-A90C-4420-A205-EE8C1D406859}" dt="2026-03-02T07:24:02.707" v="141" actId="478"/>
          <ac:picMkLst>
            <pc:docMk/>
            <pc:sldMk cId="3144068361" sldId="1805"/>
            <ac:picMk id="5" creationId="{42E16466-6D46-827E-0CC9-B50E2DC9A11B}"/>
          </ac:picMkLst>
        </pc:picChg>
        <pc:picChg chg="del">
          <ac:chgData name="Sang_yeop Lee" userId="394f17e693450fa8" providerId="LiveId" clId="{23681903-A90C-4420-A205-EE8C1D406859}" dt="2026-03-02T07:23:53.334" v="134" actId="478"/>
          <ac:picMkLst>
            <pc:docMk/>
            <pc:sldMk cId="3144068361" sldId="1805"/>
            <ac:picMk id="9" creationId="{714E5252-5D14-ED21-2693-F66D20F2B5C9}"/>
          </ac:picMkLst>
        </pc:picChg>
        <pc:picChg chg="add mod">
          <ac:chgData name="Sang_yeop Lee" userId="394f17e693450fa8" providerId="LiveId" clId="{23681903-A90C-4420-A205-EE8C1D406859}" dt="2026-03-02T07:27:50.659" v="295" actId="1038"/>
          <ac:picMkLst>
            <pc:docMk/>
            <pc:sldMk cId="3144068361" sldId="1805"/>
            <ac:picMk id="11" creationId="{25F543AB-D274-3CB3-40CB-75A61A5BF39C}"/>
          </ac:picMkLst>
        </pc:picChg>
        <pc:picChg chg="add del mod">
          <ac:chgData name="Sang_yeop Lee" userId="394f17e693450fa8" providerId="LiveId" clId="{23681903-A90C-4420-A205-EE8C1D406859}" dt="2026-03-02T07:24:20.344" v="145" actId="22"/>
          <ac:picMkLst>
            <pc:docMk/>
            <pc:sldMk cId="3144068361" sldId="1805"/>
            <ac:picMk id="13" creationId="{799D61D2-82E0-136D-87D6-3DCBF8F0959A}"/>
          </ac:picMkLst>
        </pc:picChg>
        <pc:picChg chg="add mod">
          <ac:chgData name="Sang_yeop Lee" userId="394f17e693450fa8" providerId="LiveId" clId="{23681903-A90C-4420-A205-EE8C1D406859}" dt="2026-03-02T07:27:50.659" v="295" actId="1038"/>
          <ac:picMkLst>
            <pc:docMk/>
            <pc:sldMk cId="3144068361" sldId="1805"/>
            <ac:picMk id="15" creationId="{6EE1F8C5-66F4-946A-A9C7-AE89604A1756}"/>
          </ac:picMkLst>
        </pc:picChg>
      </pc:sldChg>
      <pc:sldChg chg="modSp mod">
        <pc:chgData name="Sang_yeop Lee" userId="394f17e693450fa8" providerId="LiveId" clId="{23681903-A90C-4420-A205-EE8C1D406859}" dt="2026-03-02T07:30:32.237" v="341" actId="20577"/>
        <pc:sldMkLst>
          <pc:docMk/>
          <pc:sldMk cId="493901075" sldId="1806"/>
        </pc:sldMkLst>
        <pc:spChg chg="mod">
          <ac:chgData name="Sang_yeop Lee" userId="394f17e693450fa8" providerId="LiveId" clId="{23681903-A90C-4420-A205-EE8C1D406859}" dt="2026-03-02T07:30:32.237" v="341" actId="20577"/>
          <ac:spMkLst>
            <pc:docMk/>
            <pc:sldMk cId="493901075" sldId="1806"/>
            <ac:spMk id="3" creationId="{458966CF-632F-7D43-B792-DF41D238E673}"/>
          </ac:spMkLst>
        </pc:spChg>
        <pc:graphicFrameChg chg="modGraphic">
          <ac:chgData name="Sang_yeop Lee" userId="394f17e693450fa8" providerId="LiveId" clId="{23681903-A90C-4420-A205-EE8C1D406859}" dt="2026-03-02T07:27:01.851" v="240" actId="20577"/>
          <ac:graphicFrameMkLst>
            <pc:docMk/>
            <pc:sldMk cId="493901075" sldId="1806"/>
            <ac:graphicFrameMk id="4" creationId="{991267E6-0D8F-B28E-62B0-3BAA7D029C4F}"/>
          </ac:graphicFrameMkLst>
        </pc:graphicFrameChg>
      </pc:sldChg>
      <pc:sldChg chg="addSp delSp modSp mod">
        <pc:chgData name="Sang_yeop Lee" userId="394f17e693450fa8" providerId="LiveId" clId="{23681903-A90C-4420-A205-EE8C1D406859}" dt="2026-03-02T07:32:19.718" v="343" actId="22"/>
        <pc:sldMkLst>
          <pc:docMk/>
          <pc:sldMk cId="600804426" sldId="1807"/>
        </pc:sldMkLst>
        <pc:spChg chg="add del">
          <ac:chgData name="Sang_yeop Lee" userId="394f17e693450fa8" providerId="LiveId" clId="{23681903-A90C-4420-A205-EE8C1D406859}" dt="2026-03-02T07:32:19.718" v="343" actId="22"/>
          <ac:spMkLst>
            <pc:docMk/>
            <pc:sldMk cId="600804426" sldId="1807"/>
            <ac:spMk id="5" creationId="{8F1E75B1-9BC7-96C7-37D0-A2B043A20D53}"/>
          </ac:spMkLst>
        </pc:spChg>
        <pc:graphicFrameChg chg="mod">
          <ac:chgData name="Sang_yeop Lee" userId="394f17e693450fa8" providerId="LiveId" clId="{23681903-A90C-4420-A205-EE8C1D406859}" dt="2026-03-02T07:28:49.642" v="310" actId="1035"/>
          <ac:graphicFrameMkLst>
            <pc:docMk/>
            <pc:sldMk cId="600804426" sldId="1807"/>
            <ac:graphicFrameMk id="4" creationId="{17EF1142-3585-EE39-707F-C3E83FFF0BD9}"/>
          </ac:graphicFrameMkLst>
        </pc:graphicFrameChg>
      </pc:sldChg>
      <pc:sldChg chg="modSp mod">
        <pc:chgData name="Sang_yeop Lee" userId="394f17e693450fa8" providerId="LiveId" clId="{23681903-A90C-4420-A205-EE8C1D406859}" dt="2026-03-02T07:26:15.729" v="223" actId="20577"/>
        <pc:sldMkLst>
          <pc:docMk/>
          <pc:sldMk cId="202650841" sldId="1809"/>
        </pc:sldMkLst>
        <pc:spChg chg="mod">
          <ac:chgData name="Sang_yeop Lee" userId="394f17e693450fa8" providerId="LiveId" clId="{23681903-A90C-4420-A205-EE8C1D406859}" dt="2026-03-02T07:26:15.729" v="223" actId="20577"/>
          <ac:spMkLst>
            <pc:docMk/>
            <pc:sldMk cId="202650841" sldId="1809"/>
            <ac:spMk id="3" creationId="{7241F45C-C3B0-6ACC-A325-16131174FDD7}"/>
          </ac:spMkLst>
        </pc:spChg>
      </pc:sldChg>
      <pc:sldChg chg="addSp modSp add mod">
        <pc:chgData name="Sang_yeop Lee" userId="394f17e693450fa8" providerId="LiveId" clId="{23681903-A90C-4420-A205-EE8C1D406859}" dt="2026-03-02T07:32:55.801" v="350" actId="1076"/>
        <pc:sldMkLst>
          <pc:docMk/>
          <pc:sldMk cId="1158565504" sldId="1810"/>
        </pc:sldMkLst>
        <pc:spChg chg="add mod">
          <ac:chgData name="Sang_yeop Lee" userId="394f17e693450fa8" providerId="LiveId" clId="{23681903-A90C-4420-A205-EE8C1D406859}" dt="2026-03-02T07:32:36.042" v="346" actId="1076"/>
          <ac:spMkLst>
            <pc:docMk/>
            <pc:sldMk cId="1158565504" sldId="1810"/>
            <ac:spMk id="3" creationId="{62A46FFF-0991-46E9-EB8F-C18FA6A25DB8}"/>
          </ac:spMkLst>
        </pc:spChg>
        <pc:spChg chg="add mod">
          <ac:chgData name="Sang_yeop Lee" userId="394f17e693450fa8" providerId="LiveId" clId="{23681903-A90C-4420-A205-EE8C1D406859}" dt="2026-03-02T07:32:36.042" v="346" actId="1076"/>
          <ac:spMkLst>
            <pc:docMk/>
            <pc:sldMk cId="1158565504" sldId="1810"/>
            <ac:spMk id="5" creationId="{55BB2BDA-D322-2F66-C07E-EBFDAE90EB25}"/>
          </ac:spMkLst>
        </pc:spChg>
        <pc:spChg chg="add mod">
          <ac:chgData name="Sang_yeop Lee" userId="394f17e693450fa8" providerId="LiveId" clId="{23681903-A90C-4420-A205-EE8C1D406859}" dt="2026-03-02T07:32:43.668" v="348" actId="1076"/>
          <ac:spMkLst>
            <pc:docMk/>
            <pc:sldMk cId="1158565504" sldId="1810"/>
            <ac:spMk id="6" creationId="{C7EB9021-CE4B-6C90-4B00-F7BC521F94EF}"/>
          </ac:spMkLst>
        </pc:spChg>
        <pc:spChg chg="add mod">
          <ac:chgData name="Sang_yeop Lee" userId="394f17e693450fa8" providerId="LiveId" clId="{23681903-A90C-4420-A205-EE8C1D406859}" dt="2026-03-02T07:32:43.668" v="348" actId="1076"/>
          <ac:spMkLst>
            <pc:docMk/>
            <pc:sldMk cId="1158565504" sldId="1810"/>
            <ac:spMk id="7" creationId="{689B90B0-BB36-929F-039C-E168DB014457}"/>
          </ac:spMkLst>
        </pc:spChg>
        <pc:spChg chg="add mod">
          <ac:chgData name="Sang_yeop Lee" userId="394f17e693450fa8" providerId="LiveId" clId="{23681903-A90C-4420-A205-EE8C1D406859}" dt="2026-03-02T07:32:55.801" v="350" actId="1076"/>
          <ac:spMkLst>
            <pc:docMk/>
            <pc:sldMk cId="1158565504" sldId="1810"/>
            <ac:spMk id="8" creationId="{2436AFF9-B783-115D-DBDA-5CA13410D203}"/>
          </ac:spMkLst>
        </pc:spChg>
        <pc:spChg chg="add mod">
          <ac:chgData name="Sang_yeop Lee" userId="394f17e693450fa8" providerId="LiveId" clId="{23681903-A90C-4420-A205-EE8C1D406859}" dt="2026-03-02T07:32:55.801" v="350" actId="1076"/>
          <ac:spMkLst>
            <pc:docMk/>
            <pc:sldMk cId="1158565504" sldId="1810"/>
            <ac:spMk id="9" creationId="{19933CEB-3852-5A48-4945-31E1F360F2B7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943236F7-4664-455E-BC07-0CDCE21554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431DEB9-9004-426F-A335-67E0A3C184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6350" y="0"/>
            <a:ext cx="2917825" cy="495300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E9C24FB-D0E1-477A-919D-465B8B628DFD}" type="datetimeFigureOut">
              <a:rPr lang="ja-JP" altLang="en-US"/>
              <a:pPr>
                <a:defRPr/>
              </a:pPr>
              <a:t>2026/3/3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95136CF-7728-43A0-B27C-D0DDF271B7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9A165A7-74BC-48CC-80C3-CE94A50EC5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6350" y="9371013"/>
            <a:ext cx="2917825" cy="495300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4FCE010-7189-4AB6-860B-AC912DAA42E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9B411FF-44D7-4F30-B6C9-6D73587B0A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67D5FF-B4C2-4B88-A72C-6759EE7CE2E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+mn-lt"/>
                <a:ea typeface="+mn-ea"/>
              </a:defRPr>
            </a:lvl1pPr>
          </a:lstStyle>
          <a:p>
            <a:pPr>
              <a:defRPr/>
            </a:pPr>
            <a:fld id="{ED38E453-D9C6-41F5-97FE-17581C5E367F}" type="datetimeFigureOut">
              <a:rPr lang="ja-JP" altLang="en-US"/>
              <a:pPr>
                <a:defRPr/>
              </a:pPr>
              <a:t>2026/3/3</a:t>
            </a:fld>
            <a:endParaRPr lang="ja-JP" alt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8B7C5BA1-14B7-43BA-BF4B-15E205401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7763" y="1233488"/>
            <a:ext cx="44402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7" tIns="45714" rIns="91427" bIns="45714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77060ABE-4850-42E2-8D6F-8D9B7C8F0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27" tIns="45714" rIns="91427" bIns="45714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 dirty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 dirty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 dirty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 dirty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3B6BFF-7ECE-45F5-9909-D2E7233D13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264B258-E4FB-4D80-9067-3D4335CE3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+mn-lt"/>
                <a:ea typeface="+mn-ea"/>
              </a:defRPr>
            </a:lvl1pPr>
          </a:lstStyle>
          <a:p>
            <a:pPr>
              <a:defRPr/>
            </a:pPr>
            <a:fld id="{7D1A5431-0282-471B-8CD3-3E8084B05B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장은 평형을, 4 장은 평형을 벗어난 상태를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과잉 캐리어가 있으면 np ≠ n_i² 가 된다 — 3 장 3 강에서 세운 식이 깨지는 것이 아니라 그 식이 평형 전용이었던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번째의 전자 충돌은 바깥에서 쏜 전자빔이다(음극선발광과 같은 여기). 강한 내부 전계 속 충격 이온화는 [보충] 부록 A3. 세 번째가 다이오드·트랜지스터의 동작 원리다. 이 장에서는 첫 번째를 자세히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평형 상태 그대로면 아무 일도 일어나지 않는다. 교재 148쪽 : 사실상 모든 반도체 소자는 과잉 전자 · 정공의 재결합에 기댄다.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NaCl 이 투명한 것도 대역간극이 매우 커서 가시광선이 통과하기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대역간극을 재는 가장 표준적인 방법이다.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유도는 부록 A1 에 실었다. 화학에서 배우는 비어-람베르트 법칙과 같은 꼴이다.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태양전지의 두께를 정할 때 이 침투깊이가 기준이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장 2 강에서 본 E-k 그림의 결과가 흡수 스펙트럼의 모양으로 드러난다.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파란 LED 에 GaN 이 쓰이는 이유가 이 표에 그대로 들어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지수의 값이 2.3 이면 1/10 로 준다 — ln 10 = 2.303 이기 때문이다.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양자효율 1 은 '흡수된 광자 하나가 재결합으로 광자 하나를 낸다' 는 뜻이다. 실제 소자는 이보다 낮다. 단계별 계산은 부록 A2 에 실었다.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백열(incandescence) 은 뜨거워서 내는 빛이라 발광과 구별한다 — 발광은 '차가운' 과정이다.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야광 스티커가 불을 꺼도 한동안 빛나는 것이 인광이다.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LED 의 자세한 동작은 8 장에서 다시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형광등도 수은 자외선으로 형광체를 때리는 광발광이다 — 원리가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'만드는 법', 다음 시간은 '사라지는 법' 과 '퍼지는 법' 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'빛과 대역간극을 견준다' 는 한 문장이 4.1 절 전체다.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다음 시간에는 이 과잉 캐리어가 얼마나 오래 사는지를 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화학의 비어-람베르트(Beer-Lambert) 법칙과 같은 꼴이다.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빛으로 나오는 6.43 mW 를 1.43 eV 로 나눠도 같은 2.81×10^16 이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영어 약어는 원서와 데이터시트에서 그대로 쓰인다.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δ 는 평형값으로부터의 편차를 뜻한다.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장 1 강 부록 A4 와 2 장 1 강 부록 A5 의 상수표를 함께 쓰면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Q1 이 이 장에서 가장 자주 틀리는 곳이다.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A5 는 3 장 2 강의 직접·간접천이로 되돌아가면 바로 이어진다.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개념만으로는 손이 안 트인다. 수를 직접 넣어 보는 연습이다.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A3 과 A4 가 같은 이야기를 앞뒤로 물은 것임을 확인시킨다.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형광펜이 검은빛(자외선) 아래에서 밝게 보이는 것이 광발광이다.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시료에 빛을 (a) 비추지 않으면 평형, (b) 일정하게 계속 비추면 정상상태, (c) 켜거나 끈 직후는 과도 상태다. 평형도 바깥 자극이 없는 정상상태의 한 경우다(평형 ⊂ 정상상태, 3 장 3 강 · 5 장 2 강과 같은 표현). 이 표의 정상상태는 빛을 계속 쬐어 넣는 만큼 빠져나가는 비평형 정상상태라 np 가 n_i² 보다 크고 페르미준위가 둘로 갈라진다(4.3.3). 물통 그림은 3 장 3 강 [보충] p9 와 같다. 교재 154쪽 각주 5 는 평형을 '외부 여기도 실질적 전하 이동도 없는 상태', 정상상태를 '모든 과정이 일정하고 반대 과정과 균형을 이룬 불평형상태' 로 정의한다. '평형 ⊂ 정상상태' 는 3 장 · 5 장과 맞춘 넓은 뜻의 [보충] 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빛을 켜면 dδn/dt = g_op − δn/τ 를 따라 δn 이 g_op τ (1 − e^{−t/τ}) 로 올라간다. 3τ 뒤면 95 % 라 거의 정상상태다. 정상상태에서는 생성 g_op 와 재결합 δn/τ 가 같아 δn = g_op τ = 10^20 × 10^-6 = 10^14 cm^-3 이다. 빛을 끄면 g_op = 0 이라 δn = Δn e^{−t/τ} 로 줄고, 1 µs(= τ) 뒤 37 % 인 약 3.7 × 10^13 cm^-3 이 남는다. 몇 τ 뒤면 평형으로 돌아온다.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4 의 세 상태는 2 강 4.3 에서 식으로 다시 나온다 — 재결합 수명(4.3.1), 정상상태(4.3.3), 준페르미준위(4.3.3).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Q6 은 '시간에 안 변함' 과 '평형' 을 가르는 문제다. 1 강 PART 4 의 비교표를 다시 볼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A7 : 정상상태에서 끄면 Δn = 10^14 에서 시작해 exp(−t/τ) 로 준다. t = 2τ 이면 e^-2 = 0.135.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1.24 는 hc/q 를 µm · eV 단위로 바꾼 값이다. 6.626×10^-34 × 2.998×10^8 = 1.986×10^-25 J·m 를 1.602×10^-19 J/eV × 10^-6 m/µm 로 나누면 1.240 eV·µm 가 된다. 표의 파장은 모두 1.24/E_g 로 계산했다. 영역은 교재 그림 4-4 의 경계(약 1.7 eV · 0.73 µm)보다 짧으면 가시, 그보다 길고 1.4 µm 까지는 근적외로 나눴다.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형광은 여기된 전자가 곧바로 재결합해 빛을 끄면 약 10^-8 s 안에 꺼진다. 인광은 트랩에 붙잡힌 전자가 열로 조금씩 풀려나 재결합하므로 밝기가 지수적으로 천천히 줄어든다. 트랩이 깊을수록 풀려나기 어려워 더 오래 빛난다.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오늘날 전계발광이라 하면 대개 p-n 접합에 순방향 전류를 흘려 소수캐리어를 주입하는 LED · 레이저다. 그 밖에 접합 없이, ZnS 같은 형광체 가루를 절연체에 섞어 두고 교류 전계를 걸어 빛을 내는 교번전계 발광(데스트리오 효과)이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교재의 전자 충돌은 바깥에서 쏜 고에너지 전자빔이 결합을 끊는 것이다(음극선발광과 같은 여기). 같은 일이 시료 안에서도 일어난다. 전계가 약 10^5 V/cm 를 넘으면 가속된 전자가 격자와 부딪혀 공유결합을 끊고(충격 이온화), 새 전자 · 정공이 다시 가속되어 같은 일을 되풀이해 캐리어가 급증한다(전자사태). 5 장 4 강 애벌랜치 항복에서 다시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열 이완(thermalization)은 들뜬 캐리어가 포논을 내며 띠 가장자리까지 식는 과정이다. 열화(劣化)와 헷갈리지 않게 '열 이완' 으로 적었다.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86973"/>
            <a:ext cx="7772400" cy="1470025"/>
          </a:xfrm>
        </p:spPr>
        <p:txBody>
          <a:bodyPr>
            <a:noAutofit/>
          </a:bodyPr>
          <a:lstStyle>
            <a:lvl1pPr algn="ctr">
              <a:defRPr sz="5400" baseline="0">
                <a:solidFill>
                  <a:schemeClr val="accent5">
                    <a:lumMod val="50000"/>
                  </a:schemeClr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340696"/>
            <a:ext cx="6400800" cy="1464568"/>
          </a:xfrm>
        </p:spPr>
        <p:txBody>
          <a:bodyPr>
            <a:normAutofit/>
          </a:bodyPr>
          <a:lstStyle>
            <a:lvl1pPr marL="0" indent="0" algn="ctr">
              <a:buNone/>
              <a:defRPr sz="3200" baseline="0">
                <a:solidFill>
                  <a:srgbClr val="203864"/>
                </a:solidFill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933711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1520" y="126753"/>
            <a:ext cx="8892479" cy="709963"/>
          </a:xfrm>
        </p:spPr>
        <p:txBody>
          <a:bodyPr/>
          <a:lstStyle>
            <a:lvl1pPr>
              <a:defRPr sz="4000" b="1"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467916" y="1124744"/>
            <a:ext cx="8218884" cy="5256212"/>
          </a:xfrm>
        </p:spPr>
        <p:txBody>
          <a:bodyPr/>
          <a:lstStyle>
            <a:lvl1pPr>
              <a:buClr>
                <a:srgbClr val="005B94"/>
              </a:buClr>
              <a:defRPr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1pPr>
            <a:lvl2pPr marL="766800">
              <a:buClr>
                <a:srgbClr val="005B94"/>
              </a:buClr>
              <a:defRPr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2pPr>
            <a:lvl3pPr marL="1278000">
              <a:buClr>
                <a:srgbClr val="005B94"/>
              </a:buClr>
              <a:defRPr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3pPr>
            <a:lvl4pPr>
              <a:defRPr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4pPr>
            <a:lvl5pPr>
              <a:defRPr>
                <a:latin typeface="Malgun Gothic Semilight" panose="020B0502040204020203" pitchFamily="50" charset="-127"/>
                <a:ea typeface="Malgun Gothic Semilight" panose="020B0502040204020203" pitchFamily="50" charset="-127"/>
                <a:cs typeface="Malgun Gothic Semilight" panose="020B0502040204020203" pitchFamily="50" charset="-127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EB2A9E2-FDDE-B474-FFB0-C537D63B5A2F}"/>
              </a:ext>
            </a:extLst>
          </p:cNvPr>
          <p:cNvCxnSpPr>
            <a:cxnSpLocks/>
          </p:cNvCxnSpPr>
          <p:nvPr userDrawn="1"/>
        </p:nvCxnSpPr>
        <p:spPr>
          <a:xfrm>
            <a:off x="251520" y="980728"/>
            <a:ext cx="8784976" cy="0"/>
          </a:xfrm>
          <a:prstGeom prst="line">
            <a:avLst/>
          </a:prstGeom>
          <a:ln w="57150">
            <a:solidFill>
              <a:srgbClr val="20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0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340768"/>
            <a:ext cx="4038600" cy="496855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340768"/>
            <a:ext cx="4038600" cy="496855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16382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576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1A8AECB-21A0-420C-B2A7-F93440F308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684294" y="6351591"/>
            <a:ext cx="14097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9pPr>
          </a:lstStyle>
          <a:p>
            <a:pPr algn="r" eaLnBrk="1" hangingPunct="1">
              <a:defRPr/>
            </a:pPr>
            <a:fld id="{C7F6A713-E7E1-49DF-8057-6BEF4A8AAE4B}" type="slidenum">
              <a:rPr lang="ja-JP" altLang="en-US" sz="1800" smtClean="0">
                <a:solidFill>
                  <a:srgbClr val="000000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pPr algn="r" eaLnBrk="1" hangingPunct="1">
                <a:defRPr/>
              </a:pPr>
              <a:t>‹#›</a:t>
            </a:fld>
            <a:endParaRPr lang="ja-JP" altLang="en-US" sz="1800">
              <a:solidFill>
                <a:srgbClr val="000000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959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EE880FD-2128-43B9-83E4-10F583244DE0}"/>
              </a:ext>
            </a:extLst>
          </p:cNvPr>
          <p:cNvSpPr/>
          <p:nvPr userDrawn="1"/>
        </p:nvSpPr>
        <p:spPr>
          <a:xfrm>
            <a:off x="7365207" y="5"/>
            <a:ext cx="1778794" cy="1350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prstClr val="white"/>
              </a:solidFill>
              <a:latin typeface="Calibri" panose="020F0502020204030204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11404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 1">
            <a:extLst>
              <a:ext uri="{FF2B5EF4-FFF2-40B4-BE49-F238E27FC236}">
                <a16:creationId xmlns:a16="http://schemas.microsoft.com/office/drawing/2014/main" id="{759E051D-B08D-4FA4-BB6B-053A2F8A93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223" y="115889"/>
            <a:ext cx="8065294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7" name="テキスト プレースホルダ 2">
            <a:extLst>
              <a:ext uri="{FF2B5EF4-FFF2-40B4-BE49-F238E27FC236}">
                <a16:creationId xmlns:a16="http://schemas.microsoft.com/office/drawing/2014/main" id="{5BA7339D-367C-4B3F-BEB9-7250DFF5F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7916" y="1268413"/>
            <a:ext cx="8218884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028" name="テキスト ボックス 7">
            <a:extLst>
              <a:ext uri="{FF2B5EF4-FFF2-40B4-BE49-F238E27FC236}">
                <a16:creationId xmlns:a16="http://schemas.microsoft.com/office/drawing/2014/main" id="{7744A59C-659B-4599-BAA0-5CFBAAD2F3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44408" y="6351591"/>
            <a:ext cx="8495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defRPr>
            </a:lvl9pPr>
          </a:lstStyle>
          <a:p>
            <a:pPr algn="r" eaLnBrk="1" hangingPunct="1">
              <a:defRPr/>
            </a:pPr>
            <a:fld id="{6D4AAB7A-58BC-4B23-BBDA-7EEF2F53C539}" type="slidenum">
              <a:rPr lang="ja-JP" altLang="en-US" sz="1800" smtClean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algun Gothic Semilight" panose="020B0502040204020203" pitchFamily="50" charset="-127"/>
              </a:rPr>
              <a:pPr algn="r" eaLnBrk="1" hangingPunct="1">
                <a:defRPr/>
              </a:pPr>
              <a:t>‹#›</a:t>
            </a:fld>
            <a:endParaRPr lang="ja-JP" altLang="en-US" sz="180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Malgun Gothic Semilight" panose="020B0502040204020203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 kern="1200">
          <a:solidFill>
            <a:srgbClr val="203864"/>
          </a:solidFill>
          <a:latin typeface="돋움" panose="020B0600000101010101" pitchFamily="50" charset="-127"/>
          <a:ea typeface="돋움" panose="020B0600000101010101" pitchFamily="50" charset="-127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203864"/>
          </a:solidFill>
          <a:latin typeface="Arial" panose="020B0604020202020204" pitchFamily="34" charset="0"/>
          <a:ea typeface="メイリオ" panose="020B0604030504040204" pitchFamily="50" charset="-128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203864"/>
          </a:solidFill>
          <a:latin typeface="Arial" panose="020B0604020202020204" pitchFamily="34" charset="0"/>
          <a:ea typeface="メイリオ" panose="020B0604030504040204" pitchFamily="50" charset="-128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203864"/>
          </a:solidFill>
          <a:latin typeface="Arial" panose="020B0604020202020204" pitchFamily="34" charset="0"/>
          <a:ea typeface="メイリオ" panose="020B0604030504040204" pitchFamily="50" charset="-128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00" b="1">
          <a:solidFill>
            <a:srgbClr val="203864"/>
          </a:solidFill>
          <a:latin typeface="Arial" panose="020B0604020202020204" pitchFamily="34" charset="0"/>
          <a:ea typeface="メイリオ" panose="020B0604030504040204" pitchFamily="50" charset="-128"/>
          <a:cs typeface="Arial" panose="020B0604020202020204" pitchFamily="34" charset="0"/>
        </a:defRPr>
      </a:lvl5pPr>
      <a:lvl6pPr marL="342892" algn="l" rtl="0" fontAlgn="base">
        <a:spcBef>
          <a:spcPct val="0"/>
        </a:spcBef>
        <a:spcAft>
          <a:spcPct val="0"/>
        </a:spcAft>
        <a:defRPr kumimoji="1" sz="2700" b="1">
          <a:solidFill>
            <a:srgbClr val="203864"/>
          </a:solidFill>
          <a:latin typeface="Arial" panose="020B0604020202020204" pitchFamily="34" charset="0"/>
          <a:ea typeface="メイリオ" panose="020B0604030504040204" pitchFamily="50" charset="-128"/>
          <a:cs typeface="Arial" panose="020B0604020202020204" pitchFamily="34" charset="0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700" b="1">
          <a:solidFill>
            <a:srgbClr val="203864"/>
          </a:solidFill>
          <a:latin typeface="Arial" panose="020B0604020202020204" pitchFamily="34" charset="0"/>
          <a:ea typeface="メイリオ" panose="020B0604030504040204" pitchFamily="50" charset="-128"/>
          <a:cs typeface="Arial" panose="020B0604020202020204" pitchFamily="34" charset="0"/>
        </a:defRPr>
      </a:lvl7pPr>
      <a:lvl8pPr marL="1028675" algn="l" rtl="0" fontAlgn="base">
        <a:spcBef>
          <a:spcPct val="0"/>
        </a:spcBef>
        <a:spcAft>
          <a:spcPct val="0"/>
        </a:spcAft>
        <a:defRPr kumimoji="1" sz="2700" b="1">
          <a:solidFill>
            <a:srgbClr val="203864"/>
          </a:solidFill>
          <a:latin typeface="Arial" panose="020B0604020202020204" pitchFamily="34" charset="0"/>
          <a:ea typeface="メイリオ" panose="020B0604030504040204" pitchFamily="50" charset="-128"/>
          <a:cs typeface="Arial" panose="020B0604020202020204" pitchFamily="34" charset="0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700" b="1">
          <a:solidFill>
            <a:srgbClr val="203864"/>
          </a:solidFill>
          <a:latin typeface="Arial" panose="020B0604020202020204" pitchFamily="34" charset="0"/>
          <a:ea typeface="メイリオ" panose="020B0604030504040204" pitchFamily="50" charset="-128"/>
          <a:cs typeface="Arial" panose="020B0604020202020204" pitchFamily="34" charset="0"/>
        </a:defRPr>
      </a:lvl9pPr>
    </p:titleStyle>
    <p:bodyStyle>
      <a:lvl1pPr marL="257168" indent="-269075" algn="l" rtl="0" eaLnBrk="0" fontAlgn="base" hangingPunct="0">
        <a:spcBef>
          <a:spcPts val="900"/>
        </a:spcBef>
        <a:spcAft>
          <a:spcPct val="0"/>
        </a:spcAft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  <a:cs typeface="Arial" panose="020B0604020202020204" pitchFamily="34" charset="0"/>
        </a:defRPr>
      </a:lvl1pPr>
      <a:lvl2pPr marL="557199" indent="-269075" algn="l" rtl="0" eaLnBrk="0" fontAlgn="base" hangingPunct="0">
        <a:spcBef>
          <a:spcPts val="150"/>
        </a:spcBef>
        <a:spcAft>
          <a:spcPct val="0"/>
        </a:spcAft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  <a:cs typeface="Arial" panose="020B0604020202020204" pitchFamily="34" charset="0"/>
        </a:defRPr>
      </a:lvl2pPr>
      <a:lvl3pPr marL="740551" indent="-271457" algn="l" rtl="0" eaLnBrk="0" fontAlgn="base" hangingPunct="0">
        <a:spcBef>
          <a:spcPts val="150"/>
        </a:spcBef>
        <a:spcAft>
          <a:spcPct val="0"/>
        </a:spcAft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  <a:cs typeface="Arial" panose="020B0604020202020204" pitchFamily="34" charset="0"/>
        </a:defRPr>
      </a:lvl3pPr>
      <a:lvl4pPr marL="1012006" indent="-339320" algn="l" rtl="0" eaLnBrk="0" fontAlgn="base" hangingPunct="0">
        <a:spcBef>
          <a:spcPts val="150"/>
        </a:spcBef>
        <a:spcAft>
          <a:spcPct val="0"/>
        </a:spcAft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  <a:cs typeface="Arial" panose="020B0604020202020204" pitchFamily="34" charset="0"/>
        </a:defRPr>
      </a:lvl4pPr>
      <a:lvl5pPr marL="1276318" indent="-332177" algn="l" rtl="0" eaLnBrk="0" fontAlgn="base" hangingPunct="0">
        <a:spcBef>
          <a:spcPts val="150"/>
        </a:spcBef>
        <a:spcAft>
          <a:spcPct val="0"/>
        </a:spcAft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  <a:cs typeface="Arial" panose="020B0604020202020204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6.png"/><Relationship Id="rId5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3.png"/><Relationship Id="rId5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4.png"/><Relationship Id="rId5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0"/>
            <a:ext cx="9144000" cy="2423160"/>
          </a:xfrm>
          <a:prstGeom prst="roundRect">
            <a:avLst>
              <a:gd name="adj" fmla="val 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lang="ko-KR" altLang="en-US">
                <a:solidFill>
                  <a:srgbClr val="B8CCE8"/>
                </a:solidFill>
                <a:latin typeface="맑은 고딕"/>
                <a:ea typeface="맑은 고딕"/>
                <a:cs typeface="맑은 고딕"/>
              </a:rPr>
              <a:t>물리전자공학 · 4장 반도체의 과잉 캐리어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제1강  빛과 과잉 캐리어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3347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Optical Absorption and Luminescence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45536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4.1 흡수 · 4.2 발광 · 4.3 미리 보기 · 교재 141~148쪽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3785615"/>
            <a:ext cx="7772400" cy="0"/>
          </a:xfrm>
          <a:prstGeom prst="line">
            <a:avLst/>
          </a:prstGeom>
          <a:ln w="25400">
            <a:solidFill>
              <a:srgbClr val="B4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40664" y="4032504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041648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과잉 캐리어란 무엇이고 어떻게 만드나 (PART 1)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" y="4471416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4480560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빛이 흡수되는 조건 · 흡수계수 · 대역간극 (PART 2)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" y="4910328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919472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발광 — 광발광 · 음극선발광 · 전계발광 (PART 3)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" y="5349240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5358384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예제 4-1 — 흡수된 전력과 광자 수 (PART 3)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" y="5788152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5797296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평형 · 정상상태 · 과도 — 4.3 미리 보기 (PART 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오늘의 강의 내용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제1강 · 전체 흐름 · 교재 141~148쪽 + 4.3 미리 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25297"/>
            <a:ext cx="8229600" cy="95097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1453897"/>
            <a:ext cx="493776" cy="493776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371601"/>
            <a:ext cx="71323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과잉 캐리어 (PART 1)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평형보다 많이 만들어 낸 전자와 정공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58569"/>
            <a:ext cx="8229600" cy="950976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487169"/>
            <a:ext cx="493776" cy="493776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404873"/>
            <a:ext cx="71323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4.1 광학적 흡수 · 흡수계수 α (PART 2)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hν ≥ E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이면 흡수 · 세기는 깊이에 따라 지수적으로 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41"/>
            <a:ext cx="8229600" cy="95097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3520441"/>
            <a:ext cx="493776" cy="493776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438145"/>
            <a:ext cx="71323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4.2 발광 (PART 3)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광발광 · 음극선발광 · 전계발광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25112"/>
            <a:ext cx="8229600" cy="950976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4553712"/>
            <a:ext cx="493776" cy="493776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471416"/>
            <a:ext cx="71323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예제 4-1 (PART 3)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GaAs 시료에서 흡수·발열·광자 수를 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58384"/>
            <a:ext cx="8229600" cy="95097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7512" y="5586985"/>
            <a:ext cx="493776" cy="493776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5504688"/>
            <a:ext cx="713232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4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평형 · 정상상태 · 과도 (PART 4)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4.3 미리 보기 — 과잉 캐리어가 시간에 따라 어떻게 되나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2148840"/>
            <a:ext cx="9144000" cy="1920240"/>
          </a:xfrm>
          <a:prstGeom prst="roundRect">
            <a:avLst>
              <a:gd name="adj" fmla="val 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9FB8DC"/>
                </a:solidFill>
                <a:latin typeface="맑은 고딕"/>
                <a:ea typeface="맑은 고딕"/>
                <a:cs typeface="맑은 고딕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52928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과잉 캐리어란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평형을 벗어난 캐리어 · 교재 141쪽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평형보다 많아진 캐리어를 과잉 캐리어라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4장 머리말 · 141쪽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94021"/>
            <a:ext cx="8229600" cy="1615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 장까지는 열적 평형만 다루었음 — n</a:t>
            </a:r>
            <a:r>
              <a:rPr sz="22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p</a:t>
            </a:r>
            <a:r>
              <a:rPr sz="22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= n</a:t>
            </a:r>
            <a:r>
              <a:rPr sz="22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sz="22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2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빛이나 전류로 평형보다 많은 캐리어를 만들 수 있음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이 여분을 과잉 캐리어(excess carrier) 라 하고 δn, δp 로 적음</a:t>
            </a:r>
          </a:p>
        </p:txBody>
      </p:sp>
      <p:pic>
        <p:nvPicPr>
          <p:cNvPr id="7" name="Picture 4" descr="r1_p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23" y="1280160"/>
            <a:ext cx="7347753" cy="33224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과잉 캐리어를 만드는 세 가지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141 · 145쪽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98083"/>
            <a:ext cx="8229600" cy="1291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광학적 여기 — 빛을 쬐어 결합을 끊음 (오늘의 주제)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전자 충돌 — 전자빔이 결합을 끊음 · 부록 A3 도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접합 주입 — 순방향 p-n 접합으로 밀어 넣음 (5 장)</a:t>
            </a:r>
          </a:p>
        </p:txBody>
      </p:sp>
      <p:pic>
        <p:nvPicPr>
          <p:cNvPr id="7" name="Picture 4" descr="f1_p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26536"/>
            <a:ext cx="822960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왜 과잉 캐리어를 배우는가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거의 모든 소자가 과잉 캐리어의 재결합에 기댐 · 교재 148쪽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43584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362456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빛을 전기로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태양전지 · 광다이오드 — 빛이 만든 과잉 캐리어를 모은다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14016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532888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B25000"/>
                </a:solidFill>
                <a:latin typeface="맑은 고딕"/>
                <a:ea typeface="맑은 고딕"/>
                <a:cs typeface="맑은 고딕"/>
              </a:rPr>
              <a:t>전기를 빛으로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LED · 레이저 — 주입한 과잉 캐리어가 재결합하며 빛을 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84448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03320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전기를 전기로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다이오드 · 트랜지스터 — 주입한 과잉 캐리어가 전류를 나른다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873752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빛을 저항으로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광전도체 — 자동 가로등 · 노출계 · 도난경보 (교재 156쪽)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2148840"/>
            <a:ext cx="9144000" cy="1920240"/>
          </a:xfrm>
          <a:prstGeom prst="roundRect">
            <a:avLst>
              <a:gd name="adj" fmla="val 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9FB8DC"/>
                </a:solidFill>
                <a:latin typeface="맑은 고딕"/>
                <a:ea typeface="맑은 고딕"/>
                <a:cs typeface="맑은 고딕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52928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4.1 광학적 흡수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빛이 흡수되는 조건 · 교재 142~144쪽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hν ≥ E</a:t>
            </a:r>
            <a:r>
              <a:rPr sz="3000" b="1" i="0" baseline="-2500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g</a:t>
            </a:r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 이면 광자가 흡수된다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그림 4-1 · 142쪽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90288"/>
            <a:ext cx="8229600" cy="1291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hν ≥ E</a:t>
            </a:r>
            <a:r>
              <a:rPr sz="20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인 광자는 흡수되어 EHP 를 만듦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(b) 산란 — 열 이완 : 남는 hν − E</a:t>
            </a:r>
            <a:r>
              <a:rPr sz="20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는 포논(열)으로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Si 는 1.1 µm 보다 긴 빛에 투명 — 적외선 렌즈 [보충]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입사광 일부는 표면에서 반사 — 반사 방지막 [보충]</a:t>
            </a:r>
          </a:p>
        </p:txBody>
      </p:sp>
      <p:pic>
        <p:nvPicPr>
          <p:cNvPr id="7" name="Picture 4" descr="f1_p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496190"/>
            <a:ext cx="82296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대역간극을 재는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그림 4-2 · 143쪽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80742"/>
            <a:ext cx="8229600" cy="1291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파장을 하나씩 바꿔 가며 시료를 통과한 빛의 세기를 잼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hν 를 낮추다 보면 어느 지점에서 갑자기 통과가 늘어남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 문턱이 곧 그 물질의 대역간극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통과가 줄어드는 정도(흡수계수 α)는 다음 쪽</a:t>
            </a:r>
          </a:p>
        </p:txBody>
      </p:sp>
      <p:pic>
        <p:nvPicPr>
          <p:cNvPr id="7" name="Picture 4" descr="f1_p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47730"/>
            <a:ext cx="82296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흡수는 지수적으로 일어난다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비어-람베르트 법칙 · 식 (4-1) ~ (4-3) · 143쪽 · 유도는 부록 A1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25296"/>
            <a:ext cx="8229600" cy="877824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5875">
            <a:solidFill>
              <a:srgbClr val="B4C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pic>
        <p:nvPicPr>
          <p:cNvPr id="6" name="EQ001" descr="56bd3f431e4443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189" y="1325880"/>
            <a:ext cx="1743620" cy="676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231136"/>
            <a:ext cx="8229600" cy="21677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어느 깊이에서든 흡수될 확률이 같으므로 감소가 세기에 비례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풀면 I(x) = I</a:t>
            </a:r>
            <a:r>
              <a:rPr sz="22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exp(−αx) · 식 (4-2)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두께 </a:t>
            </a:r>
            <a:r>
              <a:rPr sz="2200" b="0" i="1" lang="ko-KR" altLang="en-US">
                <a:solidFill>
                  <a:srgbClr val="1A1A1A"/>
                </a:solidFill>
                <a:latin typeface="Cambria"/>
                <a:ea typeface="맑은 고딕"/>
                <a:cs typeface="맑은 고딕"/>
              </a:rPr>
              <a:t>l</a:t>
            </a: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을 지나면 I</a:t>
            </a:r>
            <a:r>
              <a:rPr sz="22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</a:t>
            </a: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= I</a:t>
            </a:r>
            <a:r>
              <a:rPr sz="22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exp(−αl) · 식 (4-3)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거꾸로 — I</a:t>
            </a:r>
            <a:r>
              <a:rPr sz="20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· I</a:t>
            </a:r>
            <a:r>
              <a:rPr sz="20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</a:t>
            </a: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· 두께 </a:t>
            </a:r>
            <a:r>
              <a:rPr sz="2000" b="0" i="1" lang="ko-KR" altLang="en-US">
                <a:solidFill>
                  <a:srgbClr val="1A1A1A"/>
                </a:solidFill>
                <a:latin typeface="Cambria"/>
                <a:ea typeface="맑은 고딕"/>
                <a:cs typeface="맑은 고딕"/>
              </a:rPr>
              <a:t>l</a:t>
            </a: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을 재면 α = −(1/</a:t>
            </a:r>
            <a:r>
              <a:rPr sz="2000" b="0" i="1" lang="ko-KR" altLang="en-US">
                <a:solidFill>
                  <a:srgbClr val="1A1A1A"/>
                </a:solidFill>
                <a:latin typeface="Cambria"/>
                <a:ea typeface="맑은 고딕"/>
                <a:cs typeface="맑은 고딕"/>
              </a:rPr>
              <a:t>l</a:t>
            </a: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) ln(I</a:t>
            </a:r>
            <a:r>
              <a:rPr sz="20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</a:t>
            </a: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/I</a:t>
            </a:r>
            <a:r>
              <a:rPr sz="20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)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화학의 비어-람베르트(Beer-Lambert) 법칙과 같은 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26914"/>
            <a:ext cx="8229600" cy="1159471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3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흡수계수 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단위는 1/cm — 1/α 가 빛이 스며드는 깊이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깊이에 따라 지수적으로 줄어든다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 (4-2) 를 그림으로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62493"/>
            <a:ext cx="8229600" cy="1291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α 가 크면 표면 가까이에서 다 흡수됨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α 가 작으면 깊은 곳까지 빛이 들어감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1/α 를 침투깊이(penetration depth) 라 함</a:t>
            </a:r>
          </a:p>
        </p:txBody>
      </p:sp>
      <p:pic>
        <p:nvPicPr>
          <p:cNvPr id="7" name="Picture 4" descr="n1_p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347813"/>
            <a:ext cx="8631936" cy="34898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흡수가 시작되는 곳이 대역간극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그림 4-3 · 144쪽 참고 · 직접/간접 비교는 새로 작도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17880"/>
            <a:ext cx="8229600" cy="1615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α 가 크면 얇아도 다 흡수 — 예제 4-1 GaAs 0.46 µm 에 90 %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Si 태양전지가 수백 µm 로 두꺼운 까닭 [보충]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천천히 커지는 간접형(3 장 2 강)은 빛도 잘 못 냄</a:t>
            </a:r>
          </a:p>
        </p:txBody>
      </p:sp>
      <p:sp>
        <p:nvSpPr>
          <p:cNvPr id="21" name="line"/>
          <p:cNvSpPr/>
          <p:nvPr/>
        </p:nvSpPr>
        <p:spPr>
          <a:xfrm>
            <a:off x="1150000" y="3241052"/>
            <a:ext cx="2970000" cy="0"/>
          </a:xfrm>
          <a:prstGeom prst="line">
            <a:avLst/>
          </a:prstGeom>
          <a:ln w="9525" cap="rnd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2" name="lbl"/>
          <p:cNvSpPr txBox="1"/>
          <p:nvPr/>
        </p:nvSpPr>
        <p:spPr>
          <a:xfrm>
            <a:off x="590000" y="3151052"/>
            <a:ext cx="520000" cy="1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buNone/>
            </a:pPr>
            <a:r>
              <a:rPr sz="12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2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²</a:t>
            </a:r>
          </a:p>
        </p:txBody>
      </p:sp>
      <p:sp>
        <p:nvSpPr>
          <p:cNvPr id="23" name="line"/>
          <p:cNvSpPr/>
          <p:nvPr/>
        </p:nvSpPr>
        <p:spPr>
          <a:xfrm>
            <a:off x="1150000" y="2851578"/>
            <a:ext cx="2970000" cy="0"/>
          </a:xfrm>
          <a:prstGeom prst="line">
            <a:avLst/>
          </a:prstGeom>
          <a:ln w="9525" cap="rnd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4" name="lbl"/>
          <p:cNvSpPr txBox="1"/>
          <p:nvPr/>
        </p:nvSpPr>
        <p:spPr>
          <a:xfrm>
            <a:off x="590000" y="2761578"/>
            <a:ext cx="520000" cy="1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buNone/>
            </a:pPr>
            <a:r>
              <a:rPr sz="12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2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³</a:t>
            </a:r>
          </a:p>
        </p:txBody>
      </p:sp>
      <p:sp>
        <p:nvSpPr>
          <p:cNvPr id="25" name="line"/>
          <p:cNvSpPr/>
          <p:nvPr/>
        </p:nvSpPr>
        <p:spPr>
          <a:xfrm>
            <a:off x="1150000" y="2462105"/>
            <a:ext cx="2970000" cy="0"/>
          </a:xfrm>
          <a:prstGeom prst="line">
            <a:avLst/>
          </a:prstGeom>
          <a:ln w="9525" cap="rnd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6" name="lbl"/>
          <p:cNvSpPr txBox="1"/>
          <p:nvPr/>
        </p:nvSpPr>
        <p:spPr>
          <a:xfrm>
            <a:off x="590000" y="2372105"/>
            <a:ext cx="520000" cy="1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buNone/>
            </a:pPr>
            <a:r>
              <a:rPr sz="12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2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⁴</a:t>
            </a:r>
          </a:p>
        </p:txBody>
      </p:sp>
      <p:sp>
        <p:nvSpPr>
          <p:cNvPr id="27" name="line"/>
          <p:cNvSpPr/>
          <p:nvPr/>
        </p:nvSpPr>
        <p:spPr>
          <a:xfrm>
            <a:off x="1150000" y="2072631"/>
            <a:ext cx="2970000" cy="0"/>
          </a:xfrm>
          <a:prstGeom prst="line">
            <a:avLst/>
          </a:prstGeom>
          <a:ln w="9525" cap="rnd">
            <a:solidFill>
              <a:srgbClr val="D6DCE5"/>
            </a:solidFill>
          </a:ln>
        </p:spPr>
        <p:txBody>
          <a:bodyPr/>
          <a:lstStyle/>
          <a:p/>
        </p:txBody>
      </p:sp>
      <p:sp>
        <p:nvSpPr>
          <p:cNvPr id="28" name="lbl"/>
          <p:cNvSpPr txBox="1"/>
          <p:nvPr/>
        </p:nvSpPr>
        <p:spPr>
          <a:xfrm>
            <a:off x="590000" y="1982631"/>
            <a:ext cx="520000" cy="18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buNone/>
            </a:pPr>
            <a:r>
              <a:rPr sz="12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12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⁵</a:t>
            </a:r>
          </a:p>
        </p:txBody>
      </p:sp>
      <p:sp>
        <p:nvSpPr>
          <p:cNvPr id="29" name="line"/>
          <p:cNvSpPr/>
          <p:nvPr/>
        </p:nvSpPr>
        <p:spPr>
          <a:xfrm flipV="1">
            <a:off x="1150000" y="1740000"/>
            <a:ext cx="0" cy="2280000"/>
          </a:xfrm>
          <a:prstGeom prst="line">
            <a:avLst/>
          </a:prstGeom>
          <a:ln w="25400" cap="rnd">
            <a:solidFill>
              <a:srgbClr val="1A1A1A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30" name="line"/>
          <p:cNvSpPr/>
          <p:nvPr/>
        </p:nvSpPr>
        <p:spPr>
          <a:xfrm>
            <a:off x="1150000" y="4020000"/>
            <a:ext cx="3090000" cy="0"/>
          </a:xfrm>
          <a:prstGeom prst="line">
            <a:avLst/>
          </a:prstGeom>
          <a:ln w="25400" cap="rnd">
            <a:solidFill>
              <a:srgbClr val="1A1A1A"/>
            </a:solidFill>
            <a:tailEnd type="triangle" w="med" len="med"/>
          </a:ln>
        </p:spPr>
        <p:txBody>
          <a:bodyPr/>
          <a:lstStyle/>
          <a:p/>
        </p:txBody>
      </p:sp>
      <p:sp>
        <p:nvSpPr>
          <p:cNvPr id="31" name="curve"/>
          <p:cNvSpPr/>
          <p:nvPr/>
        </p:nvSpPr>
        <p:spPr>
          <a:xfrm>
            <a:off x="1306315" y="2399638"/>
            <a:ext cx="2798052" cy="1620361"/>
          </a:xfrm>
          <a:custGeom>
            <a:avLst/>
            <a:gdLst/>
            <a:ahLst/>
            <a:cxnLst/>
            <a:rect l="0" t="0" r="r" b="b"/>
            <a:pathLst>
              <a:path w="2798052" h="1620361">
                <a:moveTo>
                  <a:pt x="0" y="1620361"/>
                </a:moveTo>
                <a:lnTo>
                  <a:pt x="7815" y="1620361"/>
                </a:lnTo>
                <a:lnTo>
                  <a:pt x="15631" y="1620361"/>
                </a:lnTo>
                <a:lnTo>
                  <a:pt x="23447" y="1620361"/>
                </a:lnTo>
                <a:lnTo>
                  <a:pt x="31263" y="1620361"/>
                </a:lnTo>
                <a:lnTo>
                  <a:pt x="39078" y="1620361"/>
                </a:lnTo>
                <a:lnTo>
                  <a:pt x="46894" y="1620361"/>
                </a:lnTo>
                <a:lnTo>
                  <a:pt x="54710" y="1620361"/>
                </a:lnTo>
                <a:lnTo>
                  <a:pt x="62526" y="1575188"/>
                </a:lnTo>
                <a:lnTo>
                  <a:pt x="70342" y="1535343"/>
                </a:lnTo>
                <a:lnTo>
                  <a:pt x="78157" y="1499700"/>
                </a:lnTo>
                <a:lnTo>
                  <a:pt x="85973" y="1467458"/>
                </a:lnTo>
                <a:lnTo>
                  <a:pt x="93789" y="1438022"/>
                </a:lnTo>
                <a:lnTo>
                  <a:pt x="101605" y="1410944"/>
                </a:lnTo>
                <a:lnTo>
                  <a:pt x="109421" y="1385874"/>
                </a:lnTo>
                <a:lnTo>
                  <a:pt x="109421" y="1385874"/>
                </a:lnTo>
                <a:lnTo>
                  <a:pt x="140684" y="1318549"/>
                </a:lnTo>
                <a:lnTo>
                  <a:pt x="171947" y="1202573"/>
                </a:lnTo>
                <a:lnTo>
                  <a:pt x="203210" y="1100626"/>
                </a:lnTo>
                <a:lnTo>
                  <a:pt x="234473" y="1017597"/>
                </a:lnTo>
                <a:lnTo>
                  <a:pt x="265736" y="949156"/>
                </a:lnTo>
                <a:lnTo>
                  <a:pt x="297000" y="891432"/>
                </a:lnTo>
                <a:lnTo>
                  <a:pt x="328263" y="841714"/>
                </a:lnTo>
                <a:lnTo>
                  <a:pt x="359526" y="798138"/>
                </a:lnTo>
                <a:lnTo>
                  <a:pt x="390789" y="759396"/>
                </a:lnTo>
                <a:lnTo>
                  <a:pt x="422052" y="724546"/>
                </a:lnTo>
                <a:lnTo>
                  <a:pt x="453315" y="692893"/>
                </a:lnTo>
                <a:lnTo>
                  <a:pt x="484578" y="663908"/>
                </a:lnTo>
                <a:lnTo>
                  <a:pt x="515842" y="637181"/>
                </a:lnTo>
                <a:lnTo>
                  <a:pt x="547105" y="612389"/>
                </a:lnTo>
                <a:lnTo>
                  <a:pt x="578368" y="589275"/>
                </a:lnTo>
                <a:lnTo>
                  <a:pt x="609631" y="567627"/>
                </a:lnTo>
                <a:lnTo>
                  <a:pt x="640894" y="547271"/>
                </a:lnTo>
                <a:lnTo>
                  <a:pt x="672157" y="528063"/>
                </a:lnTo>
                <a:lnTo>
                  <a:pt x="703421" y="509881"/>
                </a:lnTo>
                <a:lnTo>
                  <a:pt x="734684" y="492622"/>
                </a:lnTo>
                <a:lnTo>
                  <a:pt x="765947" y="476197"/>
                </a:lnTo>
                <a:lnTo>
                  <a:pt x="797210" y="460529"/>
                </a:lnTo>
                <a:lnTo>
                  <a:pt x="828473" y="445552"/>
                </a:lnTo>
                <a:lnTo>
                  <a:pt x="859736" y="431207"/>
                </a:lnTo>
                <a:lnTo>
                  <a:pt x="891000" y="417444"/>
                </a:lnTo>
                <a:lnTo>
                  <a:pt x="922263" y="404218"/>
                </a:lnTo>
                <a:lnTo>
                  <a:pt x="953526" y="391488"/>
                </a:lnTo>
                <a:lnTo>
                  <a:pt x="984789" y="379218"/>
                </a:lnTo>
                <a:lnTo>
                  <a:pt x="1016052" y="367377"/>
                </a:lnTo>
                <a:lnTo>
                  <a:pt x="1047315" y="355935"/>
                </a:lnTo>
                <a:lnTo>
                  <a:pt x="1078578" y="344867"/>
                </a:lnTo>
                <a:lnTo>
                  <a:pt x="1109842" y="334149"/>
                </a:lnTo>
                <a:lnTo>
                  <a:pt x="1141105" y="323759"/>
                </a:lnTo>
                <a:lnTo>
                  <a:pt x="1172368" y="313678"/>
                </a:lnTo>
                <a:lnTo>
                  <a:pt x="1203631" y="303889"/>
                </a:lnTo>
                <a:lnTo>
                  <a:pt x="1234894" y="294374"/>
                </a:lnTo>
                <a:lnTo>
                  <a:pt x="1266157" y="285120"/>
                </a:lnTo>
                <a:lnTo>
                  <a:pt x="1297421" y="276111"/>
                </a:lnTo>
                <a:lnTo>
                  <a:pt x="1328684" y="267336"/>
                </a:lnTo>
                <a:lnTo>
                  <a:pt x="1359947" y="258782"/>
                </a:lnTo>
                <a:lnTo>
                  <a:pt x="1391210" y="250439"/>
                </a:lnTo>
                <a:lnTo>
                  <a:pt x="1422473" y="242297"/>
                </a:lnTo>
                <a:lnTo>
                  <a:pt x="1453736" y="234346"/>
                </a:lnTo>
                <a:lnTo>
                  <a:pt x="1485000" y="226577"/>
                </a:lnTo>
                <a:lnTo>
                  <a:pt x="1516263" y="218982"/>
                </a:lnTo>
                <a:lnTo>
                  <a:pt x="1547526" y="211554"/>
                </a:lnTo>
                <a:lnTo>
                  <a:pt x="1578789" y="204286"/>
                </a:lnTo>
                <a:lnTo>
                  <a:pt x="1610052" y="197170"/>
                </a:lnTo>
                <a:lnTo>
                  <a:pt x="1641315" y="190201"/>
                </a:lnTo>
                <a:lnTo>
                  <a:pt x="1672578" y="183372"/>
                </a:lnTo>
                <a:lnTo>
                  <a:pt x="1703842" y="176678"/>
                </a:lnTo>
                <a:lnTo>
                  <a:pt x="1735105" y="170115"/>
                </a:lnTo>
                <a:lnTo>
                  <a:pt x="1766368" y="163675"/>
                </a:lnTo>
                <a:lnTo>
                  <a:pt x="1797631" y="157357"/>
                </a:lnTo>
                <a:lnTo>
                  <a:pt x="1828894" y="151153"/>
                </a:lnTo>
                <a:lnTo>
                  <a:pt x="1860157" y="145062"/>
                </a:lnTo>
                <a:lnTo>
                  <a:pt x="1891421" y="139078"/>
                </a:lnTo>
                <a:lnTo>
                  <a:pt x="1922684" y="133198"/>
                </a:lnTo>
                <a:lnTo>
                  <a:pt x="1953947" y="127419"/>
                </a:lnTo>
                <a:lnTo>
                  <a:pt x="1985210" y="121736"/>
                </a:lnTo>
                <a:lnTo>
                  <a:pt x="2016473" y="116148"/>
                </a:lnTo>
                <a:lnTo>
                  <a:pt x="2047736" y="110650"/>
                </a:lnTo>
                <a:lnTo>
                  <a:pt x="2079000" y="105240"/>
                </a:lnTo>
                <a:lnTo>
                  <a:pt x="2110263" y="99915"/>
                </a:lnTo>
                <a:lnTo>
                  <a:pt x="2141526" y="94673"/>
                </a:lnTo>
                <a:lnTo>
                  <a:pt x="2172789" y="89510"/>
                </a:lnTo>
                <a:lnTo>
                  <a:pt x="2204052" y="84426"/>
                </a:lnTo>
                <a:lnTo>
                  <a:pt x="2235315" y="79416"/>
                </a:lnTo>
                <a:lnTo>
                  <a:pt x="2266578" y="74479"/>
                </a:lnTo>
                <a:lnTo>
                  <a:pt x="2297842" y="69614"/>
                </a:lnTo>
                <a:lnTo>
                  <a:pt x="2329105" y="64817"/>
                </a:lnTo>
                <a:lnTo>
                  <a:pt x="2360368" y="60088"/>
                </a:lnTo>
                <a:lnTo>
                  <a:pt x="2391631" y="55423"/>
                </a:lnTo>
                <a:lnTo>
                  <a:pt x="2422894" y="50822"/>
                </a:lnTo>
                <a:lnTo>
                  <a:pt x="2454157" y="46283"/>
                </a:lnTo>
                <a:lnTo>
                  <a:pt x="2485421" y="41804"/>
                </a:lnTo>
                <a:lnTo>
                  <a:pt x="2516684" y="37383"/>
                </a:lnTo>
                <a:lnTo>
                  <a:pt x="2547947" y="33020"/>
                </a:lnTo>
                <a:lnTo>
                  <a:pt x="2579210" y="28712"/>
                </a:lnTo>
                <a:lnTo>
                  <a:pt x="2610473" y="24458"/>
                </a:lnTo>
                <a:lnTo>
                  <a:pt x="2641736" y="20257"/>
                </a:lnTo>
                <a:lnTo>
                  <a:pt x="2673000" y="16107"/>
                </a:lnTo>
                <a:lnTo>
                  <a:pt x="2704263" y="12008"/>
                </a:lnTo>
                <a:lnTo>
                  <a:pt x="2735526" y="7957"/>
                </a:lnTo>
                <a:lnTo>
                  <a:pt x="2766789" y="3955"/>
                </a:lnTo>
                <a:lnTo>
                  <a:pt x="2798052" y="0"/>
                </a:lnTo>
              </a:path>
            </a:pathLst>
          </a:custGeom>
          <a:noFill/>
          <a:ln w="38100" cap="rnd">
            <a:solidFill>
              <a:srgbClr val="1F3864"/>
            </a:solidFill>
            <a:round/>
          </a:ln>
        </p:spPr>
        <p:txBody>
          <a:bodyPr/>
          <a:lstStyle/>
          <a:p/>
        </p:txBody>
      </p:sp>
      <p:sp>
        <p:nvSpPr>
          <p:cNvPr id="32" name="curve"/>
          <p:cNvSpPr/>
          <p:nvPr/>
        </p:nvSpPr>
        <p:spPr>
          <a:xfrm>
            <a:off x="1884684" y="2071056"/>
            <a:ext cx="2211868" cy="1948943"/>
          </a:xfrm>
          <a:custGeom>
            <a:avLst/>
            <a:gdLst/>
            <a:ahLst/>
            <a:cxnLst/>
            <a:rect l="0" t="0" r="r" b="b"/>
            <a:pathLst>
              <a:path w="2211868" h="1948943">
                <a:moveTo>
                  <a:pt x="0" y="1948943"/>
                </a:moveTo>
                <a:lnTo>
                  <a:pt x="7815" y="477453"/>
                </a:lnTo>
                <a:lnTo>
                  <a:pt x="15631" y="418831"/>
                </a:lnTo>
                <a:lnTo>
                  <a:pt x="23447" y="384540"/>
                </a:lnTo>
                <a:lnTo>
                  <a:pt x="31263" y="360209"/>
                </a:lnTo>
                <a:lnTo>
                  <a:pt x="39078" y="341337"/>
                </a:lnTo>
                <a:lnTo>
                  <a:pt x="46894" y="325918"/>
                </a:lnTo>
                <a:lnTo>
                  <a:pt x="54710" y="312881"/>
                </a:lnTo>
                <a:lnTo>
                  <a:pt x="62526" y="301588"/>
                </a:lnTo>
                <a:lnTo>
                  <a:pt x="70342" y="291626"/>
                </a:lnTo>
                <a:lnTo>
                  <a:pt x="78157" y="282716"/>
                </a:lnTo>
                <a:lnTo>
                  <a:pt x="85973" y="274655"/>
                </a:lnTo>
                <a:lnTo>
                  <a:pt x="117236" y="248424"/>
                </a:lnTo>
                <a:lnTo>
                  <a:pt x="148499" y="228432"/>
                </a:lnTo>
                <a:lnTo>
                  <a:pt x="179763" y="212274"/>
                </a:lnTo>
                <a:lnTo>
                  <a:pt x="211026" y="198713"/>
                </a:lnTo>
                <a:lnTo>
                  <a:pt x="242289" y="187030"/>
                </a:lnTo>
                <a:lnTo>
                  <a:pt x="273552" y="176766"/>
                </a:lnTo>
                <a:lnTo>
                  <a:pt x="304815" y="167614"/>
                </a:lnTo>
                <a:lnTo>
                  <a:pt x="336078" y="159356"/>
                </a:lnTo>
                <a:lnTo>
                  <a:pt x="367342" y="151834"/>
                </a:lnTo>
                <a:lnTo>
                  <a:pt x="398605" y="144926"/>
                </a:lnTo>
                <a:lnTo>
                  <a:pt x="429868" y="138540"/>
                </a:lnTo>
                <a:lnTo>
                  <a:pt x="461131" y="132603"/>
                </a:lnTo>
                <a:lnTo>
                  <a:pt x="492394" y="127055"/>
                </a:lnTo>
                <a:lnTo>
                  <a:pt x="523657" y="121849"/>
                </a:lnTo>
                <a:lnTo>
                  <a:pt x="554921" y="116944"/>
                </a:lnTo>
                <a:lnTo>
                  <a:pt x="586184" y="112309"/>
                </a:lnTo>
                <a:lnTo>
                  <a:pt x="617447" y="107915"/>
                </a:lnTo>
                <a:lnTo>
                  <a:pt x="648710" y="103737"/>
                </a:lnTo>
                <a:lnTo>
                  <a:pt x="679973" y="99757"/>
                </a:lnTo>
                <a:lnTo>
                  <a:pt x="711236" y="95955"/>
                </a:lnTo>
                <a:lnTo>
                  <a:pt x="742499" y="92317"/>
                </a:lnTo>
                <a:lnTo>
                  <a:pt x="773763" y="88829"/>
                </a:lnTo>
                <a:lnTo>
                  <a:pt x="805026" y="85479"/>
                </a:lnTo>
                <a:lnTo>
                  <a:pt x="836289" y="82257"/>
                </a:lnTo>
                <a:lnTo>
                  <a:pt x="867552" y="79153"/>
                </a:lnTo>
                <a:lnTo>
                  <a:pt x="898815" y="76159"/>
                </a:lnTo>
                <a:lnTo>
                  <a:pt x="930078" y="73267"/>
                </a:lnTo>
                <a:lnTo>
                  <a:pt x="961342" y="70471"/>
                </a:lnTo>
                <a:lnTo>
                  <a:pt x="992605" y="67765"/>
                </a:lnTo>
                <a:lnTo>
                  <a:pt x="1023868" y="65142"/>
                </a:lnTo>
                <a:lnTo>
                  <a:pt x="1055131" y="62598"/>
                </a:lnTo>
                <a:lnTo>
                  <a:pt x="1086394" y="60129"/>
                </a:lnTo>
                <a:lnTo>
                  <a:pt x="1117657" y="57729"/>
                </a:lnTo>
                <a:lnTo>
                  <a:pt x="1148921" y="55396"/>
                </a:lnTo>
                <a:lnTo>
                  <a:pt x="1180184" y="53126"/>
                </a:lnTo>
                <a:lnTo>
                  <a:pt x="1211447" y="50914"/>
                </a:lnTo>
                <a:lnTo>
                  <a:pt x="1242710" y="48760"/>
                </a:lnTo>
                <a:lnTo>
                  <a:pt x="1273973" y="46658"/>
                </a:lnTo>
                <a:lnTo>
                  <a:pt x="1305236" y="44608"/>
                </a:lnTo>
                <a:lnTo>
                  <a:pt x="1336499" y="42606"/>
                </a:lnTo>
                <a:lnTo>
                  <a:pt x="1367763" y="40651"/>
                </a:lnTo>
                <a:lnTo>
                  <a:pt x="1399026" y="38739"/>
                </a:lnTo>
                <a:lnTo>
                  <a:pt x="1430289" y="36870"/>
                </a:lnTo>
                <a:lnTo>
                  <a:pt x="1461552" y="35041"/>
                </a:lnTo>
                <a:lnTo>
                  <a:pt x="1492815" y="33251"/>
                </a:lnTo>
                <a:lnTo>
                  <a:pt x="1524078" y="31499"/>
                </a:lnTo>
                <a:lnTo>
                  <a:pt x="1555342" y="29781"/>
                </a:lnTo>
                <a:lnTo>
                  <a:pt x="1586605" y="28098"/>
                </a:lnTo>
                <a:lnTo>
                  <a:pt x="1617868" y="26448"/>
                </a:lnTo>
                <a:lnTo>
                  <a:pt x="1649131" y="24829"/>
                </a:lnTo>
                <a:lnTo>
                  <a:pt x="1680394" y="23241"/>
                </a:lnTo>
                <a:lnTo>
                  <a:pt x="1711657" y="21682"/>
                </a:lnTo>
                <a:lnTo>
                  <a:pt x="1742921" y="20151"/>
                </a:lnTo>
                <a:lnTo>
                  <a:pt x="1774184" y="18648"/>
                </a:lnTo>
                <a:lnTo>
                  <a:pt x="1805447" y="17170"/>
                </a:lnTo>
                <a:lnTo>
                  <a:pt x="1836710" y="15718"/>
                </a:lnTo>
                <a:lnTo>
                  <a:pt x="1867973" y="14291"/>
                </a:lnTo>
                <a:lnTo>
                  <a:pt x="1899236" y="12887"/>
                </a:lnTo>
                <a:lnTo>
                  <a:pt x="1930499" y="11506"/>
                </a:lnTo>
                <a:lnTo>
                  <a:pt x="1961763" y="10148"/>
                </a:lnTo>
                <a:lnTo>
                  <a:pt x="1993026" y="8811"/>
                </a:lnTo>
                <a:lnTo>
                  <a:pt x="2024289" y="7494"/>
                </a:lnTo>
                <a:lnTo>
                  <a:pt x="2055552" y="6198"/>
                </a:lnTo>
                <a:lnTo>
                  <a:pt x="2086815" y="4922"/>
                </a:lnTo>
                <a:lnTo>
                  <a:pt x="2118078" y="3664"/>
                </a:lnTo>
                <a:lnTo>
                  <a:pt x="2149342" y="2425"/>
                </a:lnTo>
                <a:lnTo>
                  <a:pt x="2180605" y="1203"/>
                </a:lnTo>
                <a:lnTo>
                  <a:pt x="2211868" y="0"/>
                </a:lnTo>
              </a:path>
            </a:pathLst>
          </a:custGeom>
          <a:noFill/>
          <a:ln w="38100" cap="rnd">
            <a:solidFill>
              <a:srgbClr val="C00000"/>
            </a:solidFill>
            <a:round/>
          </a:ln>
        </p:spPr>
        <p:txBody>
          <a:bodyPr/>
          <a:lstStyle/>
          <a:p/>
        </p:txBody>
      </p:sp>
      <p:sp>
        <p:nvSpPr>
          <p:cNvPr id="33" name="line"/>
          <p:cNvSpPr/>
          <p:nvPr/>
        </p:nvSpPr>
        <p:spPr>
          <a:xfrm flipV="1">
            <a:off x="1415736" y="3785513"/>
            <a:ext cx="0" cy="234486"/>
          </a:xfrm>
          <a:prstGeom prst="line">
            <a:avLst/>
          </a:prstGeom>
          <a:ln w="9525" cap="rnd">
            <a:solidFill>
              <a:srgbClr val="1F3864"/>
            </a:solidFill>
            <a:prstDash val="sysDot"/>
          </a:ln>
        </p:spPr>
        <p:txBody>
          <a:bodyPr/>
          <a:lstStyle/>
          <a:p/>
        </p:txBody>
      </p:sp>
      <p:sp>
        <p:nvSpPr>
          <p:cNvPr id="34" name="line"/>
          <p:cNvSpPr/>
          <p:nvPr/>
        </p:nvSpPr>
        <p:spPr>
          <a:xfrm flipV="1">
            <a:off x="1884684" y="3327456"/>
            <a:ext cx="0" cy="692543"/>
          </a:xfrm>
          <a:prstGeom prst="line">
            <a:avLst/>
          </a:prstGeom>
          <a:ln w="9525" cap="rnd">
            <a:solidFill>
              <a:srgbClr val="C00000"/>
            </a:solidFill>
            <a:prstDash val="sysDot"/>
          </a:ln>
        </p:spPr>
        <p:txBody>
          <a:bodyPr/>
          <a:lstStyle/>
          <a:p/>
        </p:txBody>
      </p:sp>
      <p:sp>
        <p:nvSpPr>
          <p:cNvPr id="35" name="lbl"/>
          <p:cNvSpPr txBox="1"/>
          <p:nvPr/>
        </p:nvSpPr>
        <p:spPr>
          <a:xfrm>
            <a:off x="955736" y="4060000"/>
            <a:ext cx="440000" cy="23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buNone/>
            </a:pPr>
            <a:r>
              <a:rPr sz="1200" b="1" i="0" lang="ko-KR" altLang="en-US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</a:t>
            </a:r>
            <a:r>
              <a:rPr sz="900" b="1" i="0" lang="ko-KR" altLang="en-US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1100" b="1" i="0" lang="ko-KR" altLang="en-US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(Si)</a:t>
            </a:r>
          </a:p>
        </p:txBody>
      </p:sp>
      <p:sp>
        <p:nvSpPr>
          <p:cNvPr id="36" name="lbl"/>
          <p:cNvSpPr txBox="1"/>
          <p:nvPr/>
        </p:nvSpPr>
        <p:spPr>
          <a:xfrm>
            <a:off x="1924684" y="4060000"/>
            <a:ext cx="700000" cy="23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buNone/>
            </a:pPr>
            <a:r>
              <a:rPr sz="12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E</a:t>
            </a:r>
            <a:r>
              <a:rPr sz="9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1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(GaAs)</a:t>
            </a:r>
          </a:p>
        </p:txBody>
      </p:sp>
      <p:sp>
        <p:nvSpPr>
          <p:cNvPr id="37" name="lbl"/>
          <p:cNvSpPr txBox="1"/>
          <p:nvPr/>
        </p:nvSpPr>
        <p:spPr>
          <a:xfrm>
            <a:off x="530000" y="1450000"/>
            <a:ext cx="3600000" cy="26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buNone/>
            </a:pPr>
            <a:r>
              <a:rPr sz="13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흡수계수 α (cm⁻¹, 로그 눈금)</a:t>
            </a:r>
          </a:p>
        </p:txBody>
      </p:sp>
      <p:sp>
        <p:nvSpPr>
          <p:cNvPr id="38" name="lbl"/>
          <p:cNvSpPr txBox="1"/>
          <p:nvPr/>
        </p:nvSpPr>
        <p:spPr>
          <a:xfrm>
            <a:off x="2420000" y="4320000"/>
            <a:ext cx="1800000" cy="24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buNone/>
            </a:pPr>
            <a:r>
              <a:rPr sz="13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광자 에너지 (eV)</a:t>
            </a:r>
          </a:p>
        </p:txBody>
      </p:sp>
      <p:sp>
        <p:nvSpPr>
          <p:cNvPr id="39" name="lbl"/>
          <p:cNvSpPr txBox="1"/>
          <p:nvPr/>
        </p:nvSpPr>
        <p:spPr>
          <a:xfrm>
            <a:off x="1634578" y="3643391"/>
            <a:ext cx="1250000" cy="2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buNone/>
            </a:pPr>
            <a:r>
              <a:rPr sz="1000" b="0" i="0" lang="ko-KR" altLang="en-US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포논 흡수 꼬리</a:t>
            </a:r>
          </a:p>
        </p:txBody>
      </p:sp>
      <p:sp>
        <p:nvSpPr>
          <p:cNvPr id="40" name="line"/>
          <p:cNvSpPr/>
          <p:nvPr/>
        </p:nvSpPr>
        <p:spPr>
          <a:xfrm flipH="1">
            <a:off x="1368842" y="3703391"/>
            <a:ext cx="250105" cy="183243"/>
          </a:xfrm>
          <a:prstGeom prst="line">
            <a:avLst/>
          </a:prstGeom>
          <a:ln w="9525" cap="rnd">
            <a:solidFill>
              <a:srgbClr val="1F3864"/>
            </a:solidFill>
          </a:ln>
        </p:spPr>
        <p:txBody>
          <a:bodyPr/>
          <a:lstStyle/>
          <a:p/>
        </p:txBody>
      </p:sp>
      <p:sp>
        <p:nvSpPr>
          <p:cNvPr id="41" name="line"/>
          <p:cNvSpPr/>
          <p:nvPr/>
        </p:nvSpPr>
        <p:spPr>
          <a:xfrm>
            <a:off x="1962842" y="1975263"/>
            <a:ext cx="330000" cy="0"/>
          </a:xfrm>
          <a:prstGeom prst="line">
            <a:avLst/>
          </a:prstGeom>
          <a:ln w="38100" cap="rnd">
            <a:solidFill>
              <a:srgbClr val="C00000"/>
            </a:solidFill>
          </a:ln>
        </p:spPr>
        <p:txBody>
          <a:bodyPr/>
          <a:lstStyle/>
          <a:p/>
        </p:txBody>
      </p:sp>
      <p:sp>
        <p:nvSpPr>
          <p:cNvPr id="42" name="lbl"/>
          <p:cNvSpPr txBox="1"/>
          <p:nvPr/>
        </p:nvSpPr>
        <p:spPr>
          <a:xfrm>
            <a:off x="2362842" y="1865263"/>
            <a:ext cx="1700000" cy="2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buNone/>
            </a:pPr>
            <a:r>
              <a:rPr sz="13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직접형 (GaAs)</a:t>
            </a:r>
          </a:p>
        </p:txBody>
      </p:sp>
      <p:sp>
        <p:nvSpPr>
          <p:cNvPr id="43" name="line"/>
          <p:cNvSpPr/>
          <p:nvPr/>
        </p:nvSpPr>
        <p:spPr>
          <a:xfrm>
            <a:off x="1962842" y="2275263"/>
            <a:ext cx="330000" cy="0"/>
          </a:xfrm>
          <a:prstGeom prst="line">
            <a:avLst/>
          </a:prstGeom>
          <a:ln w="38100" cap="rnd">
            <a:solidFill>
              <a:srgbClr val="1F3864"/>
            </a:solidFill>
          </a:ln>
        </p:spPr>
        <p:txBody>
          <a:bodyPr/>
          <a:lstStyle/>
          <a:p/>
        </p:txBody>
      </p:sp>
      <p:sp>
        <p:nvSpPr>
          <p:cNvPr id="44" name="lbl"/>
          <p:cNvSpPr txBox="1"/>
          <p:nvPr/>
        </p:nvSpPr>
        <p:spPr>
          <a:xfrm>
            <a:off x="2362842" y="2165263"/>
            <a:ext cx="1700000" cy="2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buNone/>
            </a:pPr>
            <a:r>
              <a:rPr sz="1300" b="1" i="0" lang="ko-KR" altLang="en-US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간접형 (Si)</a:t>
            </a:r>
          </a:p>
        </p:txBody>
      </p:sp>
      <p:sp>
        <p:nvSpPr>
          <p:cNvPr id="45" name="panel"/>
          <p:cNvSpPr/>
          <p:nvPr/>
        </p:nvSpPr>
        <p:spPr>
          <a:xfrm>
            <a:off x="4480000" y="1500000"/>
            <a:ext cx="4380000" cy="2720000"/>
          </a:xfrm>
          <a:prstGeom prst="roundRect">
            <a:avLst>
              <a:gd name="adj" fmla="val 6000"/>
            </a:avLst>
          </a:prstGeom>
          <a:solidFill>
            <a:srgbClr val="EDF1F8"/>
          </a:solidFill>
          <a:ln w="19050">
            <a:solidFill>
              <a:srgbClr val="1F3864"/>
            </a:solidFill>
          </a:ln>
        </p:spPr>
        <p:txBody>
          <a:bodyPr/>
          <a:lstStyle/>
          <a:p/>
        </p:txBody>
      </p:sp>
      <p:sp>
        <p:nvSpPr>
          <p:cNvPr id="46" name="lbl"/>
          <p:cNvSpPr txBox="1"/>
          <p:nvPr/>
        </p:nvSpPr>
        <p:spPr>
          <a:xfrm>
            <a:off x="4720000" y="1670000"/>
            <a:ext cx="3980000" cy="29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sz="16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직접형 — 광자만으로 건널 수 있어</a:t>
            </a:r>
          </a:p>
        </p:txBody>
      </p:sp>
      <p:sp>
        <p:nvSpPr>
          <p:cNvPr id="47" name="lbl"/>
          <p:cNvSpPr txBox="1"/>
          <p:nvPr/>
        </p:nvSpPr>
        <p:spPr>
          <a:xfrm>
            <a:off x="4720000" y="1960000"/>
            <a:ext cx="3980000" cy="29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sz="16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문턱 넘자마자 10⁴ cm⁻¹ 대로 뛴다</a:t>
            </a:r>
          </a:p>
        </p:txBody>
      </p:sp>
      <p:sp>
        <p:nvSpPr>
          <p:cNvPr id="48" name="lbl"/>
          <p:cNvSpPr txBox="1"/>
          <p:nvPr/>
        </p:nvSpPr>
        <p:spPr>
          <a:xfrm>
            <a:off x="4720000" y="2250000"/>
            <a:ext cx="3980000" cy="2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sz="8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" name="lbl"/>
          <p:cNvSpPr txBox="1"/>
          <p:nvPr/>
        </p:nvSpPr>
        <p:spPr>
          <a:xfrm>
            <a:off x="4720000" y="2450000"/>
            <a:ext cx="3980000" cy="29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sz="16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간접형 — 포논이 운동량을 보태야 해서</a:t>
            </a:r>
          </a:p>
        </p:txBody>
      </p:sp>
      <p:sp>
        <p:nvSpPr>
          <p:cNvPr id="50" name="lbl"/>
          <p:cNvSpPr txBox="1"/>
          <p:nvPr/>
        </p:nvSpPr>
        <p:spPr>
          <a:xfrm>
            <a:off x="4720000" y="2740000"/>
            <a:ext cx="3980000" cy="29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sz="1600" b="0" i="0" lang="ko-KR" altLang="en-US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문턱 아래 꼬리 + 느린 (hν−E</a:t>
            </a:r>
            <a:r>
              <a:rPr sz="1100" b="0" i="0" lang="ko-KR" altLang="en-US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1600" b="0" i="0" lang="ko-KR" altLang="en-US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)² 증가</a:t>
            </a:r>
          </a:p>
        </p:txBody>
      </p:sp>
      <p:sp>
        <p:nvSpPr>
          <p:cNvPr id="51" name="lbl"/>
          <p:cNvSpPr txBox="1"/>
          <p:nvPr/>
        </p:nvSpPr>
        <p:spPr>
          <a:xfrm>
            <a:off x="4720000" y="3030000"/>
            <a:ext cx="3980000" cy="2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sz="8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" name="lbl"/>
          <p:cNvSpPr txBox="1"/>
          <p:nvPr/>
        </p:nvSpPr>
        <p:spPr>
          <a:xfrm>
            <a:off x="4720000" y="3230000"/>
            <a:ext cx="3980000" cy="29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sz="1600" b="0" i="0" lang="ko-KR" altLang="en-US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같은 에너지에서 α 가 100~1000 배 차이</a:t>
            </a:r>
          </a:p>
        </p:txBody>
      </p:sp>
      <p:sp>
        <p:nvSpPr>
          <p:cNvPr id="53" name="lbl"/>
          <p:cNvSpPr txBox="1"/>
          <p:nvPr/>
        </p:nvSpPr>
        <p:spPr>
          <a:xfrm>
            <a:off x="4720000" y="3520000"/>
            <a:ext cx="3980000" cy="29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buNone/>
            </a:pPr>
            <a:r>
              <a:rPr sz="1600" b="0" i="0" lang="ko-KR" altLang="en-US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→ LED 는 직접형으로 만듦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대역간극이 흡수·발광 파장을 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그림 4-4 의 값 · 144쪽 · GaN 은 그림 밖 보충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17846"/>
            <a:ext cx="8229600" cy="1291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λ(µm) = 1.24/E</a:t>
            </a:r>
            <a:r>
              <a:rPr sz="22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(eV) — 1 장 1 강 A1 · 2 장 1 강 A2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눈에 보이려면 E</a:t>
            </a:r>
            <a:r>
              <a:rPr sz="22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가 약 1.7 ~ 3.1 eV (그림 4-4 경계)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Si 1.11 eV 는 적외선 — 열 재료의 쓰임은 부록 A4</a:t>
            </a:r>
          </a:p>
        </p:txBody>
      </p:sp>
      <p:pic>
        <p:nvPicPr>
          <p:cNvPr id="7" name="Picture 4" descr="p_ba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722" y="1280160"/>
            <a:ext cx="8568678" cy="36462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2148840"/>
            <a:ext cx="9144000" cy="1920240"/>
          </a:xfrm>
          <a:prstGeom prst="roundRect">
            <a:avLst>
              <a:gd name="adj" fmla="val 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9FB8DC"/>
                </a:solidFill>
                <a:latin typeface="맑은 고딕"/>
                <a:ea typeface="맑은 고딕"/>
                <a:cs typeface="맑은 고딕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52928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4.2 발광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빛이 나오는 세 가지 길 · 교재 145~148쪽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무엇으로 여기했는가로 이름이 갈린다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4.2 · 145쪽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70197"/>
            <a:ext cx="8229600" cy="1939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광발광 — 빛으로 여기 (형광등 · 야광)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음극선발광 — 전자빔으로 여기 (옛 브라운관)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전계발광(electroluminescence) — 8 장에서 LED 로 다시 다룸</a:t>
            </a:r>
          </a:p>
        </p:txBody>
      </p:sp>
      <p:pic>
        <p:nvPicPr>
          <p:cNvPr id="7" name="Picture 4" descr="f1_p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82296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형광과 인광 — 트랩이 시간을 늦춘다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4.2.1 · 그림 4-5 · 145~146쪽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94021"/>
            <a:ext cx="8229600" cy="16153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트랩 — 간극 속 결정결함(주로 불순물) 준위 E</a:t>
            </a:r>
            <a:r>
              <a:rPr sz="22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</a:t>
            </a: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· 여기선 포획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인광은 트랩을 거쳐 느림 — 수 초 이상(몇 분까지)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야광 스티커가 인광의 예 — 끈 뒤 밝기 곡선은 부록 A5</a:t>
            </a:r>
          </a:p>
        </p:txBody>
      </p:sp>
      <p:pic>
        <p:nvPicPr>
          <p:cNvPr id="7" name="Picture 4" descr="f1_p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80160"/>
            <a:ext cx="822960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예제 4-1 — GaAs 시료에 빛을 쬐면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4.2.1 · 예제 4-1 · 146~147쪽</a:t>
            </a:r>
          </a:p>
        </p:txBody>
      </p:sp>
      <p:sp>
        <p:nvSpPr>
          <p:cNvPr id="5" name="Rounded Rectangle 5"/>
          <p:cNvSpPr/>
          <p:nvPr/>
        </p:nvSpPr>
        <p:spPr>
          <a:xfrm>
            <a:off x="457200" y="1188720"/>
            <a:ext cx="8229600" cy="1951373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6"/>
          <p:cNvSpPr/>
          <p:nvPr/>
        </p:nvSpPr>
        <p:spPr>
          <a:xfrm>
            <a:off x="594360" y="1289304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buNone/>
            </a:pPr>
            <a:r>
              <a:rPr lang="ko-KR" sz="2100" b="1" i="0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70432" y="1280160"/>
            <a:ext cx="7296912" cy="1764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주어진 것 · 구할 것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GaAs · α = 5×10</a:t>
            </a:r>
            <a:r>
              <a:rPr lang="ko-KR" sz="2000" b="0" i="0" baseline="3000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 /cm · 두께 0.46 µm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입사 hν = 2 eV · 세기 10 mW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구할 것 (a) 매초 흡수 에너지  (b) 열로 가는 비율과 양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(c) 재결합으로 매초 나오는 광자 수 — 양자효율 1 가정</a:t>
            </a:r>
          </a:p>
        </p:txBody>
      </p:sp>
      <p:sp>
        <p:nvSpPr>
          <p:cNvPr id="8" name="Rounded Rectangle 8"/>
          <p:cNvSpPr/>
          <p:nvPr/>
        </p:nvSpPr>
        <p:spPr>
          <a:xfrm>
            <a:off x="457200" y="3213245"/>
            <a:ext cx="8229600" cy="159141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Oval 9"/>
          <p:cNvSpPr/>
          <p:nvPr/>
        </p:nvSpPr>
        <p:spPr>
          <a:xfrm>
            <a:off x="594360" y="3313829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buNone/>
            </a:pPr>
            <a:r>
              <a:rPr lang="ko-KR" sz="2100" b="1" i="0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0432" y="3304685"/>
            <a:ext cx="7296912" cy="1404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통과한 세기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식 (4-3) 에 그대로 넣는다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I</a:t>
            </a:r>
            <a:r>
              <a:rPr lang="ko-KR" sz="2100" b="1" i="0" baseline="-25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t</a:t>
            </a: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= 10</a:t>
            </a:r>
            <a:r>
              <a:rPr lang="ko-KR" sz="2100" b="1" i="0" baseline="30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−2</a:t>
            </a: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exp(−5×10</a:t>
            </a:r>
            <a:r>
              <a:rPr lang="ko-KR" sz="2100" b="1" i="0" baseline="30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4</a:t>
            </a: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× 0.46×10</a:t>
            </a:r>
            <a:r>
              <a:rPr lang="ko-KR" sz="2100" b="1" i="0" baseline="30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−4</a:t>
            </a: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 ) = 10</a:t>
            </a:r>
            <a:r>
              <a:rPr lang="ko-KR" sz="2100" b="1" i="0" baseline="30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−3</a:t>
            </a: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 W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αl = 2.3 이므로 exp(−2.3) ≈ 0.1 — 세기가 1/10 로 준다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457200" y="4877816"/>
            <a:ext cx="8229600" cy="1231464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2"/>
          <p:cNvSpPr/>
          <p:nvPr/>
        </p:nvSpPr>
        <p:spPr>
          <a:xfrm>
            <a:off x="594360" y="4978400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buNone/>
            </a:pPr>
            <a:r>
              <a:rPr lang="ko-KR" sz="2100" b="1" i="0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0432" y="4969256"/>
            <a:ext cx="7296912" cy="104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(a) 흡수된 전력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들어간 것에서 나온 것을 뺀다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10 − 1 = 9 mW = 9×10</a:t>
            </a:r>
            <a:r>
              <a:rPr lang="ko-KR" sz="2100" b="1" i="0" baseline="30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−3</a:t>
            </a: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 J/s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예제 4-1 — GaAs 시료에 빛을 쬐면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열로 가는 몫과 빛으로 나오는 몫 · 단계별은 부록 A2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13248"/>
            <a:ext cx="8229600" cy="757427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빛으로 나오는 6.43 mW 를 1.43 eV 로 나눠도 같은 값</a:t>
            </a:r>
          </a:p>
        </p:txBody>
      </p:sp>
      <p:sp>
        <p:nvSpPr>
          <p:cNvPr id="15" name="Rounded Rectangle 15"/>
          <p:cNvSpPr/>
          <p:nvPr/>
        </p:nvSpPr>
        <p:spPr>
          <a:xfrm>
            <a:off x="457200" y="1188720"/>
            <a:ext cx="8229600" cy="1231464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Oval 16"/>
          <p:cNvSpPr/>
          <p:nvPr/>
        </p:nvSpPr>
        <p:spPr>
          <a:xfrm>
            <a:off x="594360" y="1289304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buNone/>
            </a:pPr>
            <a:r>
              <a:rPr lang="ko-KR" sz="2100" b="1" i="0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0432" y="1280160"/>
            <a:ext cx="7296912" cy="104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(b) 열로 가는 비율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 eV 로 들어와 1.43 eV 만 간극을 넘음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(2 − 1.43) / 2 = 0.285</a:t>
            </a:r>
          </a:p>
        </p:txBody>
      </p:sp>
      <p:sp>
        <p:nvSpPr>
          <p:cNvPr id="18" name="Rounded Rectangle 18"/>
          <p:cNvSpPr/>
          <p:nvPr/>
        </p:nvSpPr>
        <p:spPr>
          <a:xfrm>
            <a:off x="457200" y="2493336"/>
            <a:ext cx="8229600" cy="1231464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9" name="Oval 19"/>
          <p:cNvSpPr/>
          <p:nvPr/>
        </p:nvSpPr>
        <p:spPr>
          <a:xfrm>
            <a:off x="594360" y="2593920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buNone/>
            </a:pPr>
            <a:r>
              <a:rPr lang="ko-KR" sz="2100" b="1" i="0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0432" y="2584776"/>
            <a:ext cx="7296912" cy="104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(b) 열로 가는 전력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흡수된 9 mW 에 그 비율을 곱한다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0.285 × 9×10</a:t>
            </a:r>
            <a:r>
              <a:rPr lang="ko-KR" sz="2100" b="1" i="0" baseline="30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−3</a:t>
            </a: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= 2.57×10</a:t>
            </a:r>
            <a:r>
              <a:rPr lang="ko-KR" sz="2100" b="1" i="0" baseline="30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−3</a:t>
            </a: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 J/s</a:t>
            </a:r>
          </a:p>
        </p:txBody>
      </p:sp>
      <p:sp>
        <p:nvSpPr>
          <p:cNvPr id="21" name="Rounded Rectangle 21"/>
          <p:cNvSpPr/>
          <p:nvPr/>
        </p:nvSpPr>
        <p:spPr>
          <a:xfrm>
            <a:off x="457200" y="3797953"/>
            <a:ext cx="8229600" cy="159141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Oval 22"/>
          <p:cNvSpPr/>
          <p:nvPr/>
        </p:nvSpPr>
        <p:spPr>
          <a:xfrm>
            <a:off x="594360" y="3898537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buNone/>
            </a:pPr>
            <a:r>
              <a:rPr lang="ko-KR" sz="2100" b="1" i="0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0432" y="3889393"/>
            <a:ext cx="7296912" cy="1404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(c) 방출 광자 수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양자효율 1 — 흡수된 광자 하나가 광자 하나로 나옴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그래서 흡수된 광자 수(9 mW ÷ 2 eV) = 방출 광자 수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9×10</a:t>
            </a:r>
            <a:r>
              <a:rPr lang="ko-KR" sz="2100" b="1" i="0" baseline="30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−3</a:t>
            </a: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/ (1.6×10</a:t>
            </a:r>
            <a:r>
              <a:rPr lang="ko-KR" sz="2100" b="1" i="0" baseline="30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−19</a:t>
            </a: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× 2) = 2.81×10</a:t>
            </a:r>
            <a:r>
              <a:rPr lang="ko-KR" sz="2100" b="1" i="0" baseline="30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16</a:t>
            </a:r>
            <a:r>
              <a:rPr lang="ko-KR" sz="2100" b="1" i="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 개/s</a:t>
            </a:r>
          </a:p>
        </p:txBody>
      </p:sp>
      <p:pic>
        <p:nvPicPr>
          <p:cNvPr id="24" name="Picture 23" descr="p_ex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216152"/>
            <a:ext cx="274320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전계발광 — 전류로 빛을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4.2.2 · 147~148쪽 · 부록 A6 교번전계 · A7 흰빛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8691"/>
            <a:ext cx="8229600" cy="1291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순방향 접합으로 소수캐리어를 밀어 넣음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반대편에서 다수캐리어와 재결합하며 광자가 나옴</a:t>
            </a:r>
          </a:p>
          <a:p>
            <a:pPr marL="365760" indent="-365760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직접형이라야 효율이 높음 — p12 에서 본 그 까닭</a:t>
            </a:r>
          </a:p>
        </p:txBody>
      </p:sp>
      <p:pic>
        <p:nvPicPr>
          <p:cNvPr id="7" name="Picture 4" descr="f1_p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35793"/>
            <a:ext cx="82296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2148840"/>
            <a:ext cx="9144000" cy="1920240"/>
          </a:xfrm>
          <a:prstGeom prst="roundRect">
            <a:avLst>
              <a:gd name="adj" fmla="val 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9FB8DC"/>
                </a:solidFill>
                <a:latin typeface="맑은 고딕"/>
                <a:ea typeface="맑은 고딕"/>
                <a:cs typeface="맑은 고딕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52928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평형 · 정상상태 · 과도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δn 은 시간에 따라 어떻게? · 4.3 미리 보기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같은 시료의 세 가지 상태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488" y="89611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과잉 캐리어로 견주기 · 3 장 3 강 [보충] 의 세 상태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98448"/>
          <a:ext cx="8229600" cy="34381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81328"/>
                <a:gridCol w="1920240"/>
                <a:gridCol w="2340864"/>
                <a:gridCol w="2487168"/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</a:p>
                  </a:txBody>
                  <a:tcPr anchor="ctr" marL="54864" marR="54864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1" i="0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평형</a:t>
                      </a:r>
                    </a:p>
                  </a:txBody>
                  <a:tcPr anchor="ctr" marL="54864" marR="54864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1" i="0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정상상태</a:t>
                      </a:r>
                    </a:p>
                  </a:txBody>
                  <a:tcPr anchor="ctr" marL="54864" marR="54864" marT="27432" marB="27432"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 b="1" i="0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과도 상태</a:t>
                      </a:r>
                    </a:p>
                  </a:txBody>
                  <a:tcPr anchor="ctr" marL="54864" marR="54864" marT="27432" marB="27432">
                    <a:solidFill>
                      <a:srgbClr val="C0000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빛 · 전압 없음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빛 · 전압을 계속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켜거나 끈 직후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과잉 캐리어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δn = 0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δn = g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</a:t>
                      </a: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τ (일정)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시간에 따라 변함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 = 재결합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</a:t>
                      </a: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= δn/τ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dδn/dt = g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</a:t>
                      </a: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− δn/τ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np 와 n</a:t>
                      </a:r>
                      <a:r>
                        <a:rPr lang="ko-KR" sz="1900" b="1" i="0" baseline="-2500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  <a:r>
                        <a:rPr lang="ko-KR" sz="1900" b="1" i="0" baseline="3000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 2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p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= n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  <a:r>
                        <a:rPr lang="ko-KR" sz="1900" b="0" i="0" baseline="30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 2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np &gt; n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  <a:r>
                        <a:rPr lang="ko-KR" sz="1900" b="0" i="0" baseline="30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 2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np ≠ n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</a:t>
                      </a:r>
                      <a:r>
                        <a:rPr lang="ko-KR" sz="1900" b="0" i="0" baseline="30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 2</a:t>
                      </a: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(변하는 중)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 변화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있음 — 끄면 Δn e</a:t>
                      </a:r>
                      <a:r>
                        <a:rPr lang="ko-KR" sz="1900" b="0" i="0" baseline="30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−t/τ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페르미준위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</a:t>
                      </a: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하나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F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</a:t>
                      </a: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둘 (4.3.3 절)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</a:t>
                      </a: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F</a:t>
                      </a:r>
                      <a:r>
                        <a:rPr lang="ko-KR" sz="1900" b="0" i="0" baseline="-2500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</a:t>
                      </a: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가 움직임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흐름 J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 = 0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 일 수도 아닐 수도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9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변하는 중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475488" y="4828031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τ : 과잉 캐리어의 평균 수명 — 2 강 4.3.1 에서 자세히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평형 ⊂ 정상상태 [보충] — 교재 154쪽은 정상상태 = 불평형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물통 비유는 3 장 3 강 [보충] 그대로 — 정상상태 수위가 δn = g</a:t>
            </a:r>
            <a:r>
              <a:rPr lang="ko-KR" sz="2000" b="0" i="0" altLang="en-US" baseline="-2500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op</a:t>
            </a:r>
            <a:r>
              <a:rPr lang="ko-KR" sz="20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빛을 켜고 끄면 세 상태가 차례로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488" y="89611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 : τ = 1 µs · g</a:t>
            </a:r>
            <a:r>
              <a:rPr lang="ko-KR" sz="2100" b="0" i="0" altLang="en-US" baseline="-2500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op</a:t>
            </a: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= 10</a:t>
            </a:r>
            <a:r>
              <a:rPr lang="ko-KR" sz="2100" b="0" i="0" altLang="en-US" baseline="3000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20</a:t>
            </a: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 /cm</a:t>
            </a:r>
            <a:r>
              <a:rPr lang="ko-KR" sz="2100" b="0" i="0" altLang="en-US" baseline="3000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 ·s · 켜는 곡선은 [보충]</a:t>
            </a:r>
          </a:p>
        </p:txBody>
      </p:sp>
      <p:pic>
        <p:nvPicPr>
          <p:cNvPr id="5" name="Picture 4" descr="n1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43584"/>
            <a:ext cx="8229600" cy="315468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7200" y="4498848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켜면 δn(t) = g</a:t>
            </a:r>
            <a:r>
              <a:rPr lang="ko-KR" sz="2000" b="0" i="0" baseline="-2500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op</a:t>
            </a: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τ [1 − exp(−t/τ)] — 3τ 뒤면 95 %</a:t>
            </a:r>
          </a:p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정상상태 δn = g</a:t>
            </a:r>
            <a:r>
              <a:rPr lang="ko-KR" sz="2000" b="0" i="0" baseline="-2500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op</a:t>
            </a: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τ = 10</a:t>
            </a:r>
            <a:r>
              <a:rPr lang="ko-KR" sz="2000" b="0" i="0" baseline="3000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14</a:t>
            </a: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/cm</a:t>
            </a:r>
            <a:r>
              <a:rPr lang="ko-KR" sz="2000" b="0" i="0" baseline="3000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— 일정하나 평형은 아님</a:t>
            </a:r>
          </a:p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끄면 δn = Δn exp(−t/τ) — Δn 은 끈 순간 값 · τ 뒤 37 %</a:t>
            </a: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강의 요약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제1강 · 교재 141~144쪽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8229600" cy="124358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" y="1371600"/>
            <a:ext cx="420624" cy="420624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53312"/>
            <a:ext cx="7498079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과잉 캐리어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평형보다 많은 전자·정공 — 빛 · 충돌 · 접합 주입으로 만듦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거의 모든 소자가 과잉 캐리어의 재결합에 기댐 (148쪽)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8229600" cy="1540764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2743200"/>
            <a:ext cx="420624" cy="420624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24912"/>
            <a:ext cx="7498079" cy="1431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광학적 흡수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hν ≥ E</a:t>
            </a:r>
            <a:r>
              <a:rPr sz="21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이면 흡수되어 EHP 가 생김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−dI/dx = αI → I(x) = I</a:t>
            </a:r>
            <a:r>
              <a:rPr sz="21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exp(−αx) · 식 (4-1)(4-2)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1/α = 침투깊이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20540"/>
            <a:ext cx="8229600" cy="154076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4411979"/>
            <a:ext cx="420624" cy="420624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93692"/>
            <a:ext cx="7498079" cy="1431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흡수 스펙트럼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 물질의 E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가 흡수 문턱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직접형은 급히, 간접형은 천천히 커짐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λ(µm) = 1.24/E</a:t>
            </a:r>
            <a:r>
              <a:rPr sz="20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(eV) · 남는 hν − E</a:t>
            </a:r>
            <a:r>
              <a:rPr sz="20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는 열(열 이완)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강의 요약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제1강 · 교재 145~148쪽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8229600" cy="154076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" y="1371600"/>
            <a:ext cx="420624" cy="420624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53312"/>
            <a:ext cx="7498079" cy="1431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발광 세 가지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광발광 · 음극선발광 · 전계발광 — 여기 방법으로 이름이 갈림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모두 '여기된 캐리어가 재결합하며 빛을 낸다'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0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간접형(Si)은 효율이 매우 낮아 실용 LED 불가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48940"/>
            <a:ext cx="8229600" cy="1243584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3040380"/>
            <a:ext cx="420624" cy="420624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22092"/>
            <a:ext cx="7498079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형광과 인광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형광은 약 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−8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s 안에 끝나는 빠른 과정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인광은 트랩을 거쳐 수 초 이상(몇 분까지) 가는 과정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20540"/>
            <a:ext cx="8229600" cy="124358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4411979"/>
            <a:ext cx="420624" cy="420624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93692"/>
            <a:ext cx="7498079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예제 4-1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sz="21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= 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−3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W · 흡수 9 mW · 열 2.57 mW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방출 광자 2.81×10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개/s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강의 요약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제1강 · PART 4 · 4.3 미리 보기 (평형 ⊂ 정상상태 [보충])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8229600" cy="124358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0936" y="1371600"/>
            <a:ext cx="420624" cy="420624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53312"/>
            <a:ext cx="7498079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평형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빛 없음 · δn = 0 · n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p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= n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sz="2100" b="0" i="0" lang="ko-KR" altLang="en-US" baseline="30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2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· E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F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하나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열 생성과 재결합이 맞비김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8229600" cy="1243584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2743200"/>
            <a:ext cx="420624" cy="420624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724912"/>
            <a:ext cx="7498079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정상상태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빛을 계속 — g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op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= δn/τ 라 δn = g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op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τ 로 일정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변하지 않으나 평형 아님 — np &gt; n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sz="2100" b="0" i="0" lang="ko-KR" altLang="en-US" baseline="30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2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, F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n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· F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8229600" cy="1243584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4114800"/>
            <a:ext cx="420624" cy="420624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96512"/>
            <a:ext cx="7498079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과도 상태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dδn/dt = g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op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− δn/τ — 켜거나 끈 직후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끄면 δn = Δn exp(−t/τ) — τ 뒤 37 %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다음 시간 예고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제2강 — 캐리어의 수명과 확산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35024"/>
            <a:ext cx="8229600" cy="529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9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만들어 낸 과잉 캐리어는 얼마나 오래 살고, 어디로 퍼지는가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0892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9224" y="2248636"/>
            <a:ext cx="457200" cy="45720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48052"/>
            <a:ext cx="71323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4.3.1 ~ 4.3.2 재결합과 수명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과잉 캐리어가 사라지는 속도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3308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" y="3291052"/>
            <a:ext cx="457200" cy="45720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90468"/>
            <a:ext cx="71323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4.3.3 ~ 4.3.4 정상상태 · 광전도도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준페르미준위 · 빛을 쬐면 저항이 준다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9572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" y="4333468"/>
            <a:ext cx="457200" cy="45720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232884"/>
            <a:ext cx="71323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4.4.1 ~ 4.4.3 확산 · 표동 · 연속방정식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농도 경사가 만드는 흐름과 그 결산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38140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" y="5375884"/>
            <a:ext cx="457200" cy="45720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275300"/>
            <a:ext cx="713232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4.4.4 ~ 4.4.6 확산거리 · 헤인즈-쇼클리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 = √(Dτ) · 준페르미준위의 경사도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2331720"/>
            <a:ext cx="9144000" cy="1737360"/>
          </a:xfrm>
          <a:prstGeom prst="roundRect">
            <a:avLst>
              <a:gd name="adj" fmla="val 0"/>
            </a:avLst>
          </a:prstGeom>
          <a:solidFill>
            <a:srgbClr val="3B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B8CCE8"/>
                </a:solidFill>
                <a:latin typeface="맑은 고딕"/>
                <a:ea typeface="맑은 고딕"/>
                <a:cs typeface="맑은 고딕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99232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부록 — 유도 과정과 자기학습 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7498079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본문에서는 결과만 실음. 여기서는 그 결과가 어디서 나왔는지 적어 두었다.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A1. 흡수식이 나오는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 (4-1) ~ (4-3) · 교재 143쪽</a:t>
            </a:r>
          </a:p>
        </p:txBody>
      </p:sp>
      <p:sp>
        <p:nvSpPr>
          <p:cNvPr id="5" name="Rounded Rectangle 5"/>
          <p:cNvSpPr/>
          <p:nvPr/>
        </p:nvSpPr>
        <p:spPr>
          <a:xfrm>
            <a:off x="457200" y="1188720"/>
            <a:ext cx="8229600" cy="1231464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6"/>
          <p:cNvSpPr/>
          <p:nvPr/>
        </p:nvSpPr>
        <p:spPr>
          <a:xfrm>
            <a:off x="594360" y="1289304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buNone/>
            </a:pPr>
            <a:r>
              <a:rPr lang="ko-KR" sz="2100" b="1" i="0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70432" y="1280160"/>
            <a:ext cx="7296912" cy="104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가정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흡수되지 않고 x 까지 온 광자는 '얼마나 왔는지' 를 모름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그래서 임의의 dx 에서 흡수될 확률이 일정하다</a:t>
            </a:r>
          </a:p>
        </p:txBody>
      </p:sp>
      <p:sp>
        <p:nvSpPr>
          <p:cNvPr id="8" name="Rounded Rectangle 8"/>
          <p:cNvSpPr/>
          <p:nvPr/>
        </p:nvSpPr>
        <p:spPr>
          <a:xfrm>
            <a:off x="457200" y="2465904"/>
            <a:ext cx="8229600" cy="1231464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Oval 9"/>
          <p:cNvSpPr/>
          <p:nvPr/>
        </p:nvSpPr>
        <p:spPr>
          <a:xfrm>
            <a:off x="594360" y="2566488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buNone/>
            </a:pPr>
            <a:r>
              <a:rPr lang="ko-KR" sz="2100" b="1" i="0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0432" y="2557344"/>
            <a:ext cx="7296912" cy="104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미분식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따라서 줄어드는 양은 남아 있는 세기에 비례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 i="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−dI(x)/dx = αI(x)  ·  식 (4-1)</a:t>
            </a:r>
          </a:p>
        </p:txBody>
      </p:sp>
      <p:sp>
        <p:nvSpPr>
          <p:cNvPr id="11" name="Rounded Rectangle 11"/>
          <p:cNvSpPr/>
          <p:nvPr/>
        </p:nvSpPr>
        <p:spPr>
          <a:xfrm>
            <a:off x="457200" y="3743089"/>
            <a:ext cx="8229600" cy="159141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2"/>
          <p:cNvSpPr/>
          <p:nvPr/>
        </p:nvSpPr>
        <p:spPr>
          <a:xfrm>
            <a:off x="594360" y="3843673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buNone/>
            </a:pPr>
            <a:r>
              <a:rPr lang="ko-KR" sz="2100" b="1" i="0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0432" y="3834529"/>
            <a:ext cx="7296912" cy="1404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적분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변수를 나누어 적분하면 ln I = −αx + C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x = 0 에서 I = I</a:t>
            </a:r>
            <a:r>
              <a:rPr lang="ko-KR" sz="2000" b="0" i="0" baseline="-2500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lang="ko-KR" sz="20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이므로 C = ln I</a:t>
            </a:r>
            <a:r>
              <a:rPr lang="ko-KR" sz="2000" b="0" i="0" baseline="-2500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I(x) = I</a:t>
            </a:r>
            <a:r>
              <a:rPr lang="ko-KR" sz="2100" b="1" i="0" baseline="-25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0</a:t>
            </a:r>
            <a:r>
              <a:rPr lang="ko-KR" sz="2100" b="1" i="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exp(−αx)  ·  식 (4-2)</a:t>
            </a:r>
          </a:p>
        </p:txBody>
      </p:sp>
      <p:sp>
        <p:nvSpPr>
          <p:cNvPr id="14" name="Rounded Rectangle 14"/>
          <p:cNvSpPr/>
          <p:nvPr/>
        </p:nvSpPr>
        <p:spPr>
          <a:xfrm>
            <a:off x="457200" y="5380228"/>
            <a:ext cx="8229600" cy="87151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Oval 15"/>
          <p:cNvSpPr/>
          <p:nvPr/>
        </p:nvSpPr>
        <p:spPr>
          <a:xfrm>
            <a:off x="594360" y="5480812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buNone/>
            </a:pPr>
            <a:r>
              <a:rPr lang="ko-KR" sz="2100" b="1" i="0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0432" y="5471667"/>
            <a:ext cx="7296912" cy="684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두께 </a:t>
            </a:r>
            <a:r>
              <a:rPr lang="ko-KR" sz="2100" b="1" i="1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l</a:t>
            </a: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 — x = </a:t>
            </a:r>
            <a:r>
              <a:rPr lang="ko-KR" sz="2100" b="1" i="1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l</a:t>
            </a:r>
            <a:r>
              <a:rPr lang="ko-KR" sz="2100" b="1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 을 넣으면 통과한 세기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I</a:t>
            </a:r>
            <a:r>
              <a:rPr lang="ko-KR" sz="2100" b="1" i="0" baseline="-25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t</a:t>
            </a:r>
            <a:r>
              <a:rPr lang="ko-KR" sz="2100" b="1" i="1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= I</a:t>
            </a:r>
            <a:r>
              <a:rPr lang="ko-KR" sz="2100" b="1" i="0" baseline="-2500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0</a:t>
            </a:r>
            <a:r>
              <a:rPr lang="ko-KR" sz="2100" b="1" i="0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exp(−αl)  ·  식 (4-3)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A2. 예제 4-1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단위를 끝까지 따라간다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1242349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298448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289304"/>
            <a:ext cx="7296912" cy="1114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αl 을 먼저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5×10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/cm × 0.46×10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−4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cm = 2.3 (무차원)</a:t>
            </a:r>
          </a:p>
          <a:p>
            <a:pPr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2200" b="1" i="1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exp(−2.3) = 0.1003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9291"/>
            <a:ext cx="8229600" cy="1242349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" y="2579019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569875"/>
            <a:ext cx="7296912" cy="1114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통과 세기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 mW × 0.1003 = 1.00 mW</a:t>
            </a:r>
          </a:p>
          <a:p>
            <a:pPr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흡수된 것은 10 − 1 = 9 mW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862"/>
            <a:ext cx="8229600" cy="1242349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3859590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850446"/>
            <a:ext cx="7296912" cy="1114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열로 가는 몫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광자 하나가 2 eV 로 들어와 1.43 eV 만 쓰임</a:t>
            </a:r>
          </a:p>
          <a:p>
            <a:pPr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2200" b="1" i="1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(2−1.43)/2 = 0.285 → 0.285 × 9 mW = 2.57 mW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30434"/>
            <a:ext cx="8229600" cy="1242349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5140162"/>
            <a:ext cx="384048" cy="38404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5131018"/>
            <a:ext cx="7296912" cy="1114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2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광자 수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9 mW ÷ (2 eV × 1.6×10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−19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J/eV)</a:t>
            </a:r>
          </a:p>
          <a:p>
            <a:pPr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sz="2200" b="1" i="1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= 9×10</a:t>
            </a:r>
            <a:r>
              <a:rPr sz="2200" b="1" i="0" baseline="3000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−3</a:t>
            </a:r>
            <a:r>
              <a:rPr sz="2200" b="1" i="1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/ 3.2×10</a:t>
            </a:r>
            <a:r>
              <a:rPr sz="2200" b="1" i="0" baseline="3000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−19</a:t>
            </a:r>
            <a:r>
              <a:rPr sz="2200" b="1" i="1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= 2.81×10</a:t>
            </a:r>
            <a:r>
              <a:rPr sz="2200" b="1" i="0" baseline="3000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16</a:t>
            </a:r>
            <a:r>
              <a:rPr sz="2200" b="1" i="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개/s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A3. 강한 전계 속 충격 이온화 [보충]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488" y="89611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141 · 145쪽의 전자충돌은 전자빔 · 수업 자료는 충격 이온화로</a:t>
            </a:r>
          </a:p>
        </p:txBody>
      </p:sp>
      <p:pic>
        <p:nvPicPr>
          <p:cNvPr id="5" name="Picture 4" descr="p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283464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7200" y="4224528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lang="ko-KR" sz="22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가속된 전자가 격자와 부딪혀 결합을 끊음 — 새 전자 · 정공쌍</a:t>
            </a:r>
          </a:p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lang="ko-KR" sz="22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새 캐리어도 되풀이 → 전자사태(avalanche) — 5 장 4 강 항복</a:t>
            </a:r>
          </a:p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lang="ko-KR" sz="22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APD(애벌랜치 광다이오드) — 이 증식으로 약한 빛을 키움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A4. 대역간극과 파장 — 열 가지 재료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488" y="89611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그림 4-4 의 아홉 재료 + GaN · λ(µm) = 1.24 / E</a:t>
            </a:r>
            <a:r>
              <a:rPr lang="ko-KR" sz="2100" b="0" i="0" baseline="-2500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(eV)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83080"/>
          <a:ext cx="8229600" cy="4023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25880"/>
                <a:gridCol w="1051560"/>
                <a:gridCol w="1143000"/>
                <a:gridCol w="141732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b="1" i="0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재료</a:t>
                      </a:r>
                    </a:p>
                  </a:txBody>
                  <a:tcPr anchor="ctr" marL="54864" marR="54864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b="1" i="0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</a:t>
                      </a:r>
                      <a:r>
                        <a:rPr lang="ko-KR" sz="1700" b="1" i="0" baseline="-25000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</a:t>
                      </a:r>
                      <a:r>
                        <a:rPr lang="ko-KR" sz="1700" b="1" i="0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(eV)</a:t>
                      </a:r>
                    </a:p>
                  </a:txBody>
                  <a:tcPr anchor="ctr" marL="54864" marR="54864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b="1" i="0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파장 λ</a:t>
                      </a:r>
                    </a:p>
                  </a:txBody>
                  <a:tcPr anchor="ctr" marL="54864" marR="54864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700" b="1" i="0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anchor="ctr" marL="54864" marR="54864" marT="27432" marB="27432"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altLang="en-US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쓰임 · 비고 (수업 자료 정리)</a:t>
                      </a:r>
                    </a:p>
                  </a:txBody>
                  <a:tcPr anchor="ctr" marL="54864" marR="54864" marT="27432" marB="27432">
                    <a:solidFill>
                      <a:srgbClr val="20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InSb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0.18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6.9 µm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적외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적외선 검출기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Ge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0.67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1.85 µm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적외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광통신 수광 소자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1.11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1.12 µm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근적외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가시 · 근적외 흡수 — 이미지 센서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GaAs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1.43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867 nm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근적외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적외 LED · 레이저 다이오드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CdSe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≈ 1.7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≈ 730 nm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가시 (적)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양자점 재료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GaP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2.26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549 nm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가시 (황록)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황록 LED (간접형 · N 트랩 발광)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CdS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2.42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512 nm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가시 (녹)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CdS 광도전셀 (조도 센서)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SiC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≈ 3.0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≈ 413 nm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가시 (보라)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꼴에 따라 값이 다름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ZnS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344 nm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자외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형광체 · 교번전계 발광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1" i="0" altLang="en-US">
                          <a:solidFill>
                            <a:srgbClr val="20386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GaN [보충]</a:t>
                      </a:r>
                    </a:p>
                  </a:txBody>
                  <a:tcPr anchor="ctr" marL="54864" marR="54864" marT="27432" marB="27432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3.40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365 nm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자외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b="0" i="0" altLang="en-US">
                          <a:solidFill>
                            <a:srgbClr val="1A1A1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청색 · 백색 LED (InGaN)</a:t>
                      </a:r>
                    </a:p>
                  </a:txBody>
                  <a:tcPr anchor="ctr" marL="54864" marR="54864" marT="27432" marB="27432"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475488" y="1261872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1.24 = hc/q = (6.626×10</a:t>
            </a:r>
            <a:r>
              <a:rPr lang="ko-KR" sz="1800" b="0" i="0" baseline="3000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−34</a:t>
            </a:r>
            <a:r>
              <a:rPr lang="ko-KR" sz="1800" b="0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 × 2.998×10</a:t>
            </a:r>
            <a:r>
              <a:rPr lang="ko-KR" sz="1800" b="0" i="0" baseline="3000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8</a:t>
            </a:r>
            <a:r>
              <a:rPr lang="ko-KR" sz="1800" b="0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 ) / (1.602×10</a:t>
            </a:r>
            <a:r>
              <a:rPr lang="ko-KR" sz="1800" b="0" i="0" baseline="3000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−19</a:t>
            </a:r>
            <a:r>
              <a:rPr lang="ko-KR" sz="1800" b="0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 × 10</a:t>
            </a:r>
            <a:r>
              <a:rPr lang="ko-KR" sz="1800" b="0" i="0" baseline="3000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−6</a:t>
            </a:r>
            <a:r>
              <a:rPr lang="ko-KR" sz="1800" b="0" i="0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 ) eV·µm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A5. 빛을 끈 뒤 밝기 — 형광과 인광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488" y="89611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4.2.1 을 넓힘 [보충] · 수업 자료 정리 · 모양만</a:t>
            </a:r>
          </a:p>
        </p:txBody>
      </p:sp>
      <p:pic>
        <p:nvPicPr>
          <p:cNvPr id="5" name="Picture 4" descr="p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292608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457200" y="4407408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lang="ko-KR" sz="22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형광 — 빛을 끄면 약 10</a:t>
            </a:r>
            <a:r>
              <a:rPr lang="ko-KR" sz="2200" b="0" i="0" baseline="3000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−8</a:t>
            </a:r>
            <a:r>
              <a:rPr lang="ko-KR" sz="22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 s 안에 꺼짐</a:t>
            </a:r>
          </a:p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lang="ko-KR" sz="22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인광 — 트랩에서 열로 조금씩 풀려나 지수적으로 어두워짐</a:t>
            </a:r>
          </a:p>
          <a:p>
            <a:pPr algn="l" marL="365760" indent="-365760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Clr>
                <a:srgbClr val="1A1A1A"/>
              </a:buClr>
              <a:buSzPct val="62000"/>
              <a:buFont typeface="Arial"/>
              <a:buChar char="■"/>
            </a:pPr>
            <a:r>
              <a:rPr lang="ko-KR" sz="2200" b="0" i="0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트랩이 깊을수록 오래 빛남 — 야광 표지 · 축광 소재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A6. 전계발광의 두 갈래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488" y="89611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교재 4.2.2 · 147~148쪽 · 주입형과 교번전계 — 모두 교재 내용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43584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362456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주입형 — LED · 레이저 (8 장)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순방향 p-n 접합으로 소수캐리어를 넣어 재결합시킴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14016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532888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B25000"/>
                </a:solidFill>
                <a:latin typeface="맑은 고딕"/>
                <a:ea typeface="맑은 고딕"/>
                <a:cs typeface="맑은 고딕"/>
              </a:rPr>
              <a:t>교번전계 발광 — 데스트리오(Destriau) 효과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처음 관찰된 전계발광 — 교류 전계를 걸면 형광체가 빛을 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84448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03320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구조 — 접합 없음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ZnS 형광체 가루를 유전상수가 큰 결착재(플라스틱 등)에 섞음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873752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쓰임 (교재 148쪽)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효율 · 신뢰성은 낮으나 발광판(lighting panel)으로 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A7. 흰빛은 어떻게 만드나 [보충]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LED 하나로는 흰빛이 안 나온다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43584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362456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파랑 + 형광체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GaN 파란 LED 에 노란 형광체를 씌움 — 지금의 주류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14016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532888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B25000"/>
                </a:solidFill>
                <a:latin typeface="맑은 고딕"/>
                <a:ea typeface="맑은 고딕"/>
                <a:cs typeface="맑은 고딕"/>
              </a:rPr>
              <a:t>빨강·초록·파랑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세 색을 따로 켜서 섞음 — 색을 자유로이 바꿀 수 있으나 비쌈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84448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03320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자외 + 삼색 형광체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형광등과 같은 방식 — 색은 좋으나 효율이 떨어짐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873752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형광등 — 같은 광발광 (교재 146쪽)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방전의 자외선을 관 안쪽 형광 도장이 가시광으로 바꿈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A8. 약어 풀이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처음 나온 곳에서도 원어를 병기함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25296"/>
            <a:ext cx="8229600" cy="493776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16736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약어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316736"/>
            <a:ext cx="4069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16736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우리말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47088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5681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EHP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956816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electron-hole pair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5681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전자·정공쌍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50545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CRT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505456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cathode-ray tube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0545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음극선관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44368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5409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054096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cathodoluminescence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5409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음극선발광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60273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602736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electroluminescence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60273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전계발광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1648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15137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151376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light emitting diode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15137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발광 다이오드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70001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OLED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700016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organic 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70001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유기 발광 다이오드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138927"/>
            <a:ext cx="8229600" cy="54864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248655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248655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absorption coefficient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248655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흡수계수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9729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APD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797296"/>
            <a:ext cx="4069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avalanche photodiode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5797296"/>
            <a:ext cx="26151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애벌랜치 광다이오드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A9. 용어 정리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한글 · 영어 · 기호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8229600" cy="505011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311493"/>
            <a:ext cx="2468880" cy="313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한글 용어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11493"/>
            <a:ext cx="3474720" cy="313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11493"/>
            <a:ext cx="1737360" cy="313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4261"/>
            <a:ext cx="8229600" cy="57466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868746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과잉 캐리어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68746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excess carrier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68746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δn, δp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443414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비어-람베르트 법칙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43414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Beer-Lambert 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443414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식 (4-2)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13597"/>
            <a:ext cx="8229600" cy="57466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018082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흡수계수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018082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absorption coefficient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18082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592749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침투깊이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592749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penetration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592749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1/α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62932"/>
            <a:ext cx="8229600" cy="57466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4167417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발광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167417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luminescence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167417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4742085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형광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742085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fluorescence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742085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12267"/>
            <a:ext cx="8229600" cy="57466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5316752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인광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316752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phosphorescence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316752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5891420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형광체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891420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phosphor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891420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A9. 용어 정리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488" y="89611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한글 · 영어 · 기호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8229600" cy="505011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311493"/>
            <a:ext cx="2468880" cy="313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한글 용어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11493"/>
            <a:ext cx="3474720" cy="313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11493"/>
            <a:ext cx="1737360" cy="313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4261"/>
            <a:ext cx="8229600" cy="57466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868746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트랩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68746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trap = 포획중심 (152쪽)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68746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E</a:t>
            </a:r>
            <a:r>
              <a:rPr sz="2100" b="0" i="0" lang="ko-KR" altLang="en-US" baseline="-2500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443414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열 이완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43414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thermalization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443414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hν − E</a:t>
            </a:r>
            <a:r>
              <a:rPr sz="2100" b="0" i="0" lang="ko-KR" altLang="en-US" baseline="-2500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13597"/>
            <a:ext cx="8229600" cy="57466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3018082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반사 방지막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018082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anti-reflection coating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018082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592750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충격 이온화 [보충]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592750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impact ionization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592750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62933"/>
            <a:ext cx="8229600" cy="57466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167418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전자사태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167418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avalanche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167418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4742086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교번전계 발광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742086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AC electroluminescence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742086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269"/>
            <a:ext cx="8229600" cy="57466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5316754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데스트리오 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316754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Destriau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316754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5488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충격 이온화 = 5 장의 충돌이온화 · 전자사태 = 5 장의 애벌런치 — 같은 현상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A10. 자주 쓰는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4 장 내내 쓰는 값 — 옆에 두고 볼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25296"/>
            <a:ext cx="8229600" cy="58521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335024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1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hc/q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34416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에너지와 파장의 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335024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1.24 eV·µm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65376"/>
            <a:ext cx="8229600" cy="585216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975104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1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8424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기본 전하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975104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1.602×10</a:t>
            </a:r>
            <a:r>
              <a:rPr sz="2100" b="1" i="0" baseline="3000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−19</a:t>
            </a:r>
            <a:r>
              <a:rPr sz="2100" b="1" i="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05456"/>
            <a:ext cx="8229600" cy="58521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615184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1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kT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62432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상온의 열에너지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615184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0.0259 eV (300 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45536"/>
            <a:ext cx="8229600" cy="585216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255264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1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E</a:t>
            </a:r>
            <a:r>
              <a:rPr sz="2200" b="1" i="0" baseline="-25000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g</a:t>
            </a:r>
            <a:r>
              <a:rPr sz="2200" b="1" i="1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 (Si)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26440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실리콘의 대역간극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255264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1.11 eV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85616"/>
            <a:ext cx="8229600" cy="58521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895344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1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E</a:t>
            </a:r>
            <a:r>
              <a:rPr sz="2200" b="1" i="0" baseline="-25000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g</a:t>
            </a:r>
            <a:r>
              <a:rPr sz="2200" b="1" i="1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 (GaAs)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90448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GaAs 의 대역간극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895344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1.43 eV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25696"/>
            <a:ext cx="8229600" cy="585216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4535424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1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n</a:t>
            </a:r>
            <a:r>
              <a:rPr sz="2200" b="1" i="0" baseline="-25000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i</a:t>
            </a:r>
            <a:r>
              <a:rPr sz="2200" b="1" i="1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 (Si)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54456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실리콘의 진성농도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535424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1.5×10</a:t>
            </a:r>
            <a:r>
              <a:rPr sz="2100" b="1" i="0" baseline="3000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10</a:t>
            </a:r>
            <a:r>
              <a:rPr sz="2100" b="1" i="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 cm</a:t>
            </a:r>
            <a:r>
              <a:rPr sz="2100" b="1" i="0" baseline="3000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−3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065776"/>
            <a:ext cx="8229600" cy="58521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5175504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1" lang="ko-KR" altLang="en-US">
                <a:solidFill>
                  <a:srgbClr val="203864"/>
                </a:solidFill>
                <a:latin typeface="Cambria"/>
                <a:ea typeface="맑은 고딕"/>
                <a:cs typeface="맑은 고딕"/>
              </a:rPr>
              <a:t>ln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18464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지수 계산의 기준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5175504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Cambria"/>
                <a:ea typeface="맑은 고딕"/>
                <a:cs typeface="맑은 고딕"/>
              </a:rPr>
              <a:t>2.303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A11. 스스로 확인하기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답을 가리고 풀어 볼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4358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7218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37160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과잉 캐리어가 있을 때 np = n</a:t>
            </a:r>
            <a:r>
              <a:rPr sz="21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2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이 성립하는가?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942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47802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37744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hν &lt; E</a:t>
            </a:r>
            <a:r>
              <a:rPr sz="21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인 빛을 쬐면 어떻게 되는가?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5526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48386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38328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흡수계수 α 가 크다는 것은 무슨 뜻인가?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6110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48970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38912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형광과 인광을 가르는 것은 무엇인가?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6694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549554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5394959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Q5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Si 로 LED 를 만들지 않는 까닭은?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A11. 스스로 확인하기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488" y="89611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답을 가리고 풀어 볼 것 · PART 2 ~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4358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7218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37160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Q6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빛을 계속 비추어 δn 이 일정한 시료는 평형인가?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942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47802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37744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Q7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τ = 1 µs, g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op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= 10</a:t>
            </a:r>
            <a:r>
              <a:rPr sz="2100" b="0" i="0" lang="ko-KR" altLang="en-US" baseline="30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20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/cm</a:t>
            </a:r>
            <a:r>
              <a:rPr sz="2100" b="0" i="0" lang="ko-KR" altLang="en-US" baseline="30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·s 이면 δn 은? 끄고 2 µs 뒤에는?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5526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48386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338328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Q8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흡수된 광자의 남는 에너지 hν − E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는 어디로 가는가?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6110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448970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438912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Q9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(d) 열로 다시 여기가 드물면 인광은 어떻게 되는가?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26694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549554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539496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Q10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Si(E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1.11 eV)는 가시광을 흡수하는가?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A12. 확인 문제 해답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근거까지 확인할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4358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7218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37160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1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성립하지 않음 — 그 식은 평형에서만 쓰는 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942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47802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37744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2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흡수되지 않고 그냥 지나감 — 그 물질은 투명하게 보임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5526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48386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38328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3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표면 가까이에서 다 흡수됨 — 침투깊이 1/α 가 짧음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6110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48970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38912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4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트랩을 거치는가 — 거치면 느려져 인광이 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6694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549554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5394959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5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Si 는 간접형이라 포논까지 필요 — 효율이 매우 낮음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A12. 확인 문제 해답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488" y="89611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근거까지 확인할 것 · Q6 ~ Q10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4358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7218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37160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6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아님 — 정상상태 : np &gt; n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sz="2100" b="0" i="0" lang="ko-KR" altLang="en-US" baseline="30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2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, 페르미준위가 둘로 갈라짐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942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47802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37744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7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δn = 10</a:t>
            </a:r>
            <a:r>
              <a:rPr sz="2100" b="0" i="0" lang="ko-KR" altLang="en-US" baseline="30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14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/cm</a:t>
            </a:r>
            <a:r>
              <a:rPr sz="2100" b="0" i="0" lang="ko-KR" altLang="en-US" baseline="30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· 2 µs 뒤 e</a:t>
            </a:r>
            <a:r>
              <a:rPr sz="2100" b="0" i="0" lang="ko-KR" altLang="en-US" baseline="30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−2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= 0.135 → 1.35×10</a:t>
            </a:r>
            <a:r>
              <a:rPr sz="2100" b="0" i="0" lang="ko-KR" altLang="en-US" baseline="30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5526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48386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338328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8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열 이완 — 포논을 내며 전자는 E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c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, 정공은 E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v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까지 식음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6110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448970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438912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9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인광이 더 길어짐 — 포획된 채 오래 머묾 (146쪽)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26694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549554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539496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10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흡수함 (144쪽) — 간접형이라 α 가 작아 깊이 스며듦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A13. 스스로 계산해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수를 직접 넣어 풀어 볼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4358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7218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37160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Q1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</a:t>
            </a:r>
            <a:r>
              <a:rPr sz="21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= 1.43 eV 인 GaAs 가 내는 빛의 파장은?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942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47802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37744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Q2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α = 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/cm 일 때 침투깊이 1/α 는 몇 µm 인가?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5526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48386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38328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Q3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 물질 1 µm 를 지나면 세기는 몇 배가 되는가?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6110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48970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38912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Q4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세기를 1/e 로 줄이려면 두께가 얼마여야 하는가?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6694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5495544"/>
            <a:ext cx="475488" cy="475488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5394959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Q5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2 eV 광자 1 mW 는 매초 몇 개인가?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A14. 계산 연습 해답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자릿수와 단위까지 맞출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4358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47218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37160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1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λ = 1.24 / 1.43 = 0.867 µm ≈ 867 nm — 근적외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942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47802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37744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2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1/10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cm = 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−4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cm = 1 µm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5526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48386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38328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3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exp(−10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× 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−4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) = exp(−1) = 0.37 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6110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48970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389120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4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αl = 1 이 되는 두께 — 곧 침투깊이 1 µm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66944"/>
            <a:ext cx="8229600" cy="932688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5495544"/>
            <a:ext cx="475488" cy="475488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5394959"/>
            <a:ext cx="713232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1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답 5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−3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/ (2 × 1.6×10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−19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 ) = 3.1×10</a:t>
            </a:r>
            <a:r>
              <a:rPr sz="2100" b="0" i="0" baseline="30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15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개/s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A15. 자기학습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혼자서도 확인해 볼 수 있는 방법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43584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362456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교재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4 장 4.1 ~ 4.2 절 (141~148쪽) · 예제 4-1 다시 풀기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14016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532888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B25000"/>
                </a:solidFill>
                <a:latin typeface="맑은 고딕"/>
                <a:ea typeface="맑은 고딕"/>
                <a:cs typeface="맑은 고딕"/>
              </a:rPr>
              <a:t>되짚어 볼 곳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3 장 2 강 직접·간접 · 3 장 3 강 물통 · 1 장 1 강 A1 λ = 1.24/E</a:t>
            </a:r>
            <a:r>
              <a:rPr sz="2100" b="0" i="0" lang="ko-KR" altLang="en-US" baseline="-25000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84448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03320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손으로 확인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여러 α 에 대해 I/I</a:t>
            </a:r>
            <a:r>
              <a:rPr sz="2100" b="0" i="0" baseline="-2500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 을 계산해 표로 만들 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873752"/>
            <a:ext cx="7680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직관 다지기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야광 스티커(인광)와 형광펜(형광)의 차이를 설명해 볼 것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저작권과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8A8A8A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89611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자료를 쓰기 전에 읽어 주세요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8229600" cy="1551139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교재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Streetman &amp; Banerjee, 「고체전자공학」 7판 (성진미디어)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원저 — Solid State Electronic Devices, 7th 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00902"/>
            <a:ext cx="8229600" cy="1551139"/>
          </a:xfrm>
          <a:prstGeom prst="roundRect">
            <a:avLst>
              <a:gd name="adj" fmla="val 8000"/>
            </a:avLst>
          </a:prstGeom>
          <a:solidFill>
            <a:srgbClr val="EC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300" b="1" i="0" lang="ko-KR" altLang="en-US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직접 만든 것과 가리킨 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그림은 모두 새로 작도했고 풀이 서술도 새로 썼습니다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예제 · 절 · 쪽수는 교재의 해당 부분을 가리키는 표시입니다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8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표 · 비유 일부는 이상엽 교수 Chap4 수업 자료를 참고해 다시 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21644"/>
            <a:ext cx="8229600" cy="1551139"/>
          </a:xfrm>
          <a:prstGeom prst="roundRect">
            <a:avLst>
              <a:gd name="adj" fmla="val 8000"/>
            </a:avLst>
          </a:prstGeom>
          <a:solidFill>
            <a:srgbClr val="FF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18872" bIns="73152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3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이용 범위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교재를 갖춘 수강생을 위한 수업용 보조자료입니다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2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수업 목적을 벗어난 복제 · 배포 · 공개를 금합니다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118872"/>
            <a:ext cx="8595360" cy="749808"/>
          </a:xfrm>
        </p:spPr>
        <p:txBody>
          <a:bodyPr wrap="square"/>
          <a:lstStyle/>
          <a:p>
            <a:r>
              <a:rPr sz="3000" b="1" i="0" lang="ko-KR" altLang="en-US">
                <a:solidFill>
                  <a:srgbClr val="203864"/>
                </a:solidFill>
                <a:latin typeface="돋움"/>
                <a:ea typeface="돋움"/>
                <a:cs typeface="돋움"/>
              </a:rPr>
              <a:t>부록 A9. 용어 정리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82512"/>
            <a:ext cx="42062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lang="ko-KR" altLang="en-US">
                <a:solidFill>
                  <a:srgbClr val="6E6E6E"/>
                </a:solidFill>
                <a:latin typeface="Arial"/>
                <a:ea typeface="맑은 고딕"/>
                <a:cs typeface="맑은 고딕"/>
              </a:rPr>
              <a:t>Generated by Claude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488" y="896112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0" i="0" altLang="en-US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한글 · 영어 · 기호 · PART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8229600" cy="505011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311493"/>
            <a:ext cx="2468880" cy="313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한글 용어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11493"/>
            <a:ext cx="3474720" cy="313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11493"/>
            <a:ext cx="1737360" cy="313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64261"/>
            <a:ext cx="8229600" cy="57466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868746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광학적 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68746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optical excitation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68746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hν ≥ E</a:t>
            </a:r>
            <a:r>
              <a:rPr sz="2100" b="0" i="0" lang="ko-KR" altLang="en-US" baseline="-2500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443414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수명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43414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lifetime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443414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13597"/>
            <a:ext cx="8229600" cy="57466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3018082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평형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018082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equilibrium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018082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n</a:t>
            </a:r>
            <a:r>
              <a:rPr sz="2100" b="0" i="0" lang="ko-KR" altLang="en-US" baseline="-2500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 p</a:t>
            </a:r>
            <a:r>
              <a:rPr sz="2100" b="0" i="0" lang="ko-KR" altLang="en-US" baseline="-2500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 = n</a:t>
            </a:r>
            <a:r>
              <a:rPr sz="2100" b="0" i="0" lang="ko-KR" altLang="en-US" baseline="-2500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sz="2100" b="0" i="0" lang="ko-KR" altLang="en-US" baseline="3000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 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592750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정상상태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592750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steady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592750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δn = g</a:t>
            </a:r>
            <a:r>
              <a:rPr sz="2100" b="0" i="0" lang="ko-KR" altLang="en-US" baseline="-2500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op</a:t>
            </a: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62933"/>
            <a:ext cx="8229600" cy="574668"/>
          </a:xfrm>
          <a:prstGeom prst="roundRect">
            <a:avLst>
              <a:gd name="adj" fmla="val 8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4167418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과도 상태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167418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transient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167418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dδn/dt ≠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4742086"/>
            <a:ext cx="246888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lang="ko-KR" altLang="en-US">
                <a:solidFill>
                  <a:srgbClr val="203864"/>
                </a:solidFill>
                <a:latin typeface="맑은 고딕"/>
                <a:ea typeface="맑은 고딕"/>
                <a:cs typeface="맑은 고딕"/>
              </a:rPr>
              <a:t>평형 ⊂ 정상상태 [보충]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742086"/>
            <a:ext cx="347472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1A1A1A"/>
                </a:solidFill>
                <a:latin typeface="맑은 고딕"/>
                <a:ea typeface="맑은 고딕"/>
                <a:cs typeface="맑은 고딕"/>
              </a:rPr>
              <a:t>equilibrium ⊂ steady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742086"/>
            <a:ext cx="1737360" cy="417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lang="ko-KR" altLang="en-US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400">
            <a:latin typeface="ＭＳ Ｐゴシック" panose="020B0600070205080204" pitchFamily="50" charset="-128"/>
            <a:ea typeface="ＭＳ Ｐゴシック" panose="020B0600070205080204" pitchFamily="50" charset="-128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35021</TotalTime>
  <Words>674</Words>
  <Application>Microsoft Office PowerPoint</Application>
  <PresentationFormat>화면 슬라이드 쇼(4:3)</PresentationFormat>
  <Paragraphs>255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9" baseType="lpstr">
      <vt:lpstr>HY견고딕</vt:lpstr>
      <vt:lpstr>ＭＳ Ｐゴシック</vt:lpstr>
      <vt:lpstr>Yu Gothic</vt:lpstr>
      <vt:lpstr>Yu Mincho</vt:lpstr>
      <vt:lpstr>돋움</vt:lpstr>
      <vt:lpstr>맑은 고딕 Semilight</vt:lpstr>
      <vt:lpstr>Arial</vt:lpstr>
      <vt:lpstr>Calibri</vt:lpstr>
      <vt:lpstr>Verdana</vt:lpstr>
      <vt:lpstr>Wingdings</vt:lpstr>
      <vt:lpstr>Office テーマ</vt:lpstr>
      <vt:lpstr>PowerPoint 프레젠테이션</vt:lpstr>
      <vt:lpstr>담당 교수</vt:lpstr>
      <vt:lpstr>강의 정보</vt:lpstr>
      <vt:lpstr>평가 및 과제 정보</vt:lpstr>
      <vt:lpstr>주차 별 강의 계획</vt:lpstr>
      <vt:lpstr>주차 별 강의 계획</vt:lpstr>
      <vt:lpstr>기타 정보</vt:lpstr>
      <vt:lpstr>PowerPoint 프레젠테이션</vt:lpstr>
    </vt:vector>
  </TitlesOfParts>
  <Company>東京工業大学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Lee</dc:creator>
  <cp:lastModifiedBy>Sang_yeop Lee</cp:lastModifiedBy>
  <cp:revision>2481</cp:revision>
  <cp:lastPrinted>2026-01-05T02:52:01Z</cp:lastPrinted>
  <dcterms:created xsi:type="dcterms:W3CDTF">2017-12-10T06:56:12Z</dcterms:created>
  <dcterms:modified xsi:type="dcterms:W3CDTF">2026-03-03T07:07:09Z</dcterms:modified>
</cp:coreProperties>
</file>